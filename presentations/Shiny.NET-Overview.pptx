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Shiny is a suite of 50+ independent .NET libraries. The pitch in one line: the platform-specific plumbing every app needs is already written, tested and shipping in production apps with 40M+ NuGet downloads. Everything here runs on .NET 9+, is AOT and trimming clean, and is MIT licensed.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through-line for the whole deck. Every library in the catalog earns its place by taking on the same three burdens. If a team is writing #if ANDROID blocks, hand-editing Info.plist, or fighting WorkManager and BGTaskScheduler, that is the work Shiny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for the rest of the deck. Nine groups, walked in this order. Nothing here is all-or-nothing — each group is a set of separate NuGet packages, so a team can adopt exactly one and never see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stressing that this is not a mobile-only suite. Mediator, Document DB, serialization and the HTTP server all run server-side, which means the same contracts and the same storage API on both ends of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Everything in Foundation is optional on its own but assumed by everything else — this is where the hosting model and the source generators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is the part people underestimate. The source generators (DI, Reflector, Serialization, LocalizeGen) are what make the rest of the suite AOT-safe — no reflection at runtime means no trimming surprises when you flip on full AOT for an iOS release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Mediator is the piece that most often becomes the backbone of an app. The key idea: middleware is declared as attributes on the contract, so offline caching or retry policy is a one-line change on a request type and the handler stays untouched. Source-generated, so it works under full AOT.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point: this is the entire integration surface for most apps. UseShiny() is the only platform wiring; everything after it is ordinary service registration. Each Add* call brings its own background handling, permission requirements and platform implementations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Two related groups: the radios and sensors on one side, the OS-owned data stores on the other. Both are places where the native APIs differ wildly between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BLE is the library Shiny is best known for — a full client with proper connection state management, plus BLE Hosting to act as a peripheral. Network Discovery covers all three protocols that matter in practice, which is why it turns up in printer, casting and ONVIF camera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wrap the OS data stores that are otherwise painful: HealthKit vs Health Connect have completely different shapes, and EventKit vs the Android calendar provider even more so. The LINQ providers matter — a query is translated into the native fetch rather than pulling everything into memory and filtering in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Two halves: the intelligence libraries themselves, then the AI tool generation that runs across the entire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and Voice Intelligence share one architecture: a dependency-free core with swappable ONNX models and vector stores, so you can start with the bundled models and replace them without touching your code. The enrollment wizards refuse bad samples up front, which is what makes recognition accuracy usable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for an AI-curious audience. The tools are generated from code you already wrote — attributes on a Mediator contract, a tagged service interface, a Shell route — so there is no separate tool-definition layer to keep in sync. Everything is AOT-safe, and device-data tools are read-only until you opt in per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The two groups most MAUI teams reach for first: work that outlives the foreground, and the app scaffolding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work is where cross-platform frameworks usually break down, because iOS and Android disagree about almost everything. Shiny normalises the scheduling model and, critically, handles the cold-start case: the OS can launch your process just to deliver a geofence crossing or a completed download, and your delegate still gets constructor-injected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Shell navigation is the standout: routes and their parameters are source-generated, so navigating to a page is a typed call rather than a string URL, and ViewModel lifecycle events actually fire when you expect them to. Those same generated routes are what the AI navigation tools are built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The largest single group by package count, and the easiest to demo — the docs site has a live gallery for every control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package per host — Shiny.Controls.Maui and Shiny.Controls.Blazor — but one design system and one set of theme tokens across both. Nothing is a WebView wrapper: the MAUI controls are native handlers, the Blazor ones are real components. The screenshots here are the same Scheduler and DataGrid rendered on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an Office interop wrapper and it does not shell out to anything — it is a document kernel plus a SkiaSharp rendering surface, so it works offline, on device, on every target. The byte-identical round-trip matters for regulated workflows: opening a file and saving it without edits does not rewrite the OOXML.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This is where the suite stops being a mobile story — the same libraries run in the services behind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DB is the flagship here: a JSON document store with one API over eleven backends, so the same model and query code runs against SQLite on a phone and PostgreSQL on a server. Data Sync sits on top for offline-first apps — outbox, inbox, conflict resolution — using each platform's real background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value is migration and tiering: prototype on SQLite, move to PostgreSQL or Cosmos without rewriting data access, or run SQLite on device and the same schema on the server. Vector search is provider-native where the backend supports it, rather than a bolt-on index Shiny maintains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HTTP server is the most surprising library in the suite. It is a real HTTP/1.1, HTTP/2 and HTTP/3 stack small enough to embed in a MAUI app — used for on-device APIs, local device pairing, MCP servers and offline-first sync endpoints. Because endpoints are generated at compile time, an unbindable route is a build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quality-of-life integrations for teams already on Aspire. The tunnelling one solves a daily annoyance — getting a webhook or OAuth redirect back to a local machine — and the URL arrives as an ordinary connection string, so nothing downstream knows it is a tunnel.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naming the maintenance story: Shiny is the open-source foundation of ShinySoft's consulting work, so the people who maintain the libraries also ship production apps on them. Bugs get fixed by the maintainer rather than filed into a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low-commitment path: the App Builder produces a working configuration in a couple of minutes, and every library is a separate package so trying one costs nothing. The AI skills are the fastest way for a team already using Claude Code or Copilot to get idiomatic Shiny code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logo hues are the whole palette. The pastels are the literal logo colours but they wash out on white, so every accent on the site uses the vivid variants instead. Those are defined as CSS variables that change value between light and dark mode, which is why one rule covers both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three-stop ramp is the one people recognise. Angle matters — 110 degrees for the site title and header, 96 for the social card headline. The two-stop variants are for smaller surfaces where a third stop would read as mud at that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brands sit side by side. Shiny is the open-source library suite; ShinySoft Technologies is the consulting company that builds and maintains it. Use the Shiny mark for the libraries and the ShinySoft lockup when the company is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lede is deliberately open-ended — it names examples, not the catalogue, so it does not go stale every time a library ships. Keep it that way when you rewrite it. The headline is fixed: the first half plain, the second half in the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slideLayout" Target="../slideLayouts/slideLayout1.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slideLayout" Target="../slideLayouts/slideLayout1.xml"/><Relationship Id="rId1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pic>
        <p:nvPicPr>
          <p:cNvPr id="3" name="Image 1" descr="preencoded.png">    </p:cNvPr>
          <p:cNvPicPr>
            <a:picLocks noChangeAspect="1"/>
          </p:cNvPicPr>
          <p:nvPr/>
        </p:nvPicPr>
        <p:blipFill>
          <a:blip r:embed="rId2"/>
          <a:stretch>
            <a:fillRect/>
          </a:stretch>
        </p:blipFill>
        <p:spPr>
          <a:xfrm>
            <a:off x="6766560" y="274320"/>
            <a:ext cx="5486400" cy="5486400"/>
          </a:xfrm>
          <a:prstGeom prst="rect">
            <a:avLst/>
          </a:prstGeom>
        </p:spPr>
      </p:pic>
      <p:pic>
        <p:nvPicPr>
          <p:cNvPr id="4" name="Image 2" descr="/Users/aritchie/Desktop/dev/documentation/public/images/logo-mark.png">    </p:cNvPr>
          <p:cNvPicPr>
            <a:picLocks noChangeAspect="1"/>
          </p:cNvPicPr>
          <p:nvPr/>
        </p:nvPicPr>
        <p:blipFill>
          <a:blip r:embed="rId3"/>
          <a:stretch>
            <a:fillRect/>
          </a:stretch>
        </p:blipFill>
        <p:spPr>
          <a:xfrm>
            <a:off x="566928" y="676656"/>
            <a:ext cx="420624" cy="420624"/>
          </a:xfrm>
          <a:prstGeom prst="rect">
            <a:avLst/>
          </a:prstGeom>
        </p:spPr>
      </p:pic>
      <p:sp>
        <p:nvSpPr>
          <p:cNvPr id="5" name="Text 0"/>
          <p:cNvSpPr txBox="1"/>
          <p:nvPr/>
        </p:nvSpPr>
        <p:spPr>
          <a:xfrm>
            <a:off x="1133856" y="768096"/>
            <a:ext cx="3657600" cy="274320"/>
          </a:xfrm>
          <a:prstGeom prst="rect">
            <a:avLst/>
          </a:prstGeom>
          <a:noFill/>
          <a:ln/>
        </p:spPr>
        <p:txBody>
          <a:bodyPr wrap="square" lIns="0" tIns="0" rIns="0" bIns="0" rtlCol="0" anchor="ctr"/>
          <a:lstStyle/>
          <a:p>
            <a:pPr indent="0" marL="0">
              <a:buNone/>
            </a:pPr>
            <a:r>
              <a:rPr lang="en-US" sz="1200" b="1" spc="320" kern="0" dirty="0">
                <a:solidFill>
                  <a:srgbClr val="CFFA12"/>
                </a:solidFill>
                <a:latin typeface="Calibri" pitchFamily="34" charset="0"/>
                <a:ea typeface="Calibri" pitchFamily="34" charset="-122"/>
                <a:cs typeface="Calibri" pitchFamily="34" charset="-120"/>
              </a:rPr>
              <a:t>SHINY.NET</a:t>
            </a:r>
            <a:endParaRPr lang="en-US" sz="1200" dirty="0"/>
          </a:p>
        </p:txBody>
      </p:sp>
      <p:sp>
        <p:nvSpPr>
          <p:cNvPr id="6" name="Text 1"/>
          <p:cNvSpPr txBox="1"/>
          <p:nvPr/>
        </p:nvSpPr>
        <p:spPr>
          <a:xfrm>
            <a:off x="566928" y="1316736"/>
            <a:ext cx="6766560" cy="1463040"/>
          </a:xfrm>
          <a:prstGeom prst="rect">
            <a:avLst/>
          </a:prstGeom>
          <a:noFill/>
          <a:ln/>
        </p:spPr>
        <p:txBody>
          <a:bodyPr wrap="square" lIns="0" tIns="0" rIns="0" bIns="0" rtlCol="0" anchor="ctr"/>
          <a:lstStyle/>
          <a:p>
            <a:pPr indent="0" marL="0">
              <a:lnSpc>
                <a:spcPts val="5000"/>
              </a:lnSpc>
              <a:buNone/>
            </a:pPr>
            <a:r>
              <a:rPr lang="en-US" sz="4200" b="1" dirty="0">
                <a:solidFill>
                  <a:srgbClr val="FFFFFF"/>
                </a:solidFill>
                <a:latin typeface="Arial" pitchFamily="34" charset="0"/>
                <a:ea typeface="Arial" pitchFamily="34" charset="-122"/>
                <a:cs typeface="Arial" pitchFamily="34" charset="-120"/>
              </a:rPr>
              <a:t>The hard parts</a:t>
            </a:r>
            <a:endParaRPr lang="en-US" sz="4200" dirty="0"/>
          </a:p>
          <a:p>
            <a:pPr indent="0" marL="0">
              <a:lnSpc>
                <a:spcPts val="5000"/>
              </a:lnSpc>
              <a:buNone/>
            </a:pPr>
            <a:r>
              <a:rPr lang="en-US" sz="4200" b="1" dirty="0">
                <a:solidFill>
                  <a:srgbClr val="FFFFFF"/>
                </a:solidFill>
                <a:latin typeface="Arial" pitchFamily="34" charset="0"/>
                <a:ea typeface="Arial" pitchFamily="34" charset="-122"/>
                <a:cs typeface="Arial" pitchFamily="34" charset="-120"/>
              </a:rPr>
              <a:t>of your app,</a:t>
            </a:r>
            <a:endParaRPr lang="en-US" sz="4200" dirty="0"/>
          </a:p>
        </p:txBody>
      </p:sp>
      <p:pic>
        <p:nvPicPr>
          <p:cNvPr id="7" name="Image 3" descr="preencoded.png">    </p:cNvPr>
          <p:cNvPicPr>
            <a:picLocks noChangeAspect="1"/>
          </p:cNvPicPr>
          <p:nvPr/>
        </p:nvPicPr>
        <p:blipFill>
          <a:blip r:embed="rId4"/>
          <a:stretch>
            <a:fillRect/>
          </a:stretch>
        </p:blipFill>
        <p:spPr>
          <a:xfrm>
            <a:off x="566928" y="2487168"/>
            <a:ext cx="3803219" cy="530352"/>
          </a:xfrm>
          <a:prstGeom prst="rect">
            <a:avLst/>
          </a:prstGeom>
        </p:spPr>
      </p:pic>
      <p:sp>
        <p:nvSpPr>
          <p:cNvPr id="8" name="Text 2"/>
          <p:cNvSpPr txBox="1"/>
          <p:nvPr/>
        </p:nvSpPr>
        <p:spPr>
          <a:xfrm>
            <a:off x="566928" y="3310128"/>
            <a:ext cx="6675120" cy="1097280"/>
          </a:xfrm>
          <a:prstGeom prst="rect">
            <a:avLst/>
          </a:prstGeom>
          <a:noFill/>
          <a:ln/>
        </p:spPr>
        <p:txBody>
          <a:bodyPr wrap="square" lIns="0" tIns="0" rIns="0" bIns="0" rtlCol="0" anchor="ctr"/>
          <a:lstStyle/>
          <a:p>
            <a:pPr indent="0" marL="0">
              <a:lnSpc>
                <a:spcPts val="1900"/>
              </a:lnSpc>
              <a:buNone/>
            </a:pPr>
            <a:r>
              <a:rPr lang="en-US" sz="1300" dirty="0">
                <a:solidFill>
                  <a:srgbClr val="AFA8CE"/>
                </a:solidFill>
                <a:latin typeface="Calibri" pitchFamily="34" charset="0"/>
                <a:ea typeface="Calibri" pitchFamily="34" charset="-122"/>
                <a:cs typeface="Calibri" pitchFamily="34" charset="-120"/>
              </a:rPr>
              <a:t>Everything the platform makes hard: Bluetooth, background jobs, push, location, a document database, speech and AI, an HTTP server that runs inside your MAUI app, 85+ UI controls, and plenty more. Fifty-plus libraries that own the platform code, the permissions and the background execution — so your time goes to the app your users actually asked for.</a:t>
            </a:r>
            <a:endParaRPr lang="en-US" sz="1300" dirty="0"/>
          </a:p>
        </p:txBody>
      </p:sp>
      <p:sp>
        <p:nvSpPr>
          <p:cNvPr id="9" name="Text 3"/>
          <p:cNvSpPr txBox="1"/>
          <p:nvPr/>
        </p:nvSpPr>
        <p:spPr>
          <a:xfrm>
            <a:off x="566928" y="4498848"/>
            <a:ext cx="1554480" cy="566928"/>
          </a:xfrm>
          <a:prstGeom prst="rect">
            <a:avLst/>
          </a:prstGeom>
          <a:noFill/>
          <a:ln/>
        </p:spPr>
        <p:txBody>
          <a:bodyPr wrap="square" lIns="0" tIns="0" rIns="0" bIns="0" rtlCol="0" anchor="ctr"/>
          <a:lstStyle/>
          <a:p>
            <a:pPr indent="0" marL="0">
              <a:buNone/>
            </a:pPr>
            <a:r>
              <a:rPr lang="en-US" sz="3200" b="1" dirty="0">
                <a:solidFill>
                  <a:srgbClr val="CFFA12"/>
                </a:solidFill>
                <a:latin typeface="Arial" pitchFamily="34" charset="0"/>
                <a:ea typeface="Arial" pitchFamily="34" charset="-122"/>
                <a:cs typeface="Arial" pitchFamily="34" charset="-120"/>
              </a:rPr>
              <a:t>40M+</a:t>
            </a:r>
            <a:endParaRPr lang="en-US" sz="3200" dirty="0"/>
          </a:p>
        </p:txBody>
      </p:sp>
      <p:sp>
        <p:nvSpPr>
          <p:cNvPr id="10" name="Text 4"/>
          <p:cNvSpPr txBox="1"/>
          <p:nvPr/>
        </p:nvSpPr>
        <p:spPr>
          <a:xfrm>
            <a:off x="566928" y="5074920"/>
            <a:ext cx="1554480" cy="256032"/>
          </a:xfrm>
          <a:prstGeom prst="rect">
            <a:avLst/>
          </a:prstGeom>
          <a:noFill/>
          <a:ln/>
        </p:spPr>
        <p:txBody>
          <a:bodyPr wrap="square" lIns="0" tIns="0" rIns="0" bIns="0" rtlCol="0" anchor="ctr"/>
          <a:lstStyle/>
          <a:p>
            <a:pPr indent="0" marL="0">
              <a:buNone/>
            </a:pPr>
            <a:r>
              <a:rPr lang="en-US" sz="1050" dirty="0">
                <a:solidFill>
                  <a:srgbClr val="8079A8"/>
                </a:solidFill>
                <a:latin typeface="Calibri" pitchFamily="34" charset="0"/>
                <a:ea typeface="Calibri" pitchFamily="34" charset="-122"/>
                <a:cs typeface="Calibri" pitchFamily="34" charset="-120"/>
              </a:rPr>
              <a:t>NuGet downloads</a:t>
            </a:r>
            <a:endParaRPr lang="en-US" sz="1050" dirty="0"/>
          </a:p>
        </p:txBody>
      </p:sp>
      <p:sp>
        <p:nvSpPr>
          <p:cNvPr id="11" name="Text 5"/>
          <p:cNvSpPr txBox="1"/>
          <p:nvPr/>
        </p:nvSpPr>
        <p:spPr>
          <a:xfrm>
            <a:off x="2267712" y="4498848"/>
            <a:ext cx="1554480" cy="566928"/>
          </a:xfrm>
          <a:prstGeom prst="rect">
            <a:avLst/>
          </a:prstGeom>
          <a:noFill/>
          <a:ln/>
        </p:spPr>
        <p:txBody>
          <a:bodyPr wrap="square" lIns="0" tIns="0" rIns="0" bIns="0" rtlCol="0" anchor="ctr"/>
          <a:lstStyle/>
          <a:p>
            <a:pPr indent="0" marL="0">
              <a:buNone/>
            </a:pPr>
            <a:r>
              <a:rPr lang="en-US" sz="3200" b="1" dirty="0">
                <a:solidFill>
                  <a:srgbClr val="2BE5A0"/>
                </a:solidFill>
                <a:latin typeface="Arial" pitchFamily="34" charset="0"/>
                <a:ea typeface="Arial" pitchFamily="34" charset="-122"/>
                <a:cs typeface="Arial" pitchFamily="34" charset="-120"/>
              </a:rPr>
              <a:t>50+</a:t>
            </a:r>
            <a:endParaRPr lang="en-US" sz="3200" dirty="0"/>
          </a:p>
        </p:txBody>
      </p:sp>
      <p:sp>
        <p:nvSpPr>
          <p:cNvPr id="12" name="Text 6"/>
          <p:cNvSpPr txBox="1"/>
          <p:nvPr/>
        </p:nvSpPr>
        <p:spPr>
          <a:xfrm>
            <a:off x="2267712" y="5074920"/>
            <a:ext cx="1554480" cy="256032"/>
          </a:xfrm>
          <a:prstGeom prst="rect">
            <a:avLst/>
          </a:prstGeom>
          <a:noFill/>
          <a:ln/>
        </p:spPr>
        <p:txBody>
          <a:bodyPr wrap="square" lIns="0" tIns="0" rIns="0" bIns="0" rtlCol="0" anchor="ctr"/>
          <a:lstStyle/>
          <a:p>
            <a:pPr indent="0" marL="0">
              <a:buNone/>
            </a:pPr>
            <a:r>
              <a:rPr lang="en-US" sz="1050" dirty="0">
                <a:solidFill>
                  <a:srgbClr val="8079A8"/>
                </a:solidFill>
                <a:latin typeface="Calibri" pitchFamily="34" charset="0"/>
                <a:ea typeface="Calibri" pitchFamily="34" charset="-122"/>
                <a:cs typeface="Calibri" pitchFamily="34" charset="-120"/>
              </a:rPr>
              <a:t>libraries</a:t>
            </a:r>
            <a:endParaRPr lang="en-US" sz="1050" dirty="0"/>
          </a:p>
        </p:txBody>
      </p:sp>
      <p:sp>
        <p:nvSpPr>
          <p:cNvPr id="13" name="Text 7"/>
          <p:cNvSpPr txBox="1"/>
          <p:nvPr/>
        </p:nvSpPr>
        <p:spPr>
          <a:xfrm>
            <a:off x="3968496" y="4498848"/>
            <a:ext cx="1554480" cy="566928"/>
          </a:xfrm>
          <a:prstGeom prst="rect">
            <a:avLst/>
          </a:prstGeom>
          <a:noFill/>
          <a:ln/>
        </p:spPr>
        <p:txBody>
          <a:bodyPr wrap="square" lIns="0" tIns="0" rIns="0" bIns="0" rtlCol="0" anchor="ctr"/>
          <a:lstStyle/>
          <a:p>
            <a:pPr indent="0" marL="0">
              <a:buNone/>
            </a:pPr>
            <a:r>
              <a:rPr lang="en-US" sz="3200" b="1" dirty="0">
                <a:solidFill>
                  <a:srgbClr val="9B7BFF"/>
                </a:solidFill>
                <a:latin typeface="Arial" pitchFamily="34" charset="0"/>
                <a:ea typeface="Arial" pitchFamily="34" charset="-122"/>
                <a:cs typeface="Arial" pitchFamily="34" charset="-120"/>
              </a:rPr>
              <a:t>85+</a:t>
            </a:r>
            <a:endParaRPr lang="en-US" sz="3200" dirty="0"/>
          </a:p>
        </p:txBody>
      </p:sp>
      <p:sp>
        <p:nvSpPr>
          <p:cNvPr id="14" name="Text 8"/>
          <p:cNvSpPr txBox="1"/>
          <p:nvPr/>
        </p:nvSpPr>
        <p:spPr>
          <a:xfrm>
            <a:off x="3968496" y="5074920"/>
            <a:ext cx="1554480" cy="256032"/>
          </a:xfrm>
          <a:prstGeom prst="rect">
            <a:avLst/>
          </a:prstGeom>
          <a:noFill/>
          <a:ln/>
        </p:spPr>
        <p:txBody>
          <a:bodyPr wrap="square" lIns="0" tIns="0" rIns="0" bIns="0" rtlCol="0" anchor="ctr"/>
          <a:lstStyle/>
          <a:p>
            <a:pPr indent="0" marL="0">
              <a:buNone/>
            </a:pPr>
            <a:r>
              <a:rPr lang="en-US" sz="1050" dirty="0">
                <a:solidFill>
                  <a:srgbClr val="8079A8"/>
                </a:solidFill>
                <a:latin typeface="Calibri" pitchFamily="34" charset="0"/>
                <a:ea typeface="Calibri" pitchFamily="34" charset="-122"/>
                <a:cs typeface="Calibri" pitchFamily="34" charset="-120"/>
              </a:rPr>
              <a:t>UI controls</a:t>
            </a:r>
            <a:endParaRPr lang="en-US" sz="1050" dirty="0"/>
          </a:p>
        </p:txBody>
      </p:sp>
      <p:sp>
        <p:nvSpPr>
          <p:cNvPr id="15" name="Text 9"/>
          <p:cNvSpPr txBox="1"/>
          <p:nvPr/>
        </p:nvSpPr>
        <p:spPr>
          <a:xfrm>
            <a:off x="5669280" y="4498848"/>
            <a:ext cx="1554480"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AOT</a:t>
            </a:r>
            <a:endParaRPr lang="en-US" sz="3200" dirty="0"/>
          </a:p>
        </p:txBody>
      </p:sp>
      <p:sp>
        <p:nvSpPr>
          <p:cNvPr id="16" name="Text 10"/>
          <p:cNvSpPr txBox="1"/>
          <p:nvPr/>
        </p:nvSpPr>
        <p:spPr>
          <a:xfrm>
            <a:off x="5669280" y="5074920"/>
            <a:ext cx="1554480" cy="256032"/>
          </a:xfrm>
          <a:prstGeom prst="rect">
            <a:avLst/>
          </a:prstGeom>
          <a:noFill/>
          <a:ln/>
        </p:spPr>
        <p:txBody>
          <a:bodyPr wrap="square" lIns="0" tIns="0" rIns="0" bIns="0" rtlCol="0" anchor="ctr"/>
          <a:lstStyle/>
          <a:p>
            <a:pPr indent="0" marL="0">
              <a:buNone/>
            </a:pPr>
            <a:r>
              <a:rPr lang="en-US" sz="1050" dirty="0">
                <a:solidFill>
                  <a:srgbClr val="8079A8"/>
                </a:solidFill>
                <a:latin typeface="Calibri" pitchFamily="34" charset="0"/>
                <a:ea typeface="Calibri" pitchFamily="34" charset="-122"/>
                <a:cs typeface="Calibri" pitchFamily="34" charset="-120"/>
              </a:rPr>
              <a:t>trim-clean</a:t>
            </a:r>
            <a:endParaRPr lang="en-US" sz="1050" dirty="0"/>
          </a:p>
        </p:txBody>
      </p:sp>
      <p:sp>
        <p:nvSpPr>
          <p:cNvPr id="17" name="Text 11"/>
          <p:cNvSpPr txBox="1"/>
          <p:nvPr/>
        </p:nvSpPr>
        <p:spPr>
          <a:xfrm>
            <a:off x="566928" y="5943600"/>
            <a:ext cx="6400800" cy="274320"/>
          </a:xfrm>
          <a:prstGeom prst="rect">
            <a:avLst/>
          </a:prstGeom>
          <a:noFill/>
          <a:ln/>
        </p:spPr>
        <p:txBody>
          <a:bodyPr wrap="square" lIns="0" tIns="0" rIns="0" bIns="0" rtlCol="0" anchor="ctr"/>
          <a:lstStyle/>
          <a:p>
            <a:pPr indent="0" marL="0">
              <a:buNone/>
            </a:pPr>
            <a:r>
              <a:rPr lang="en-US" sz="1100" dirty="0">
                <a:solidFill>
                  <a:srgbClr val="8079A8"/>
                </a:solidFill>
                <a:latin typeface="Calibri" pitchFamily="34" charset="0"/>
                <a:ea typeface="Calibri" pitchFamily="34" charset="-122"/>
                <a:cs typeface="Calibri" pitchFamily="34" charset="-120"/>
              </a:rPr>
              <a:t>shinylib.net  ·  built and maintained by ShinySoft Technologies</a:t>
            </a:r>
            <a:endParaRPr lang="en-US" sz="1100" dirty="0"/>
          </a:p>
        </p:txBody>
      </p:sp>
      <p:pic>
        <p:nvPicPr>
          <p:cNvPr id="18" name="Image 4" descr="/Users/aritchie/Desktop/dev/documentation/public/images/tableview/s1.png">    </p:cNvPr>
          <p:cNvPicPr>
            <a:picLocks noChangeAspect="1"/>
          </p:cNvPicPr>
          <p:nvPr/>
        </p:nvPicPr>
        <p:blipFill>
          <a:blip r:embed="rId5"/>
          <a:stretch>
            <a:fillRect/>
          </a:stretch>
        </p:blipFill>
        <p:spPr>
          <a:xfrm>
            <a:off x="7818120" y="566928"/>
            <a:ext cx="1874520" cy="4070386"/>
          </a:xfrm>
          <a:prstGeom prst="rect">
            <a:avLst/>
          </a:prstGeom>
          <a:effectLst>
            <a:outerShdw sx="100000" sy="100000" kx="0" ky="0" algn="bl" rotWithShape="0" blurRad="330200" dist="101600" dir="5400000">
              <a:srgbClr val="000000">
                <a:alpha val="60000"/>
              </a:srgbClr>
            </a:outerShdw>
          </a:effectLst>
        </p:spPr>
      </p:pic>
      <p:pic>
        <p:nvPicPr>
          <p:cNvPr id="19" name="Image 5" descr="/Users/aritchie/Desktop/dev/documentation/public/images/chatview/s1.png">    </p:cNvPr>
          <p:cNvPicPr>
            <a:picLocks noChangeAspect="1"/>
          </p:cNvPicPr>
          <p:nvPr/>
        </p:nvPicPr>
        <p:blipFill>
          <a:blip r:embed="rId6"/>
          <a:stretch>
            <a:fillRect/>
          </a:stretch>
        </p:blipFill>
        <p:spPr>
          <a:xfrm>
            <a:off x="9857232" y="1298448"/>
            <a:ext cx="1691640" cy="3673275"/>
          </a:xfrm>
          <a:prstGeom prst="rect">
            <a:avLst/>
          </a:prstGeom>
          <a:effectLst>
            <a:outerShdw sx="100000" sy="100000" kx="0" ky="0" algn="bl" rotWithShape="0" blurRad="330200" dist="101600" dir="5400000">
              <a:srgbClr val="000000">
                <a:alpha val="6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WHY SHINY</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Three things you stop writing</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Every Shiny library owns the same three burdens end to end, on every platform it supports — so the same C# you write once behaves the same everywhere.</a:t>
            </a:r>
            <a:endParaRPr lang="en-US" sz="1350" dirty="0"/>
          </a:p>
        </p:txBody>
      </p:sp>
      <p:sp>
        <p:nvSpPr>
          <p:cNvPr id="6" name="Shape 3"/>
          <p:cNvSpPr/>
          <p:nvPr/>
        </p:nvSpPr>
        <p:spPr>
          <a:xfrm>
            <a:off x="566928" y="2148840"/>
            <a:ext cx="3527450" cy="2286000"/>
          </a:xfrm>
          <a:prstGeom prst="roundRect">
            <a:avLst>
              <a:gd name="adj" fmla="val 280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04672" y="2368296"/>
            <a:ext cx="457200" cy="457200"/>
          </a:xfrm>
          <a:prstGeom prst="roundRect">
            <a:avLst>
              <a:gd name="adj" fmla="val 56000"/>
            </a:avLst>
          </a:prstGeom>
          <a:solidFill>
            <a:srgbClr val="9B7BFF"/>
          </a:solidFill>
          <a:ln w="12700">
            <a:solidFill>
              <a:srgbClr val="9B7BFF"/>
            </a:solidFill>
            <a:prstDash val="solid"/>
          </a:ln>
        </p:spPr>
      </p:sp>
      <p:pic>
        <p:nvPicPr>
          <p:cNvPr id="8" name="Image 1" descr="preencoded.png">    </p:cNvPr>
          <p:cNvPicPr>
            <a:picLocks noChangeAspect="1"/>
          </p:cNvPicPr>
          <p:nvPr/>
        </p:nvPicPr>
        <p:blipFill>
          <a:blip r:embed="rId2"/>
          <a:stretch>
            <a:fillRect/>
          </a:stretch>
        </p:blipFill>
        <p:spPr>
          <a:xfrm>
            <a:off x="923544" y="2487168"/>
            <a:ext cx="219456" cy="219456"/>
          </a:xfrm>
          <a:prstGeom prst="rect">
            <a:avLst/>
          </a:prstGeom>
        </p:spPr>
      </p:pic>
      <p:sp>
        <p:nvSpPr>
          <p:cNvPr id="9" name="Text 5"/>
          <p:cNvSpPr txBox="1"/>
          <p:nvPr/>
        </p:nvSpPr>
        <p:spPr>
          <a:xfrm>
            <a:off x="1426464" y="2478024"/>
            <a:ext cx="2485034" cy="2560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platform code</a:t>
            </a:r>
            <a:endParaRPr lang="en-US" sz="1500" dirty="0"/>
          </a:p>
        </p:txBody>
      </p:sp>
      <p:sp>
        <p:nvSpPr>
          <p:cNvPr id="10" name="Text 6"/>
          <p:cNvSpPr txBox="1"/>
          <p:nvPr/>
        </p:nvSpPr>
        <p:spPr>
          <a:xfrm>
            <a:off x="804672" y="2971800"/>
            <a:ext cx="3051962" cy="1316736"/>
          </a:xfrm>
          <a:prstGeom prst="rect">
            <a:avLst/>
          </a:prstGeom>
          <a:noFill/>
          <a:ln/>
        </p:spPr>
        <p:txBody>
          <a:bodyPr wrap="square" lIns="0" tIns="0" rIns="0" bIns="0" rtlCol="0" anchor="t"/>
          <a:lstStyle/>
          <a:p>
            <a:pPr indent="0" marL="0">
              <a:lnSpc>
                <a:spcPts val="1600"/>
              </a:lnSpc>
              <a:buNone/>
            </a:pPr>
            <a:r>
              <a:rPr lang="en-US" sz="1200" dirty="0">
                <a:solidFill>
                  <a:srgbClr val="AFA8CE"/>
                </a:solidFill>
                <a:latin typeface="Calibri" pitchFamily="34" charset="0"/>
                <a:ea typeface="Calibri" pitchFamily="34" charset="-122"/>
                <a:cs typeface="Calibri" pitchFamily="34" charset="-120"/>
              </a:rPr>
              <a:t>One C# API over CoreBluetooth and Android BluetoothGatt, HealthKit and Health Connect, EventKit and the Android calendar provider. No #if ANDROID ladders in your view models.</a:t>
            </a:r>
            <a:endParaRPr lang="en-US" sz="1200" dirty="0"/>
          </a:p>
        </p:txBody>
      </p:sp>
      <p:sp>
        <p:nvSpPr>
          <p:cNvPr id="11" name="Shape 7"/>
          <p:cNvSpPr/>
          <p:nvPr/>
        </p:nvSpPr>
        <p:spPr>
          <a:xfrm>
            <a:off x="4332122" y="2148840"/>
            <a:ext cx="3527450" cy="2286000"/>
          </a:xfrm>
          <a:prstGeom prst="roundRect">
            <a:avLst>
              <a:gd name="adj" fmla="val 280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2" name="Shape 8"/>
          <p:cNvSpPr/>
          <p:nvPr/>
        </p:nvSpPr>
        <p:spPr>
          <a:xfrm>
            <a:off x="4569866" y="2368296"/>
            <a:ext cx="457200" cy="457200"/>
          </a:xfrm>
          <a:prstGeom prst="roundRect">
            <a:avLst>
              <a:gd name="adj" fmla="val 56000"/>
            </a:avLst>
          </a:prstGeom>
          <a:solidFill>
            <a:srgbClr val="2BE5A0"/>
          </a:solidFill>
          <a:ln w="12700">
            <a:solidFill>
              <a:srgbClr val="2BE5A0"/>
            </a:solidFill>
            <a:prstDash val="solid"/>
          </a:ln>
        </p:spPr>
      </p:sp>
      <p:pic>
        <p:nvPicPr>
          <p:cNvPr id="13" name="Image 2" descr="preencoded.png">    </p:cNvPr>
          <p:cNvPicPr>
            <a:picLocks noChangeAspect="1"/>
          </p:cNvPicPr>
          <p:nvPr/>
        </p:nvPicPr>
        <p:blipFill>
          <a:blip r:embed="rId3"/>
          <a:stretch>
            <a:fillRect/>
          </a:stretch>
        </p:blipFill>
        <p:spPr>
          <a:xfrm>
            <a:off x="4688738" y="2487168"/>
            <a:ext cx="219456" cy="219456"/>
          </a:xfrm>
          <a:prstGeom prst="rect">
            <a:avLst/>
          </a:prstGeom>
        </p:spPr>
      </p:pic>
      <p:sp>
        <p:nvSpPr>
          <p:cNvPr id="14" name="Text 9"/>
          <p:cNvSpPr txBox="1"/>
          <p:nvPr/>
        </p:nvSpPr>
        <p:spPr>
          <a:xfrm>
            <a:off x="5191658" y="2478024"/>
            <a:ext cx="2485034" cy="2560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permissions</a:t>
            </a:r>
            <a:endParaRPr lang="en-US" sz="1500" dirty="0"/>
          </a:p>
        </p:txBody>
      </p:sp>
      <p:sp>
        <p:nvSpPr>
          <p:cNvPr id="15" name="Text 10"/>
          <p:cNvSpPr txBox="1"/>
          <p:nvPr/>
        </p:nvSpPr>
        <p:spPr>
          <a:xfrm>
            <a:off x="4569866" y="2971800"/>
            <a:ext cx="3051962" cy="1316736"/>
          </a:xfrm>
          <a:prstGeom prst="rect">
            <a:avLst/>
          </a:prstGeom>
          <a:noFill/>
          <a:ln/>
        </p:spPr>
        <p:txBody>
          <a:bodyPr wrap="square" lIns="0" tIns="0" rIns="0" bIns="0" rtlCol="0" anchor="t"/>
          <a:lstStyle/>
          <a:p>
            <a:pPr indent="0" marL="0">
              <a:lnSpc>
                <a:spcPts val="1600"/>
              </a:lnSpc>
              <a:buNone/>
            </a:pPr>
            <a:r>
              <a:rPr lang="en-US" sz="1200" dirty="0">
                <a:solidFill>
                  <a:srgbClr val="AFA8CE"/>
                </a:solidFill>
                <a:latin typeface="Calibri" pitchFamily="34" charset="0"/>
                <a:ea typeface="Calibri" pitchFamily="34" charset="-122"/>
                <a:cs typeface="Calibri" pitchFamily="34" charset="-120"/>
              </a:rPr>
              <a:t>Runtime prompts, Info.plist keys and manifest entries handled for you — declared once in your .csproj and generated at build, surfaced at runtime as a single AccessState.</a:t>
            </a:r>
            <a:endParaRPr lang="en-US" sz="1200" dirty="0"/>
          </a:p>
        </p:txBody>
      </p:sp>
      <p:sp>
        <p:nvSpPr>
          <p:cNvPr id="16" name="Shape 11"/>
          <p:cNvSpPr/>
          <p:nvPr/>
        </p:nvSpPr>
        <p:spPr>
          <a:xfrm>
            <a:off x="8097317" y="2148840"/>
            <a:ext cx="3527450" cy="2286000"/>
          </a:xfrm>
          <a:prstGeom prst="roundRect">
            <a:avLst>
              <a:gd name="adj" fmla="val 280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8335061" y="2368296"/>
            <a:ext cx="457200" cy="457200"/>
          </a:xfrm>
          <a:prstGeom prst="roundRect">
            <a:avLst>
              <a:gd name="adj" fmla="val 56000"/>
            </a:avLst>
          </a:prstGeom>
          <a:solidFill>
            <a:srgbClr val="CFFA12"/>
          </a:solidFill>
          <a:ln w="12700">
            <a:solidFill>
              <a:srgbClr val="CFFA12"/>
            </a:solidFill>
            <a:prstDash val="solid"/>
          </a:ln>
        </p:spPr>
      </p:sp>
      <p:pic>
        <p:nvPicPr>
          <p:cNvPr id="18" name="Image 3" descr="preencoded.png">    </p:cNvPr>
          <p:cNvPicPr>
            <a:picLocks noChangeAspect="1"/>
          </p:cNvPicPr>
          <p:nvPr/>
        </p:nvPicPr>
        <p:blipFill>
          <a:blip r:embed="rId4"/>
          <a:stretch>
            <a:fillRect/>
          </a:stretch>
        </p:blipFill>
        <p:spPr>
          <a:xfrm>
            <a:off x="8453933" y="2487168"/>
            <a:ext cx="219456" cy="219456"/>
          </a:xfrm>
          <a:prstGeom prst="rect">
            <a:avLst/>
          </a:prstGeom>
        </p:spPr>
      </p:pic>
      <p:sp>
        <p:nvSpPr>
          <p:cNvPr id="19" name="Text 13"/>
          <p:cNvSpPr txBox="1"/>
          <p:nvPr/>
        </p:nvSpPr>
        <p:spPr>
          <a:xfrm>
            <a:off x="8956853" y="2478024"/>
            <a:ext cx="2485034" cy="2560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Background execution</a:t>
            </a:r>
            <a:endParaRPr lang="en-US" sz="1500" dirty="0"/>
          </a:p>
        </p:txBody>
      </p:sp>
      <p:sp>
        <p:nvSpPr>
          <p:cNvPr id="20" name="Text 14"/>
          <p:cNvSpPr txBox="1"/>
          <p:nvPr/>
        </p:nvSpPr>
        <p:spPr>
          <a:xfrm>
            <a:off x="8335061" y="2971800"/>
            <a:ext cx="3051962" cy="1316736"/>
          </a:xfrm>
          <a:prstGeom prst="rect">
            <a:avLst/>
          </a:prstGeom>
          <a:noFill/>
          <a:ln/>
        </p:spPr>
        <p:txBody>
          <a:bodyPr wrap="square" lIns="0" tIns="0" rIns="0" bIns="0" rtlCol="0" anchor="t"/>
          <a:lstStyle/>
          <a:p>
            <a:pPr indent="0" marL="0">
              <a:lnSpc>
                <a:spcPts val="1600"/>
              </a:lnSpc>
              <a:buNone/>
            </a:pPr>
            <a:r>
              <a:rPr lang="en-US" sz="1200" dirty="0">
                <a:solidFill>
                  <a:srgbClr val="AFA8CE"/>
                </a:solidFill>
                <a:latin typeface="Calibri" pitchFamily="34" charset="0"/>
                <a:ea typeface="Calibri" pitchFamily="34" charset="-122"/>
                <a:cs typeface="Calibri" pitchFamily="34" charset="-120"/>
              </a:rPr>
              <a:t>Jobs, transfers, GPS and geofences that keep running when the app is off screen, using each platform’s real background APIs and surviving restarts.</a:t>
            </a:r>
            <a:endParaRPr lang="en-US" sz="1200" dirty="0"/>
          </a:p>
        </p:txBody>
      </p:sp>
      <p:sp>
        <p:nvSpPr>
          <p:cNvPr id="21" name="Shape 15"/>
          <p:cNvSpPr/>
          <p:nvPr/>
        </p:nvSpPr>
        <p:spPr>
          <a:xfrm>
            <a:off x="566928" y="4892040"/>
            <a:ext cx="11057839" cy="960120"/>
          </a:xfrm>
          <a:prstGeom prst="roundRect">
            <a:avLst>
              <a:gd name="adj" fmla="val 6667"/>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Text 16"/>
          <p:cNvSpPr txBox="1"/>
          <p:nvPr/>
        </p:nvSpPr>
        <p:spPr>
          <a:xfrm>
            <a:off x="932688" y="4892040"/>
            <a:ext cx="10326319" cy="96012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Everything runs on .NET 9 and later, is AOT and trimming clean, and ships as independent NuGet packages — take one library or take the suite.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THE CATALOG</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Fifty-plus packages, nine problem areas</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Grouped by the problem they solve, not by the platform they run on.</a:t>
            </a:r>
            <a:endParaRPr lang="en-US" sz="1350" dirty="0"/>
          </a:p>
        </p:txBody>
      </p:sp>
      <p:sp>
        <p:nvSpPr>
          <p:cNvPr id="6" name="Shape 3"/>
          <p:cNvSpPr/>
          <p:nvPr/>
        </p:nvSpPr>
        <p:spPr>
          <a:xfrm>
            <a:off x="566928" y="2103120"/>
            <a:ext cx="3527450" cy="1325880"/>
          </a:xfrm>
          <a:prstGeom prst="roundRect">
            <a:avLst>
              <a:gd name="adj" fmla="val 482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04672" y="2322576"/>
            <a:ext cx="365760" cy="365760"/>
          </a:xfrm>
          <a:prstGeom prst="roundRect">
            <a:avLst>
              <a:gd name="adj" fmla="val 70000"/>
            </a:avLst>
          </a:prstGeom>
          <a:solidFill>
            <a:srgbClr val="9B7BFF"/>
          </a:solidFill>
          <a:ln w="12700">
            <a:solidFill>
              <a:srgbClr val="9B7BFF"/>
            </a:solidFill>
            <a:prstDash val="solid"/>
          </a:ln>
        </p:spPr>
      </p:sp>
      <p:pic>
        <p:nvPicPr>
          <p:cNvPr id="8" name="Image 1" descr="preencoded.png">    </p:cNvPr>
          <p:cNvPicPr>
            <a:picLocks noChangeAspect="1"/>
          </p:cNvPicPr>
          <p:nvPr/>
        </p:nvPicPr>
        <p:blipFill>
          <a:blip r:embed="rId2"/>
          <a:stretch>
            <a:fillRect/>
          </a:stretch>
        </p:blipFill>
        <p:spPr>
          <a:xfrm>
            <a:off x="899770" y="2417674"/>
            <a:ext cx="175565" cy="175565"/>
          </a:xfrm>
          <a:prstGeom prst="rect">
            <a:avLst/>
          </a:prstGeom>
        </p:spPr>
      </p:pic>
      <p:sp>
        <p:nvSpPr>
          <p:cNvPr id="9" name="Text 5"/>
          <p:cNvSpPr txBox="1"/>
          <p:nvPr/>
        </p:nvSpPr>
        <p:spPr>
          <a:xfrm>
            <a:off x="1335024" y="2386584"/>
            <a:ext cx="257647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Foundation</a:t>
            </a:r>
            <a:endParaRPr lang="en-US" sz="1350" dirty="0"/>
          </a:p>
        </p:txBody>
      </p:sp>
      <p:sp>
        <p:nvSpPr>
          <p:cNvPr id="10" name="Text 6"/>
          <p:cNvSpPr txBox="1"/>
          <p:nvPr/>
        </p:nvSpPr>
        <p:spPr>
          <a:xfrm>
            <a:off x="804672" y="2834640"/>
            <a:ext cx="3051962" cy="448056"/>
          </a:xfrm>
          <a:prstGeom prst="rect">
            <a:avLst/>
          </a:prstGeom>
          <a:noFill/>
          <a:ln/>
        </p:spPr>
        <p:txBody>
          <a:bodyPr wrap="square" lIns="0" tIns="0" rIns="0" bIns="0" rtlCol="0" anchor="t"/>
          <a:lstStyle/>
          <a:p>
            <a:pPr indent="0" marL="0">
              <a:lnSpc>
                <a:spcPts val="1400"/>
              </a:lnSpc>
              <a:buNone/>
            </a:pPr>
            <a:r>
              <a:rPr lang="en-US" sz="1050" dirty="0">
                <a:solidFill>
                  <a:srgbClr val="AFA8CE"/>
                </a:solidFill>
                <a:latin typeface="Calibri" pitchFamily="34" charset="0"/>
                <a:ea typeface="Calibri" pitchFamily="34" charset="-122"/>
                <a:cs typeface="Calibri" pitchFamily="34" charset="-120"/>
              </a:rPr>
              <a:t>Architecture, hosting, Mediator, DI, source generators</a:t>
            </a:r>
            <a:endParaRPr lang="en-US" sz="1050" dirty="0"/>
          </a:p>
        </p:txBody>
      </p:sp>
      <p:sp>
        <p:nvSpPr>
          <p:cNvPr id="11" name="Shape 7"/>
          <p:cNvSpPr/>
          <p:nvPr/>
        </p:nvSpPr>
        <p:spPr>
          <a:xfrm>
            <a:off x="4332122" y="2103120"/>
            <a:ext cx="3527450" cy="1325880"/>
          </a:xfrm>
          <a:prstGeom prst="roundRect">
            <a:avLst>
              <a:gd name="adj" fmla="val 482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2" name="Shape 8"/>
          <p:cNvSpPr/>
          <p:nvPr/>
        </p:nvSpPr>
        <p:spPr>
          <a:xfrm>
            <a:off x="4569866" y="2322576"/>
            <a:ext cx="365760" cy="365760"/>
          </a:xfrm>
          <a:prstGeom prst="roundRect">
            <a:avLst>
              <a:gd name="adj" fmla="val 70000"/>
            </a:avLst>
          </a:prstGeom>
          <a:solidFill>
            <a:srgbClr val="2BE5A0"/>
          </a:solidFill>
          <a:ln w="12700">
            <a:solidFill>
              <a:srgbClr val="2BE5A0"/>
            </a:solidFill>
            <a:prstDash val="solid"/>
          </a:ln>
        </p:spPr>
      </p:sp>
      <p:pic>
        <p:nvPicPr>
          <p:cNvPr id="13" name="Image 2" descr="preencoded.png">    </p:cNvPr>
          <p:cNvPicPr>
            <a:picLocks noChangeAspect="1"/>
          </p:cNvPicPr>
          <p:nvPr/>
        </p:nvPicPr>
        <p:blipFill>
          <a:blip r:embed="rId3"/>
          <a:stretch>
            <a:fillRect/>
          </a:stretch>
        </p:blipFill>
        <p:spPr>
          <a:xfrm>
            <a:off x="4664964" y="2417674"/>
            <a:ext cx="175565" cy="175565"/>
          </a:xfrm>
          <a:prstGeom prst="rect">
            <a:avLst/>
          </a:prstGeom>
        </p:spPr>
      </p:pic>
      <p:sp>
        <p:nvSpPr>
          <p:cNvPr id="14" name="Text 9"/>
          <p:cNvSpPr txBox="1"/>
          <p:nvPr/>
        </p:nvSpPr>
        <p:spPr>
          <a:xfrm>
            <a:off x="5100218" y="2386584"/>
            <a:ext cx="257647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Hardware &amp; Connectivity</a:t>
            </a:r>
            <a:endParaRPr lang="en-US" sz="1350" dirty="0"/>
          </a:p>
        </p:txBody>
      </p:sp>
      <p:sp>
        <p:nvSpPr>
          <p:cNvPr id="15" name="Text 10"/>
          <p:cNvSpPr txBox="1"/>
          <p:nvPr/>
        </p:nvSpPr>
        <p:spPr>
          <a:xfrm>
            <a:off x="4569866" y="2834640"/>
            <a:ext cx="3051962" cy="448056"/>
          </a:xfrm>
          <a:prstGeom prst="rect">
            <a:avLst/>
          </a:prstGeom>
          <a:noFill/>
          <a:ln/>
        </p:spPr>
        <p:txBody>
          <a:bodyPr wrap="square" lIns="0" tIns="0" rIns="0" bIns="0" rtlCol="0" anchor="t"/>
          <a:lstStyle/>
          <a:p>
            <a:pPr indent="0" marL="0">
              <a:lnSpc>
                <a:spcPts val="1400"/>
              </a:lnSpc>
              <a:buNone/>
            </a:pPr>
            <a:r>
              <a:rPr lang="en-US" sz="1050" dirty="0">
                <a:solidFill>
                  <a:srgbClr val="AFA8CE"/>
                </a:solidFill>
                <a:latin typeface="Calibri" pitchFamily="34" charset="0"/>
                <a:ea typeface="Calibri" pitchFamily="34" charset="-122"/>
                <a:cs typeface="Calibri" pitchFamily="34" charset="-120"/>
              </a:rPr>
              <a:t>BLE, GPS, OBD, discovery, Wi-Fi, screen capture</a:t>
            </a:r>
            <a:endParaRPr lang="en-US" sz="1050" dirty="0"/>
          </a:p>
        </p:txBody>
      </p:sp>
      <p:sp>
        <p:nvSpPr>
          <p:cNvPr id="16" name="Shape 11"/>
          <p:cNvSpPr/>
          <p:nvPr/>
        </p:nvSpPr>
        <p:spPr>
          <a:xfrm>
            <a:off x="8097317" y="2103120"/>
            <a:ext cx="3527450" cy="1325880"/>
          </a:xfrm>
          <a:prstGeom prst="roundRect">
            <a:avLst>
              <a:gd name="adj" fmla="val 482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8335061" y="2322576"/>
            <a:ext cx="365760" cy="365760"/>
          </a:xfrm>
          <a:prstGeom prst="roundRect">
            <a:avLst>
              <a:gd name="adj" fmla="val 70000"/>
            </a:avLst>
          </a:prstGeom>
          <a:solidFill>
            <a:srgbClr val="9B7BFF"/>
          </a:solidFill>
          <a:ln w="12700">
            <a:solidFill>
              <a:srgbClr val="9B7BFF"/>
            </a:solidFill>
            <a:prstDash val="solid"/>
          </a:ln>
        </p:spPr>
      </p:sp>
      <p:pic>
        <p:nvPicPr>
          <p:cNvPr id="18" name="Image 3" descr="preencoded.png">    </p:cNvPr>
          <p:cNvPicPr>
            <a:picLocks noChangeAspect="1"/>
          </p:cNvPicPr>
          <p:nvPr/>
        </p:nvPicPr>
        <p:blipFill>
          <a:blip r:embed="rId4"/>
          <a:stretch>
            <a:fillRect/>
          </a:stretch>
        </p:blipFill>
        <p:spPr>
          <a:xfrm>
            <a:off x="8430158" y="2417674"/>
            <a:ext cx="175565" cy="175565"/>
          </a:xfrm>
          <a:prstGeom prst="rect">
            <a:avLst/>
          </a:prstGeom>
        </p:spPr>
      </p:pic>
      <p:sp>
        <p:nvSpPr>
          <p:cNvPr id="19" name="Text 13"/>
          <p:cNvSpPr txBox="1"/>
          <p:nvPr/>
        </p:nvSpPr>
        <p:spPr>
          <a:xfrm>
            <a:off x="8865413" y="2386584"/>
            <a:ext cx="257647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Device Data</a:t>
            </a:r>
            <a:endParaRPr lang="en-US" sz="1350" dirty="0"/>
          </a:p>
        </p:txBody>
      </p:sp>
      <p:sp>
        <p:nvSpPr>
          <p:cNvPr id="20" name="Text 14"/>
          <p:cNvSpPr txBox="1"/>
          <p:nvPr/>
        </p:nvSpPr>
        <p:spPr>
          <a:xfrm>
            <a:off x="8335061" y="2834640"/>
            <a:ext cx="3051962" cy="448056"/>
          </a:xfrm>
          <a:prstGeom prst="rect">
            <a:avLst/>
          </a:prstGeom>
          <a:noFill/>
          <a:ln/>
        </p:spPr>
        <p:txBody>
          <a:bodyPr wrap="square" lIns="0" tIns="0" rIns="0" bIns="0" rtlCol="0" anchor="t"/>
          <a:lstStyle/>
          <a:p>
            <a:pPr indent="0" marL="0">
              <a:lnSpc>
                <a:spcPts val="1400"/>
              </a:lnSpc>
              <a:buNone/>
            </a:pPr>
            <a:r>
              <a:rPr lang="en-US" sz="1050" dirty="0">
                <a:solidFill>
                  <a:srgbClr val="AFA8CE"/>
                </a:solidFill>
                <a:latin typeface="Calibri" pitchFamily="34" charset="0"/>
                <a:ea typeface="Calibri" pitchFamily="34" charset="-122"/>
                <a:cs typeface="Calibri" pitchFamily="34" charset="-120"/>
              </a:rPr>
              <a:t>Music, health, contacts, calendars</a:t>
            </a:r>
            <a:endParaRPr lang="en-US" sz="1050" dirty="0"/>
          </a:p>
        </p:txBody>
      </p:sp>
      <p:sp>
        <p:nvSpPr>
          <p:cNvPr id="21" name="Shape 15"/>
          <p:cNvSpPr/>
          <p:nvPr/>
        </p:nvSpPr>
        <p:spPr>
          <a:xfrm>
            <a:off x="566928" y="3685032"/>
            <a:ext cx="3527450" cy="1325880"/>
          </a:xfrm>
          <a:prstGeom prst="roundRect">
            <a:avLst>
              <a:gd name="adj" fmla="val 482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Shape 16"/>
          <p:cNvSpPr/>
          <p:nvPr/>
        </p:nvSpPr>
        <p:spPr>
          <a:xfrm>
            <a:off x="804672" y="3904488"/>
            <a:ext cx="365760" cy="365760"/>
          </a:xfrm>
          <a:prstGeom prst="roundRect">
            <a:avLst>
              <a:gd name="adj" fmla="val 70000"/>
            </a:avLst>
          </a:prstGeom>
          <a:solidFill>
            <a:srgbClr val="CFFA12"/>
          </a:solidFill>
          <a:ln w="12700">
            <a:solidFill>
              <a:srgbClr val="CFFA12"/>
            </a:solidFill>
            <a:prstDash val="solid"/>
          </a:ln>
        </p:spPr>
      </p:sp>
      <p:pic>
        <p:nvPicPr>
          <p:cNvPr id="23" name="Image 4" descr="preencoded.png">    </p:cNvPr>
          <p:cNvPicPr>
            <a:picLocks noChangeAspect="1"/>
          </p:cNvPicPr>
          <p:nvPr/>
        </p:nvPicPr>
        <p:blipFill>
          <a:blip r:embed="rId5"/>
          <a:stretch>
            <a:fillRect/>
          </a:stretch>
        </p:blipFill>
        <p:spPr>
          <a:xfrm>
            <a:off x="899770" y="3999586"/>
            <a:ext cx="175565" cy="175565"/>
          </a:xfrm>
          <a:prstGeom prst="rect">
            <a:avLst/>
          </a:prstGeom>
        </p:spPr>
      </p:pic>
      <p:sp>
        <p:nvSpPr>
          <p:cNvPr id="24" name="Text 17"/>
          <p:cNvSpPr txBox="1"/>
          <p:nvPr/>
        </p:nvSpPr>
        <p:spPr>
          <a:xfrm>
            <a:off x="1335024" y="3968496"/>
            <a:ext cx="257647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AI &amp; Intelligence</a:t>
            </a:r>
            <a:endParaRPr lang="en-US" sz="1350" dirty="0"/>
          </a:p>
        </p:txBody>
      </p:sp>
      <p:sp>
        <p:nvSpPr>
          <p:cNvPr id="25" name="Text 18"/>
          <p:cNvSpPr txBox="1"/>
          <p:nvPr/>
        </p:nvSpPr>
        <p:spPr>
          <a:xfrm>
            <a:off x="804672" y="4416552"/>
            <a:ext cx="3051962" cy="448056"/>
          </a:xfrm>
          <a:prstGeom prst="rect">
            <a:avLst/>
          </a:prstGeom>
          <a:noFill/>
          <a:ln/>
        </p:spPr>
        <p:txBody>
          <a:bodyPr wrap="square" lIns="0" tIns="0" rIns="0" bIns="0" rtlCol="0" anchor="t"/>
          <a:lstStyle/>
          <a:p>
            <a:pPr indent="0" marL="0">
              <a:lnSpc>
                <a:spcPts val="1400"/>
              </a:lnSpc>
              <a:buNone/>
            </a:pPr>
            <a:r>
              <a:rPr lang="en-US" sz="1050" dirty="0">
                <a:solidFill>
                  <a:srgbClr val="AFA8CE"/>
                </a:solidFill>
                <a:latin typeface="Calibri" pitchFamily="34" charset="0"/>
                <a:ea typeface="Calibri" pitchFamily="34" charset="-122"/>
                <a:cs typeface="Calibri" pitchFamily="34" charset="-120"/>
              </a:rPr>
              <a:t>Conversation, speech, face, voice, documents</a:t>
            </a:r>
            <a:endParaRPr lang="en-US" sz="1050" dirty="0"/>
          </a:p>
        </p:txBody>
      </p:sp>
      <p:sp>
        <p:nvSpPr>
          <p:cNvPr id="26" name="Shape 19"/>
          <p:cNvSpPr/>
          <p:nvPr/>
        </p:nvSpPr>
        <p:spPr>
          <a:xfrm>
            <a:off x="4332122" y="3685032"/>
            <a:ext cx="3527450" cy="1325880"/>
          </a:xfrm>
          <a:prstGeom prst="roundRect">
            <a:avLst>
              <a:gd name="adj" fmla="val 482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7" name="Shape 20"/>
          <p:cNvSpPr/>
          <p:nvPr/>
        </p:nvSpPr>
        <p:spPr>
          <a:xfrm>
            <a:off x="4569866" y="3904488"/>
            <a:ext cx="365760" cy="365760"/>
          </a:xfrm>
          <a:prstGeom prst="roundRect">
            <a:avLst>
              <a:gd name="adj" fmla="val 70000"/>
            </a:avLst>
          </a:prstGeom>
          <a:solidFill>
            <a:srgbClr val="9B7BFF"/>
          </a:solidFill>
          <a:ln w="12700">
            <a:solidFill>
              <a:srgbClr val="9B7BFF"/>
            </a:solidFill>
            <a:prstDash val="solid"/>
          </a:ln>
        </p:spPr>
      </p:sp>
      <p:pic>
        <p:nvPicPr>
          <p:cNvPr id="28" name="Image 5" descr="preencoded.png">    </p:cNvPr>
          <p:cNvPicPr>
            <a:picLocks noChangeAspect="1"/>
          </p:cNvPicPr>
          <p:nvPr/>
        </p:nvPicPr>
        <p:blipFill>
          <a:blip r:embed="rId6"/>
          <a:stretch>
            <a:fillRect/>
          </a:stretch>
        </p:blipFill>
        <p:spPr>
          <a:xfrm>
            <a:off x="4664964" y="3999586"/>
            <a:ext cx="175565" cy="175565"/>
          </a:xfrm>
          <a:prstGeom prst="rect">
            <a:avLst/>
          </a:prstGeom>
        </p:spPr>
      </p:pic>
      <p:sp>
        <p:nvSpPr>
          <p:cNvPr id="29" name="Text 21"/>
          <p:cNvSpPr txBox="1"/>
          <p:nvPr/>
        </p:nvSpPr>
        <p:spPr>
          <a:xfrm>
            <a:off x="5100218" y="3968496"/>
            <a:ext cx="257647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Background &amp; Delivery</a:t>
            </a:r>
            <a:endParaRPr lang="en-US" sz="1350" dirty="0"/>
          </a:p>
        </p:txBody>
      </p:sp>
      <p:sp>
        <p:nvSpPr>
          <p:cNvPr id="30" name="Text 22"/>
          <p:cNvSpPr txBox="1"/>
          <p:nvPr/>
        </p:nvSpPr>
        <p:spPr>
          <a:xfrm>
            <a:off x="4569866" y="4416552"/>
            <a:ext cx="3051962" cy="448056"/>
          </a:xfrm>
          <a:prstGeom prst="rect">
            <a:avLst/>
          </a:prstGeom>
          <a:noFill/>
          <a:ln/>
        </p:spPr>
        <p:txBody>
          <a:bodyPr wrap="square" lIns="0" tIns="0" rIns="0" bIns="0" rtlCol="0" anchor="t"/>
          <a:lstStyle/>
          <a:p>
            <a:pPr indent="0" marL="0">
              <a:lnSpc>
                <a:spcPts val="1400"/>
              </a:lnSpc>
              <a:buNone/>
            </a:pPr>
            <a:r>
              <a:rPr lang="en-US" sz="1050" dirty="0">
                <a:solidFill>
                  <a:srgbClr val="AFA8CE"/>
                </a:solidFill>
                <a:latin typeface="Calibri" pitchFamily="34" charset="0"/>
                <a:ea typeface="Calibri" pitchFamily="34" charset="-122"/>
                <a:cs typeface="Calibri" pitchFamily="34" charset="-120"/>
              </a:rPr>
              <a:t>Jobs, transfers, local and push notifications</a:t>
            </a:r>
            <a:endParaRPr lang="en-US" sz="1050" dirty="0"/>
          </a:p>
        </p:txBody>
      </p:sp>
      <p:sp>
        <p:nvSpPr>
          <p:cNvPr id="31" name="Shape 23"/>
          <p:cNvSpPr/>
          <p:nvPr/>
        </p:nvSpPr>
        <p:spPr>
          <a:xfrm>
            <a:off x="8097317" y="3685032"/>
            <a:ext cx="3527450" cy="1325880"/>
          </a:xfrm>
          <a:prstGeom prst="roundRect">
            <a:avLst>
              <a:gd name="adj" fmla="val 482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2" name="Shape 24"/>
          <p:cNvSpPr/>
          <p:nvPr/>
        </p:nvSpPr>
        <p:spPr>
          <a:xfrm>
            <a:off x="8335061" y="3904488"/>
            <a:ext cx="365760" cy="365760"/>
          </a:xfrm>
          <a:prstGeom prst="roundRect">
            <a:avLst>
              <a:gd name="adj" fmla="val 70000"/>
            </a:avLst>
          </a:prstGeom>
          <a:solidFill>
            <a:srgbClr val="2BE5A0"/>
          </a:solidFill>
          <a:ln w="12700">
            <a:solidFill>
              <a:srgbClr val="2BE5A0"/>
            </a:solidFill>
            <a:prstDash val="solid"/>
          </a:ln>
        </p:spPr>
      </p:sp>
      <p:pic>
        <p:nvPicPr>
          <p:cNvPr id="33" name="Image 6" descr="preencoded.png">    </p:cNvPr>
          <p:cNvPicPr>
            <a:picLocks noChangeAspect="1"/>
          </p:cNvPicPr>
          <p:nvPr/>
        </p:nvPicPr>
        <p:blipFill>
          <a:blip r:embed="rId7"/>
          <a:stretch>
            <a:fillRect/>
          </a:stretch>
        </p:blipFill>
        <p:spPr>
          <a:xfrm>
            <a:off x="8430158" y="3999586"/>
            <a:ext cx="175565" cy="175565"/>
          </a:xfrm>
          <a:prstGeom prst="rect">
            <a:avLst/>
          </a:prstGeom>
        </p:spPr>
      </p:pic>
      <p:sp>
        <p:nvSpPr>
          <p:cNvPr id="34" name="Text 25"/>
          <p:cNvSpPr txBox="1"/>
          <p:nvPr/>
        </p:nvSpPr>
        <p:spPr>
          <a:xfrm>
            <a:off x="8865413" y="3968496"/>
            <a:ext cx="257647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MAUI App</a:t>
            </a:r>
            <a:endParaRPr lang="en-US" sz="1350" dirty="0"/>
          </a:p>
        </p:txBody>
      </p:sp>
      <p:sp>
        <p:nvSpPr>
          <p:cNvPr id="35" name="Text 26"/>
          <p:cNvSpPr txBox="1"/>
          <p:nvPr/>
        </p:nvSpPr>
        <p:spPr>
          <a:xfrm>
            <a:off x="8335061" y="4416552"/>
            <a:ext cx="3051962" cy="448056"/>
          </a:xfrm>
          <a:prstGeom prst="rect">
            <a:avLst/>
          </a:prstGeom>
          <a:noFill/>
          <a:ln/>
        </p:spPr>
        <p:txBody>
          <a:bodyPr wrap="square" lIns="0" tIns="0" rIns="0" bIns="0" rtlCol="0" anchor="t"/>
          <a:lstStyle/>
          <a:p>
            <a:pPr indent="0" marL="0">
              <a:lnSpc>
                <a:spcPts val="1400"/>
              </a:lnSpc>
              <a:buNone/>
            </a:pPr>
            <a:r>
              <a:rPr lang="en-US" sz="1050" dirty="0">
                <a:solidFill>
                  <a:srgbClr val="AFA8CE"/>
                </a:solidFill>
                <a:latin typeface="Calibri" pitchFamily="34" charset="0"/>
                <a:ea typeface="Calibri" pitchFamily="34" charset="-122"/>
                <a:cs typeface="Calibri" pitchFamily="34" charset="-120"/>
              </a:rPr>
              <a:t>Shell navigation, hosting, config, permissions</a:t>
            </a:r>
            <a:endParaRPr lang="en-US" sz="1050" dirty="0"/>
          </a:p>
        </p:txBody>
      </p:sp>
      <p:sp>
        <p:nvSpPr>
          <p:cNvPr id="36" name="Shape 27"/>
          <p:cNvSpPr/>
          <p:nvPr/>
        </p:nvSpPr>
        <p:spPr>
          <a:xfrm>
            <a:off x="566928" y="5266944"/>
            <a:ext cx="3527450" cy="1325880"/>
          </a:xfrm>
          <a:prstGeom prst="roundRect">
            <a:avLst>
              <a:gd name="adj" fmla="val 482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7" name="Shape 28"/>
          <p:cNvSpPr/>
          <p:nvPr/>
        </p:nvSpPr>
        <p:spPr>
          <a:xfrm>
            <a:off x="804672" y="5486400"/>
            <a:ext cx="365760" cy="365760"/>
          </a:xfrm>
          <a:prstGeom prst="roundRect">
            <a:avLst>
              <a:gd name="adj" fmla="val 70000"/>
            </a:avLst>
          </a:prstGeom>
          <a:solidFill>
            <a:srgbClr val="9B7BFF"/>
          </a:solidFill>
          <a:ln w="12700">
            <a:solidFill>
              <a:srgbClr val="9B7BFF"/>
            </a:solidFill>
            <a:prstDash val="solid"/>
          </a:ln>
        </p:spPr>
      </p:sp>
      <p:pic>
        <p:nvPicPr>
          <p:cNvPr id="38" name="Image 7" descr="preencoded.png">    </p:cNvPr>
          <p:cNvPicPr>
            <a:picLocks noChangeAspect="1"/>
          </p:cNvPicPr>
          <p:nvPr/>
        </p:nvPicPr>
        <p:blipFill>
          <a:blip r:embed="rId8"/>
          <a:stretch>
            <a:fillRect/>
          </a:stretch>
        </p:blipFill>
        <p:spPr>
          <a:xfrm>
            <a:off x="899770" y="5581498"/>
            <a:ext cx="175565" cy="175565"/>
          </a:xfrm>
          <a:prstGeom prst="rect">
            <a:avLst/>
          </a:prstGeom>
        </p:spPr>
      </p:pic>
      <p:sp>
        <p:nvSpPr>
          <p:cNvPr id="39" name="Text 29"/>
          <p:cNvSpPr txBox="1"/>
          <p:nvPr/>
        </p:nvSpPr>
        <p:spPr>
          <a:xfrm>
            <a:off x="1335024" y="5550408"/>
            <a:ext cx="257647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UI Controls</a:t>
            </a:r>
            <a:endParaRPr lang="en-US" sz="1350" dirty="0"/>
          </a:p>
        </p:txBody>
      </p:sp>
      <p:sp>
        <p:nvSpPr>
          <p:cNvPr id="40" name="Text 30"/>
          <p:cNvSpPr txBox="1"/>
          <p:nvPr/>
        </p:nvSpPr>
        <p:spPr>
          <a:xfrm>
            <a:off x="804672" y="5998464"/>
            <a:ext cx="3051962" cy="448056"/>
          </a:xfrm>
          <a:prstGeom prst="rect">
            <a:avLst/>
          </a:prstGeom>
          <a:noFill/>
          <a:ln/>
        </p:spPr>
        <p:txBody>
          <a:bodyPr wrap="square" lIns="0" tIns="0" rIns="0" bIns="0" rtlCol="0" anchor="t"/>
          <a:lstStyle/>
          <a:p>
            <a:pPr indent="0" marL="0">
              <a:lnSpc>
                <a:spcPts val="1400"/>
              </a:lnSpc>
              <a:buNone/>
            </a:pPr>
            <a:r>
              <a:rPr lang="en-US" sz="1050" dirty="0">
                <a:solidFill>
                  <a:srgbClr val="AFA8CE"/>
                </a:solidFill>
                <a:latin typeface="Calibri" pitchFamily="34" charset="0"/>
                <a:ea typeface="Calibri" pitchFamily="34" charset="-122"/>
                <a:cs typeface="Calibri" pitchFamily="34" charset="-120"/>
              </a:rPr>
              <a:t>85+ controls for MAUI and Blazor, one theme contract</a:t>
            </a:r>
            <a:endParaRPr lang="en-US" sz="1050" dirty="0"/>
          </a:p>
        </p:txBody>
      </p:sp>
      <p:sp>
        <p:nvSpPr>
          <p:cNvPr id="41" name="Shape 31"/>
          <p:cNvSpPr/>
          <p:nvPr/>
        </p:nvSpPr>
        <p:spPr>
          <a:xfrm>
            <a:off x="4332122" y="5266944"/>
            <a:ext cx="3527450" cy="1325880"/>
          </a:xfrm>
          <a:prstGeom prst="roundRect">
            <a:avLst>
              <a:gd name="adj" fmla="val 482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42" name="Shape 32"/>
          <p:cNvSpPr/>
          <p:nvPr/>
        </p:nvSpPr>
        <p:spPr>
          <a:xfrm>
            <a:off x="4569866" y="5486400"/>
            <a:ext cx="365760" cy="365760"/>
          </a:xfrm>
          <a:prstGeom prst="roundRect">
            <a:avLst>
              <a:gd name="adj" fmla="val 70000"/>
            </a:avLst>
          </a:prstGeom>
          <a:solidFill>
            <a:srgbClr val="2BE5A0"/>
          </a:solidFill>
          <a:ln w="12700">
            <a:solidFill>
              <a:srgbClr val="2BE5A0"/>
            </a:solidFill>
            <a:prstDash val="solid"/>
          </a:ln>
        </p:spPr>
      </p:sp>
      <p:pic>
        <p:nvPicPr>
          <p:cNvPr id="43" name="Image 8" descr="preencoded.png">    </p:cNvPr>
          <p:cNvPicPr>
            <a:picLocks noChangeAspect="1"/>
          </p:cNvPicPr>
          <p:nvPr/>
        </p:nvPicPr>
        <p:blipFill>
          <a:blip r:embed="rId9"/>
          <a:stretch>
            <a:fillRect/>
          </a:stretch>
        </p:blipFill>
        <p:spPr>
          <a:xfrm>
            <a:off x="4664964" y="5581498"/>
            <a:ext cx="175565" cy="175565"/>
          </a:xfrm>
          <a:prstGeom prst="rect">
            <a:avLst/>
          </a:prstGeom>
        </p:spPr>
      </p:pic>
      <p:sp>
        <p:nvSpPr>
          <p:cNvPr id="44" name="Text 33"/>
          <p:cNvSpPr txBox="1"/>
          <p:nvPr/>
        </p:nvSpPr>
        <p:spPr>
          <a:xfrm>
            <a:off x="5100218" y="5550408"/>
            <a:ext cx="257647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Data &amp; Storage</a:t>
            </a:r>
            <a:endParaRPr lang="en-US" sz="1350" dirty="0"/>
          </a:p>
        </p:txBody>
      </p:sp>
      <p:sp>
        <p:nvSpPr>
          <p:cNvPr id="45" name="Text 34"/>
          <p:cNvSpPr txBox="1"/>
          <p:nvPr/>
        </p:nvSpPr>
        <p:spPr>
          <a:xfrm>
            <a:off x="4569866" y="5998464"/>
            <a:ext cx="3051962" cy="448056"/>
          </a:xfrm>
          <a:prstGeom prst="rect">
            <a:avLst/>
          </a:prstGeom>
          <a:noFill/>
          <a:ln/>
        </p:spPr>
        <p:txBody>
          <a:bodyPr wrap="square" lIns="0" tIns="0" rIns="0" bIns="0" rtlCol="0" anchor="t"/>
          <a:lstStyle/>
          <a:p>
            <a:pPr indent="0" marL="0">
              <a:lnSpc>
                <a:spcPts val="1400"/>
              </a:lnSpc>
              <a:buNone/>
            </a:pPr>
            <a:r>
              <a:rPr lang="en-US" sz="1050" dirty="0">
                <a:solidFill>
                  <a:srgbClr val="AFA8CE"/>
                </a:solidFill>
                <a:latin typeface="Calibri" pitchFamily="34" charset="0"/>
                <a:ea typeface="Calibri" pitchFamily="34" charset="-122"/>
                <a:cs typeface="Calibri" pitchFamily="34" charset="-120"/>
              </a:rPr>
              <a:t>Document DB, spatial, data sync, key/value stores</a:t>
            </a:r>
            <a:endParaRPr lang="en-US" sz="1050" dirty="0"/>
          </a:p>
        </p:txBody>
      </p:sp>
      <p:sp>
        <p:nvSpPr>
          <p:cNvPr id="46" name="Shape 35"/>
          <p:cNvSpPr/>
          <p:nvPr/>
        </p:nvSpPr>
        <p:spPr>
          <a:xfrm>
            <a:off x="8097317" y="5266944"/>
            <a:ext cx="3527450" cy="1325880"/>
          </a:xfrm>
          <a:prstGeom prst="roundRect">
            <a:avLst>
              <a:gd name="adj" fmla="val 482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47" name="Shape 36"/>
          <p:cNvSpPr/>
          <p:nvPr/>
        </p:nvSpPr>
        <p:spPr>
          <a:xfrm>
            <a:off x="8335061" y="5486400"/>
            <a:ext cx="365760" cy="365760"/>
          </a:xfrm>
          <a:prstGeom prst="roundRect">
            <a:avLst>
              <a:gd name="adj" fmla="val 70000"/>
            </a:avLst>
          </a:prstGeom>
          <a:solidFill>
            <a:srgbClr val="9B7BFF"/>
          </a:solidFill>
          <a:ln w="12700">
            <a:solidFill>
              <a:srgbClr val="9B7BFF"/>
            </a:solidFill>
            <a:prstDash val="solid"/>
          </a:ln>
        </p:spPr>
      </p:sp>
      <p:pic>
        <p:nvPicPr>
          <p:cNvPr id="48" name="Image 9" descr="preencoded.png">    </p:cNvPr>
          <p:cNvPicPr>
            <a:picLocks noChangeAspect="1"/>
          </p:cNvPicPr>
          <p:nvPr/>
        </p:nvPicPr>
        <p:blipFill>
          <a:blip r:embed="rId10"/>
          <a:stretch>
            <a:fillRect/>
          </a:stretch>
        </p:blipFill>
        <p:spPr>
          <a:xfrm>
            <a:off x="8430158" y="5581498"/>
            <a:ext cx="175565" cy="175565"/>
          </a:xfrm>
          <a:prstGeom prst="rect">
            <a:avLst/>
          </a:prstGeom>
        </p:spPr>
      </p:pic>
      <p:sp>
        <p:nvSpPr>
          <p:cNvPr id="49" name="Text 37"/>
          <p:cNvSpPr txBox="1"/>
          <p:nvPr/>
        </p:nvSpPr>
        <p:spPr>
          <a:xfrm>
            <a:off x="8865413" y="5550408"/>
            <a:ext cx="257647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Server &amp; Cloud</a:t>
            </a:r>
            <a:endParaRPr lang="en-US" sz="1350" dirty="0"/>
          </a:p>
        </p:txBody>
      </p:sp>
      <p:sp>
        <p:nvSpPr>
          <p:cNvPr id="50" name="Text 38"/>
          <p:cNvSpPr txBox="1"/>
          <p:nvPr/>
        </p:nvSpPr>
        <p:spPr>
          <a:xfrm>
            <a:off x="8335061" y="5998464"/>
            <a:ext cx="3051962" cy="448056"/>
          </a:xfrm>
          <a:prstGeom prst="rect">
            <a:avLst/>
          </a:prstGeom>
          <a:noFill/>
          <a:ln/>
        </p:spPr>
        <p:txBody>
          <a:bodyPr wrap="square" lIns="0" tIns="0" rIns="0" bIns="0" rtlCol="0" anchor="t"/>
          <a:lstStyle/>
          <a:p>
            <a:pPr indent="0" marL="0">
              <a:lnSpc>
                <a:spcPts val="1400"/>
              </a:lnSpc>
              <a:buNone/>
            </a:pPr>
            <a:r>
              <a:rPr lang="en-US" sz="1050" dirty="0">
                <a:solidFill>
                  <a:srgbClr val="AFA8CE"/>
                </a:solidFill>
                <a:latin typeface="Calibri" pitchFamily="34" charset="0"/>
                <a:ea typeface="Calibri" pitchFamily="34" charset="-122"/>
                <a:cs typeface="Calibri" pitchFamily="34" charset="-120"/>
              </a:rPr>
              <a:t>Embeddable HTTP server, push dispatch, Aspire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REACH</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One suite, every .NET target</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The same packages run on the phone in a pocket, the desktop on a bench, the browser tab and the server rack.</a:t>
            </a:r>
            <a:endParaRPr lang="en-US" sz="1350" dirty="0"/>
          </a:p>
        </p:txBody>
      </p:sp>
      <p:sp>
        <p:nvSpPr>
          <p:cNvPr id="6" name="Shape 3"/>
          <p:cNvSpPr/>
          <p:nvPr/>
        </p:nvSpPr>
        <p:spPr>
          <a:xfrm>
            <a:off x="566928" y="2286000"/>
            <a:ext cx="2560320" cy="493776"/>
          </a:xfrm>
          <a:prstGeom prst="roundRect">
            <a:avLst>
              <a:gd name="adj" fmla="val 29630"/>
            </a:avLst>
          </a:prstGeom>
          <a:solidFill>
            <a:srgbClr val="221A52"/>
          </a:solidFill>
          <a:ln w="12700">
            <a:solidFill>
              <a:srgbClr val="2E2665"/>
            </a:solidFill>
            <a:prstDash val="solid"/>
          </a:ln>
        </p:spPr>
      </p:sp>
      <p:sp>
        <p:nvSpPr>
          <p:cNvPr id="7" name="Text 4"/>
          <p:cNvSpPr txBox="1"/>
          <p:nvPr/>
        </p:nvSpPr>
        <p:spPr>
          <a:xfrm>
            <a:off x="566928" y="2286000"/>
            <a:ext cx="256032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iOS</a:t>
            </a:r>
            <a:endParaRPr lang="en-US" sz="1250" dirty="0"/>
          </a:p>
        </p:txBody>
      </p:sp>
      <p:sp>
        <p:nvSpPr>
          <p:cNvPr id="8" name="Shape 5"/>
          <p:cNvSpPr/>
          <p:nvPr/>
        </p:nvSpPr>
        <p:spPr>
          <a:xfrm>
            <a:off x="3364992" y="2286000"/>
            <a:ext cx="2560320" cy="493776"/>
          </a:xfrm>
          <a:prstGeom prst="roundRect">
            <a:avLst>
              <a:gd name="adj" fmla="val 29630"/>
            </a:avLst>
          </a:prstGeom>
          <a:solidFill>
            <a:srgbClr val="221A52"/>
          </a:solidFill>
          <a:ln w="12700">
            <a:solidFill>
              <a:srgbClr val="2E2665"/>
            </a:solidFill>
            <a:prstDash val="solid"/>
          </a:ln>
        </p:spPr>
      </p:sp>
      <p:sp>
        <p:nvSpPr>
          <p:cNvPr id="9" name="Text 6"/>
          <p:cNvSpPr txBox="1"/>
          <p:nvPr/>
        </p:nvSpPr>
        <p:spPr>
          <a:xfrm>
            <a:off x="3364992" y="2286000"/>
            <a:ext cx="256032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Android</a:t>
            </a:r>
            <a:endParaRPr lang="en-US" sz="1250" dirty="0"/>
          </a:p>
        </p:txBody>
      </p:sp>
      <p:sp>
        <p:nvSpPr>
          <p:cNvPr id="10" name="Shape 7"/>
          <p:cNvSpPr/>
          <p:nvPr/>
        </p:nvSpPr>
        <p:spPr>
          <a:xfrm>
            <a:off x="6163056" y="2286000"/>
            <a:ext cx="2560320" cy="493776"/>
          </a:xfrm>
          <a:prstGeom prst="roundRect">
            <a:avLst>
              <a:gd name="adj" fmla="val 29630"/>
            </a:avLst>
          </a:prstGeom>
          <a:solidFill>
            <a:srgbClr val="221A52"/>
          </a:solidFill>
          <a:ln w="12700">
            <a:solidFill>
              <a:srgbClr val="2E2665"/>
            </a:solidFill>
            <a:prstDash val="solid"/>
          </a:ln>
        </p:spPr>
      </p:sp>
      <p:sp>
        <p:nvSpPr>
          <p:cNvPr id="11" name="Text 8"/>
          <p:cNvSpPr txBox="1"/>
          <p:nvPr/>
        </p:nvSpPr>
        <p:spPr>
          <a:xfrm>
            <a:off x="6163056" y="2286000"/>
            <a:ext cx="256032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Mac Catalyst</a:t>
            </a:r>
            <a:endParaRPr lang="en-US" sz="1250" dirty="0"/>
          </a:p>
        </p:txBody>
      </p:sp>
      <p:sp>
        <p:nvSpPr>
          <p:cNvPr id="12" name="Shape 9"/>
          <p:cNvSpPr/>
          <p:nvPr/>
        </p:nvSpPr>
        <p:spPr>
          <a:xfrm>
            <a:off x="8961120" y="2286000"/>
            <a:ext cx="2560320" cy="493776"/>
          </a:xfrm>
          <a:prstGeom prst="roundRect">
            <a:avLst>
              <a:gd name="adj" fmla="val 29630"/>
            </a:avLst>
          </a:prstGeom>
          <a:solidFill>
            <a:srgbClr val="221A52"/>
          </a:solidFill>
          <a:ln w="12700">
            <a:solidFill>
              <a:srgbClr val="2E2665"/>
            </a:solidFill>
            <a:prstDash val="solid"/>
          </a:ln>
        </p:spPr>
      </p:sp>
      <p:sp>
        <p:nvSpPr>
          <p:cNvPr id="13" name="Text 10"/>
          <p:cNvSpPr txBox="1"/>
          <p:nvPr/>
        </p:nvSpPr>
        <p:spPr>
          <a:xfrm>
            <a:off x="8961120" y="2286000"/>
            <a:ext cx="256032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macOS</a:t>
            </a:r>
            <a:endParaRPr lang="en-US" sz="1250" dirty="0"/>
          </a:p>
        </p:txBody>
      </p:sp>
      <p:sp>
        <p:nvSpPr>
          <p:cNvPr id="14" name="Shape 11"/>
          <p:cNvSpPr/>
          <p:nvPr/>
        </p:nvSpPr>
        <p:spPr>
          <a:xfrm>
            <a:off x="566928" y="2907792"/>
            <a:ext cx="2560320" cy="493776"/>
          </a:xfrm>
          <a:prstGeom prst="roundRect">
            <a:avLst>
              <a:gd name="adj" fmla="val 29630"/>
            </a:avLst>
          </a:prstGeom>
          <a:solidFill>
            <a:srgbClr val="221A52"/>
          </a:solidFill>
          <a:ln w="12700">
            <a:solidFill>
              <a:srgbClr val="2E2665"/>
            </a:solidFill>
            <a:prstDash val="solid"/>
          </a:ln>
        </p:spPr>
      </p:sp>
      <p:sp>
        <p:nvSpPr>
          <p:cNvPr id="15" name="Text 12"/>
          <p:cNvSpPr txBox="1"/>
          <p:nvPr/>
        </p:nvSpPr>
        <p:spPr>
          <a:xfrm>
            <a:off x="566928" y="2907792"/>
            <a:ext cx="256032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Windows</a:t>
            </a:r>
            <a:endParaRPr lang="en-US" sz="1250" dirty="0"/>
          </a:p>
        </p:txBody>
      </p:sp>
      <p:sp>
        <p:nvSpPr>
          <p:cNvPr id="16" name="Shape 13"/>
          <p:cNvSpPr/>
          <p:nvPr/>
        </p:nvSpPr>
        <p:spPr>
          <a:xfrm>
            <a:off x="3364992" y="2907792"/>
            <a:ext cx="2560320" cy="493776"/>
          </a:xfrm>
          <a:prstGeom prst="roundRect">
            <a:avLst>
              <a:gd name="adj" fmla="val 29630"/>
            </a:avLst>
          </a:prstGeom>
          <a:solidFill>
            <a:srgbClr val="221A52"/>
          </a:solidFill>
          <a:ln w="12700">
            <a:solidFill>
              <a:srgbClr val="2E2665"/>
            </a:solidFill>
            <a:prstDash val="solid"/>
          </a:ln>
        </p:spPr>
      </p:sp>
      <p:sp>
        <p:nvSpPr>
          <p:cNvPr id="17" name="Text 14"/>
          <p:cNvSpPr txBox="1"/>
          <p:nvPr/>
        </p:nvSpPr>
        <p:spPr>
          <a:xfrm>
            <a:off x="3364992" y="2907792"/>
            <a:ext cx="256032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Linux</a:t>
            </a:r>
            <a:endParaRPr lang="en-US" sz="1250" dirty="0"/>
          </a:p>
        </p:txBody>
      </p:sp>
      <p:sp>
        <p:nvSpPr>
          <p:cNvPr id="18" name="Shape 15"/>
          <p:cNvSpPr/>
          <p:nvPr/>
        </p:nvSpPr>
        <p:spPr>
          <a:xfrm>
            <a:off x="6163056" y="2907792"/>
            <a:ext cx="2560320" cy="493776"/>
          </a:xfrm>
          <a:prstGeom prst="roundRect">
            <a:avLst>
              <a:gd name="adj" fmla="val 29630"/>
            </a:avLst>
          </a:prstGeom>
          <a:solidFill>
            <a:srgbClr val="221A52"/>
          </a:solidFill>
          <a:ln w="12700">
            <a:solidFill>
              <a:srgbClr val="2E2665"/>
            </a:solidFill>
            <a:prstDash val="solid"/>
          </a:ln>
        </p:spPr>
      </p:sp>
      <p:sp>
        <p:nvSpPr>
          <p:cNvPr id="19" name="Text 16"/>
          <p:cNvSpPr txBox="1"/>
          <p:nvPr/>
        </p:nvSpPr>
        <p:spPr>
          <a:xfrm>
            <a:off x="6163056" y="2907792"/>
            <a:ext cx="256032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Blazor WASM</a:t>
            </a:r>
            <a:endParaRPr lang="en-US" sz="1250" dirty="0"/>
          </a:p>
        </p:txBody>
      </p:sp>
      <p:sp>
        <p:nvSpPr>
          <p:cNvPr id="20" name="Shape 17"/>
          <p:cNvSpPr/>
          <p:nvPr/>
        </p:nvSpPr>
        <p:spPr>
          <a:xfrm>
            <a:off x="8961120" y="2907792"/>
            <a:ext cx="2560320" cy="493776"/>
          </a:xfrm>
          <a:prstGeom prst="roundRect">
            <a:avLst>
              <a:gd name="adj" fmla="val 29630"/>
            </a:avLst>
          </a:prstGeom>
          <a:solidFill>
            <a:srgbClr val="221A52"/>
          </a:solidFill>
          <a:ln w="12700">
            <a:solidFill>
              <a:srgbClr val="2E2665"/>
            </a:solidFill>
            <a:prstDash val="solid"/>
          </a:ln>
        </p:spPr>
      </p:sp>
      <p:sp>
        <p:nvSpPr>
          <p:cNvPr id="21" name="Text 18"/>
          <p:cNvSpPr txBox="1"/>
          <p:nvPr/>
        </p:nvSpPr>
        <p:spPr>
          <a:xfrm>
            <a:off x="8961120" y="2907792"/>
            <a:ext cx="2560320" cy="49377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ASP.NET Core</a:t>
            </a:r>
            <a:endParaRPr lang="en-US" sz="1250" dirty="0"/>
          </a:p>
        </p:txBody>
      </p:sp>
      <p:sp>
        <p:nvSpPr>
          <p:cNvPr id="22" name="Shape 19"/>
          <p:cNvSpPr/>
          <p:nvPr/>
        </p:nvSpPr>
        <p:spPr>
          <a:xfrm>
            <a:off x="566928" y="3913632"/>
            <a:ext cx="3527450" cy="1965960"/>
          </a:xfrm>
          <a:prstGeom prst="roundRect">
            <a:avLst>
              <a:gd name="adj" fmla="val 3256"/>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3" name="Shape 20"/>
          <p:cNvSpPr/>
          <p:nvPr/>
        </p:nvSpPr>
        <p:spPr>
          <a:xfrm>
            <a:off x="804672" y="4133088"/>
            <a:ext cx="420624" cy="420624"/>
          </a:xfrm>
          <a:prstGeom prst="roundRect">
            <a:avLst>
              <a:gd name="adj" fmla="val 60870"/>
            </a:avLst>
          </a:prstGeom>
          <a:solidFill>
            <a:srgbClr val="CFFA12"/>
          </a:solidFill>
          <a:ln w="12700">
            <a:solidFill>
              <a:srgbClr val="CFFA12"/>
            </a:solidFill>
            <a:prstDash val="solid"/>
          </a:ln>
        </p:spPr>
      </p:sp>
      <p:pic>
        <p:nvPicPr>
          <p:cNvPr id="24" name="Image 1" descr="preencoded.png">    </p:cNvPr>
          <p:cNvPicPr>
            <a:picLocks noChangeAspect="1"/>
          </p:cNvPicPr>
          <p:nvPr/>
        </p:nvPicPr>
        <p:blipFill>
          <a:blip r:embed="rId2"/>
          <a:stretch>
            <a:fillRect/>
          </a:stretch>
        </p:blipFill>
        <p:spPr>
          <a:xfrm>
            <a:off x="914034" y="4242450"/>
            <a:ext cx="201900" cy="201900"/>
          </a:xfrm>
          <a:prstGeom prst="rect">
            <a:avLst/>
          </a:prstGeom>
        </p:spPr>
      </p:pic>
      <p:sp>
        <p:nvSpPr>
          <p:cNvPr id="25" name="Text 21"/>
          <p:cNvSpPr txBox="1"/>
          <p:nvPr/>
        </p:nvSpPr>
        <p:spPr>
          <a:xfrm>
            <a:off x="1389888" y="4224528"/>
            <a:ext cx="252161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AOT &amp; trimming clean</a:t>
            </a:r>
            <a:endParaRPr lang="en-US" sz="1400" dirty="0"/>
          </a:p>
        </p:txBody>
      </p:sp>
      <p:sp>
        <p:nvSpPr>
          <p:cNvPr id="26" name="Text 22"/>
          <p:cNvSpPr txBox="1"/>
          <p:nvPr/>
        </p:nvSpPr>
        <p:spPr>
          <a:xfrm>
            <a:off x="804672" y="4700016"/>
            <a:ext cx="3051962" cy="1033272"/>
          </a:xfrm>
          <a:prstGeom prst="rect">
            <a:avLst/>
          </a:prstGeom>
          <a:noFill/>
          <a:ln/>
        </p:spPr>
        <p:txBody>
          <a:bodyPr wrap="square" lIns="0" tIns="0" rIns="0" bIns="0" rtlCol="0" anchor="t"/>
          <a:lstStyle/>
          <a:p>
            <a:pPr indent="0" marL="0">
              <a:lnSpc>
                <a:spcPts val="1500"/>
              </a:lnSpc>
              <a:buNone/>
            </a:pPr>
            <a:r>
              <a:rPr lang="en-US" sz="1150" dirty="0">
                <a:solidFill>
                  <a:srgbClr val="AFA8CE"/>
                </a:solidFill>
                <a:latin typeface="Calibri" pitchFamily="34" charset="0"/>
                <a:ea typeface="Calibri" pitchFamily="34" charset="-122"/>
                <a:cs typeface="Calibri" pitchFamily="34" charset="-120"/>
              </a:rPr>
              <a:t>Source generators replace reflection, so a route or a contract that cannot bind fails your build rather than your deployment.</a:t>
            </a:r>
            <a:endParaRPr lang="en-US" sz="1150" dirty="0"/>
          </a:p>
        </p:txBody>
      </p:sp>
      <p:sp>
        <p:nvSpPr>
          <p:cNvPr id="27" name="Shape 23"/>
          <p:cNvSpPr/>
          <p:nvPr/>
        </p:nvSpPr>
        <p:spPr>
          <a:xfrm>
            <a:off x="4332122" y="3913632"/>
            <a:ext cx="3527450" cy="1965960"/>
          </a:xfrm>
          <a:prstGeom prst="roundRect">
            <a:avLst>
              <a:gd name="adj" fmla="val 3256"/>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8" name="Shape 24"/>
          <p:cNvSpPr/>
          <p:nvPr/>
        </p:nvSpPr>
        <p:spPr>
          <a:xfrm>
            <a:off x="4569866" y="4133088"/>
            <a:ext cx="420624" cy="420624"/>
          </a:xfrm>
          <a:prstGeom prst="roundRect">
            <a:avLst>
              <a:gd name="adj" fmla="val 60870"/>
            </a:avLst>
          </a:prstGeom>
          <a:solidFill>
            <a:srgbClr val="9B7BFF"/>
          </a:solidFill>
          <a:ln w="12700">
            <a:solidFill>
              <a:srgbClr val="9B7BFF"/>
            </a:solidFill>
            <a:prstDash val="solid"/>
          </a:ln>
        </p:spPr>
      </p:sp>
      <p:pic>
        <p:nvPicPr>
          <p:cNvPr id="29" name="Image 2" descr="preencoded.png">    </p:cNvPr>
          <p:cNvPicPr>
            <a:picLocks noChangeAspect="1"/>
          </p:cNvPicPr>
          <p:nvPr/>
        </p:nvPicPr>
        <p:blipFill>
          <a:blip r:embed="rId3"/>
          <a:stretch>
            <a:fillRect/>
          </a:stretch>
        </p:blipFill>
        <p:spPr>
          <a:xfrm>
            <a:off x="4679229" y="4242450"/>
            <a:ext cx="201900" cy="201900"/>
          </a:xfrm>
          <a:prstGeom prst="rect">
            <a:avLst/>
          </a:prstGeom>
        </p:spPr>
      </p:pic>
      <p:sp>
        <p:nvSpPr>
          <p:cNvPr id="30" name="Text 25"/>
          <p:cNvSpPr txBox="1"/>
          <p:nvPr/>
        </p:nvSpPr>
        <p:spPr>
          <a:xfrm>
            <a:off x="5155082" y="4224528"/>
            <a:ext cx="252161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Independent packages</a:t>
            </a:r>
            <a:endParaRPr lang="en-US" sz="1400" dirty="0"/>
          </a:p>
        </p:txBody>
      </p:sp>
      <p:sp>
        <p:nvSpPr>
          <p:cNvPr id="31" name="Text 26"/>
          <p:cNvSpPr txBox="1"/>
          <p:nvPr/>
        </p:nvSpPr>
        <p:spPr>
          <a:xfrm>
            <a:off x="4569866" y="4700016"/>
            <a:ext cx="3051962" cy="1033272"/>
          </a:xfrm>
          <a:prstGeom prst="rect">
            <a:avLst/>
          </a:prstGeom>
          <a:noFill/>
          <a:ln/>
        </p:spPr>
        <p:txBody>
          <a:bodyPr wrap="square" lIns="0" tIns="0" rIns="0" bIns="0" rtlCol="0" anchor="t"/>
          <a:lstStyle/>
          <a:p>
            <a:pPr indent="0" marL="0">
              <a:lnSpc>
                <a:spcPts val="1500"/>
              </a:lnSpc>
              <a:buNone/>
            </a:pPr>
            <a:r>
              <a:rPr lang="en-US" sz="1150" dirty="0">
                <a:solidFill>
                  <a:srgbClr val="AFA8CE"/>
                </a:solidFill>
                <a:latin typeface="Calibri" pitchFamily="34" charset="0"/>
                <a:ea typeface="Calibri" pitchFamily="34" charset="-122"/>
                <a:cs typeface="Calibri" pitchFamily="34" charset="-120"/>
              </a:rPr>
              <a:t>Reference only what you use. No god-package, no transitive surprises, no framework lock-in.</a:t>
            </a:r>
            <a:endParaRPr lang="en-US" sz="1150" dirty="0"/>
          </a:p>
        </p:txBody>
      </p:sp>
      <p:sp>
        <p:nvSpPr>
          <p:cNvPr id="32" name="Shape 27"/>
          <p:cNvSpPr/>
          <p:nvPr/>
        </p:nvSpPr>
        <p:spPr>
          <a:xfrm>
            <a:off x="8097317" y="3913632"/>
            <a:ext cx="3527450" cy="1965960"/>
          </a:xfrm>
          <a:prstGeom prst="roundRect">
            <a:avLst>
              <a:gd name="adj" fmla="val 3256"/>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3" name="Shape 28"/>
          <p:cNvSpPr/>
          <p:nvPr/>
        </p:nvSpPr>
        <p:spPr>
          <a:xfrm>
            <a:off x="8335061" y="4133088"/>
            <a:ext cx="420624" cy="420624"/>
          </a:xfrm>
          <a:prstGeom prst="roundRect">
            <a:avLst>
              <a:gd name="adj" fmla="val 60870"/>
            </a:avLst>
          </a:prstGeom>
          <a:solidFill>
            <a:srgbClr val="2BE5A0"/>
          </a:solidFill>
          <a:ln w="12700">
            <a:solidFill>
              <a:srgbClr val="2BE5A0"/>
            </a:solidFill>
            <a:prstDash val="solid"/>
          </a:ln>
        </p:spPr>
      </p:sp>
      <p:pic>
        <p:nvPicPr>
          <p:cNvPr id="34" name="Image 3" descr="preencoded.png">    </p:cNvPr>
          <p:cNvPicPr>
            <a:picLocks noChangeAspect="1"/>
          </p:cNvPicPr>
          <p:nvPr/>
        </p:nvPicPr>
        <p:blipFill>
          <a:blip r:embed="rId4"/>
          <a:stretch>
            <a:fillRect/>
          </a:stretch>
        </p:blipFill>
        <p:spPr>
          <a:xfrm>
            <a:off x="8444423" y="4242450"/>
            <a:ext cx="201900" cy="201900"/>
          </a:xfrm>
          <a:prstGeom prst="rect">
            <a:avLst/>
          </a:prstGeom>
        </p:spPr>
      </p:pic>
      <p:sp>
        <p:nvSpPr>
          <p:cNvPr id="35" name="Text 29"/>
          <p:cNvSpPr txBox="1"/>
          <p:nvPr/>
        </p:nvSpPr>
        <p:spPr>
          <a:xfrm>
            <a:off x="8920277" y="4224528"/>
            <a:ext cx="252161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Open source</a:t>
            </a:r>
            <a:endParaRPr lang="en-US" sz="1400" dirty="0"/>
          </a:p>
        </p:txBody>
      </p:sp>
      <p:sp>
        <p:nvSpPr>
          <p:cNvPr id="36" name="Text 30"/>
          <p:cNvSpPr txBox="1"/>
          <p:nvPr/>
        </p:nvSpPr>
        <p:spPr>
          <a:xfrm>
            <a:off x="8335061" y="4700016"/>
            <a:ext cx="3051962" cy="1033272"/>
          </a:xfrm>
          <a:prstGeom prst="rect">
            <a:avLst/>
          </a:prstGeom>
          <a:noFill/>
          <a:ln/>
        </p:spPr>
        <p:txBody>
          <a:bodyPr wrap="square" lIns="0" tIns="0" rIns="0" bIns="0" rtlCol="0" anchor="t"/>
          <a:lstStyle/>
          <a:p>
            <a:pPr indent="0" marL="0">
              <a:lnSpc>
                <a:spcPts val="1500"/>
              </a:lnSpc>
              <a:buNone/>
            </a:pPr>
            <a:r>
              <a:rPr lang="en-US" sz="1150" dirty="0">
                <a:solidFill>
                  <a:srgbClr val="AFA8CE"/>
                </a:solidFill>
                <a:latin typeface="Calibri" pitchFamily="34" charset="0"/>
                <a:ea typeface="Calibri" pitchFamily="34" charset="-122"/>
                <a:cs typeface="Calibri" pitchFamily="34" charset="-120"/>
              </a:rPr>
              <a:t>MIT-licensed on GitHub, maintained by the same people who ship production apps on it every day.</a:t>
            </a:r>
            <a:endParaRPr lang="en-US" sz="1150" dirty="0"/>
          </a:p>
        </p:txBody>
      </p:sp>
      <p:sp>
        <p:nvSpPr>
          <p:cNvPr id="37" name="Text 31"/>
          <p:cNvSpPr txBox="1"/>
          <p:nvPr/>
        </p:nvSpPr>
        <p:spPr>
          <a:xfrm>
            <a:off x="566928" y="6108192"/>
            <a:ext cx="11057839" cy="292608"/>
          </a:xfrm>
          <a:prstGeom prst="rect">
            <a:avLst/>
          </a:prstGeom>
          <a:noFill/>
          <a:ln/>
        </p:spPr>
        <p:txBody>
          <a:bodyPr wrap="square" lIns="0" tIns="0" rIns="0" bIns="0" rtlCol="0" anchor="ctr"/>
          <a:lstStyle/>
          <a:p>
            <a:pPr indent="0" marL="0">
              <a:buNone/>
            </a:pPr>
            <a:r>
              <a:rPr lang="en-US" sz="1100" i="1" dirty="0">
                <a:solidFill>
                  <a:srgbClr val="8079A8"/>
                </a:solidFill>
                <a:latin typeface="Calibri" pitchFamily="34" charset="0"/>
                <a:ea typeface="Calibri" pitchFamily="34" charset="-122"/>
                <a:cs typeface="Calibri" pitchFamily="34" charset="-120"/>
              </a:rPr>
              <a:t>Not every library supports every target — but where a platform has the capability, Shiny exposes it through the same interface.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A15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pic>
        <p:nvPicPr>
          <p:cNvPr id="3" name="Image 1" descr="preencoded.png">    </p:cNvPr>
          <p:cNvPicPr>
            <a:picLocks noChangeAspect="1"/>
          </p:cNvPicPr>
          <p:nvPr/>
        </p:nvPicPr>
        <p:blipFill>
          <a:blip r:embed="rId2"/>
          <a:stretch>
            <a:fillRect/>
          </a:stretch>
        </p:blipFill>
        <p:spPr>
          <a:xfrm>
            <a:off x="566928" y="1737360"/>
            <a:ext cx="841248" cy="841248"/>
          </a:xfrm>
          <a:prstGeom prst="rect">
            <a:avLst/>
          </a:prstGeom>
        </p:spPr>
      </p:pic>
      <p:pic>
        <p:nvPicPr>
          <p:cNvPr id="4" name="Image 2" descr="preencoded.png">    </p:cNvPr>
          <p:cNvPicPr>
            <a:picLocks noChangeAspect="1"/>
          </p:cNvPicPr>
          <p:nvPr/>
        </p:nvPicPr>
        <p:blipFill>
          <a:blip r:embed="rId3"/>
          <a:stretch>
            <a:fillRect/>
          </a:stretch>
        </p:blipFill>
        <p:spPr>
          <a:xfrm>
            <a:off x="786384" y="1956816"/>
            <a:ext cx="402336" cy="402336"/>
          </a:xfrm>
          <a:prstGeom prst="rect">
            <a:avLst/>
          </a:prstGeom>
        </p:spPr>
      </p:pic>
      <p:sp>
        <p:nvSpPr>
          <p:cNvPr id="5" name="Text 0"/>
          <p:cNvSpPr txBox="1"/>
          <p:nvPr/>
        </p:nvSpPr>
        <p:spPr>
          <a:xfrm>
            <a:off x="566928" y="2852928"/>
            <a:ext cx="4572000" cy="237744"/>
          </a:xfrm>
          <a:prstGeom prst="rect">
            <a:avLst/>
          </a:prstGeom>
          <a:noFill/>
          <a:ln/>
        </p:spPr>
        <p:txBody>
          <a:bodyPr wrap="square" lIns="0" tIns="0" rIns="0" bIns="0" rtlCol="0" anchor="ctr"/>
          <a:lstStyle/>
          <a:p>
            <a:pPr indent="0" marL="0">
              <a:buNone/>
            </a:pPr>
            <a:r>
              <a:rPr lang="en-US" sz="1100" b="1" spc="260" kern="0" dirty="0">
                <a:solidFill>
                  <a:srgbClr val="CFFA12"/>
                </a:solidFill>
                <a:latin typeface="Calibri" pitchFamily="34" charset="0"/>
                <a:ea typeface="Calibri" pitchFamily="34" charset="-122"/>
                <a:cs typeface="Calibri" pitchFamily="34" charset="-120"/>
              </a:rPr>
              <a:t>SECTION 01</a:t>
            </a:r>
            <a:endParaRPr lang="en-US" sz="1100" dirty="0"/>
          </a:p>
        </p:txBody>
      </p:sp>
      <p:sp>
        <p:nvSpPr>
          <p:cNvPr id="6" name="Text 1"/>
          <p:cNvSpPr txBox="1"/>
          <p:nvPr/>
        </p:nvSpPr>
        <p:spPr>
          <a:xfrm>
            <a:off x="566928" y="3127248"/>
            <a:ext cx="603504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Foundation</a:t>
            </a:r>
            <a:endParaRPr lang="en-US" sz="4000" dirty="0"/>
          </a:p>
        </p:txBody>
      </p:sp>
      <p:pic>
        <p:nvPicPr>
          <p:cNvPr id="7" name="Image 3" descr="preencoded.png">    </p:cNvPr>
          <p:cNvPicPr>
            <a:picLocks noChangeAspect="1"/>
          </p:cNvPicPr>
          <p:nvPr/>
        </p:nvPicPr>
        <p:blipFill>
          <a:blip r:embed="rId4"/>
          <a:stretch>
            <a:fillRect/>
          </a:stretch>
        </p:blipFill>
        <p:spPr>
          <a:xfrm>
            <a:off x="566928" y="3986784"/>
            <a:ext cx="2194560" cy="45720"/>
          </a:xfrm>
          <a:prstGeom prst="rect">
            <a:avLst/>
          </a:prstGeom>
        </p:spPr>
      </p:pic>
      <p:sp>
        <p:nvSpPr>
          <p:cNvPr id="8" name="Text 2"/>
          <p:cNvSpPr txBox="1"/>
          <p:nvPr/>
        </p:nvSpPr>
        <p:spPr>
          <a:xfrm>
            <a:off x="566928" y="4169664"/>
            <a:ext cx="5669280" cy="822960"/>
          </a:xfrm>
          <a:prstGeom prst="rect">
            <a:avLst/>
          </a:prstGeom>
          <a:noFill/>
          <a:ln/>
        </p:spPr>
        <p:txBody>
          <a:bodyPr wrap="square" lIns="0" tIns="0" rIns="0" bIns="0" rtlCol="0" anchor="ctr"/>
          <a:lstStyle/>
          <a:p>
            <a:pPr indent="0" marL="0">
              <a:lnSpc>
                <a:spcPts val="2000"/>
              </a:lnSpc>
              <a:buNone/>
            </a:pPr>
            <a:r>
              <a:rPr lang="en-US" sz="1400" dirty="0">
                <a:solidFill>
                  <a:srgbClr val="D6CCFF"/>
                </a:solidFill>
                <a:latin typeface="Calibri" pitchFamily="34" charset="0"/>
                <a:ea typeface="Calibri" pitchFamily="34" charset="-122"/>
                <a:cs typeface="Calibri" pitchFamily="34" charset="-120"/>
              </a:rPr>
              <a:t>The concepts, tooling and cross-cutting libraries every Shiny app is built on — whatever it targets.</a:t>
            </a:r>
            <a:endParaRPr lang="en-US" sz="1400" dirty="0"/>
          </a:p>
        </p:txBody>
      </p:sp>
      <p:sp>
        <p:nvSpPr>
          <p:cNvPr id="9" name="Shape 3"/>
          <p:cNvSpPr/>
          <p:nvPr/>
        </p:nvSpPr>
        <p:spPr>
          <a:xfrm>
            <a:off x="6903720" y="1737360"/>
            <a:ext cx="4721047" cy="475488"/>
          </a:xfrm>
          <a:prstGeom prst="roundRect">
            <a:avLst>
              <a:gd name="adj" fmla="val 26923"/>
            </a:avLst>
          </a:prstGeom>
          <a:solidFill>
            <a:srgbClr val="3C22A6"/>
          </a:solidFill>
          <a:ln w="12700">
            <a:solidFill>
              <a:srgbClr val="5335C9"/>
            </a:solidFill>
            <a:prstDash val="solid"/>
          </a:ln>
        </p:spPr>
      </p:sp>
      <p:sp>
        <p:nvSpPr>
          <p:cNvPr id="10" name="Text 4"/>
          <p:cNvSpPr txBox="1"/>
          <p:nvPr/>
        </p:nvSpPr>
        <p:spPr>
          <a:xfrm>
            <a:off x="7214616" y="1737360"/>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App Builder &amp; templates</a:t>
            </a:r>
            <a:endParaRPr lang="en-US" sz="1250" dirty="0"/>
          </a:p>
        </p:txBody>
      </p:sp>
      <p:sp>
        <p:nvSpPr>
          <p:cNvPr id="11" name="Shape 5"/>
          <p:cNvSpPr/>
          <p:nvPr/>
        </p:nvSpPr>
        <p:spPr>
          <a:xfrm>
            <a:off x="6903720" y="2340864"/>
            <a:ext cx="4721047" cy="475488"/>
          </a:xfrm>
          <a:prstGeom prst="roundRect">
            <a:avLst>
              <a:gd name="adj" fmla="val 26923"/>
            </a:avLst>
          </a:prstGeom>
          <a:solidFill>
            <a:srgbClr val="3C22A6"/>
          </a:solidFill>
          <a:ln w="12700">
            <a:solidFill>
              <a:srgbClr val="5335C9"/>
            </a:solidFill>
            <a:prstDash val="solid"/>
          </a:ln>
        </p:spPr>
      </p:sp>
      <p:sp>
        <p:nvSpPr>
          <p:cNvPr id="12" name="Text 6"/>
          <p:cNvSpPr txBox="1"/>
          <p:nvPr/>
        </p:nvSpPr>
        <p:spPr>
          <a:xfrm>
            <a:off x="7214616" y="2340864"/>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Architecture: services, delegates, observables</a:t>
            </a:r>
            <a:endParaRPr lang="en-US" sz="1250" dirty="0"/>
          </a:p>
        </p:txBody>
      </p:sp>
      <p:sp>
        <p:nvSpPr>
          <p:cNvPr id="13" name="Shape 7"/>
          <p:cNvSpPr/>
          <p:nvPr/>
        </p:nvSpPr>
        <p:spPr>
          <a:xfrm>
            <a:off x="6903720" y="2944368"/>
            <a:ext cx="4721047" cy="475488"/>
          </a:xfrm>
          <a:prstGeom prst="roundRect">
            <a:avLst>
              <a:gd name="adj" fmla="val 26923"/>
            </a:avLst>
          </a:prstGeom>
          <a:solidFill>
            <a:srgbClr val="3C22A6"/>
          </a:solidFill>
          <a:ln w="12700">
            <a:solidFill>
              <a:srgbClr val="5335C9"/>
            </a:solidFill>
            <a:prstDash val="solid"/>
          </a:ln>
        </p:spPr>
      </p:sp>
      <p:sp>
        <p:nvSpPr>
          <p:cNvPr id="14" name="Text 8"/>
          <p:cNvSpPr txBox="1"/>
          <p:nvPr/>
        </p:nvSpPr>
        <p:spPr>
          <a:xfrm>
            <a:off x="7214616" y="2944368"/>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Hosting models — MAUI, native, manual</a:t>
            </a:r>
            <a:endParaRPr lang="en-US" sz="1250" dirty="0"/>
          </a:p>
        </p:txBody>
      </p:sp>
      <p:sp>
        <p:nvSpPr>
          <p:cNvPr id="15" name="Shape 9"/>
          <p:cNvSpPr/>
          <p:nvPr/>
        </p:nvSpPr>
        <p:spPr>
          <a:xfrm>
            <a:off x="6903720" y="3547872"/>
            <a:ext cx="4721047" cy="475488"/>
          </a:xfrm>
          <a:prstGeom prst="roundRect">
            <a:avLst>
              <a:gd name="adj" fmla="val 26923"/>
            </a:avLst>
          </a:prstGeom>
          <a:solidFill>
            <a:srgbClr val="3C22A6"/>
          </a:solidFill>
          <a:ln w="12700">
            <a:solidFill>
              <a:srgbClr val="5335C9"/>
            </a:solidFill>
            <a:prstDash val="solid"/>
          </a:ln>
        </p:spPr>
      </p:sp>
      <p:sp>
        <p:nvSpPr>
          <p:cNvPr id="16" name="Text 10"/>
          <p:cNvSpPr txBox="1"/>
          <p:nvPr/>
        </p:nvSpPr>
        <p:spPr>
          <a:xfrm>
            <a:off x="7214616" y="3547872"/>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Mediator</a:t>
            </a:r>
            <a:endParaRPr lang="en-US" sz="1250" dirty="0"/>
          </a:p>
        </p:txBody>
      </p:sp>
      <p:sp>
        <p:nvSpPr>
          <p:cNvPr id="17" name="Shape 11"/>
          <p:cNvSpPr/>
          <p:nvPr/>
        </p:nvSpPr>
        <p:spPr>
          <a:xfrm>
            <a:off x="6903720" y="4151376"/>
            <a:ext cx="4721047" cy="475488"/>
          </a:xfrm>
          <a:prstGeom prst="roundRect">
            <a:avLst>
              <a:gd name="adj" fmla="val 26923"/>
            </a:avLst>
          </a:prstGeom>
          <a:solidFill>
            <a:srgbClr val="3C22A6"/>
          </a:solidFill>
          <a:ln w="12700">
            <a:solidFill>
              <a:srgbClr val="5335C9"/>
            </a:solidFill>
            <a:prstDash val="solid"/>
          </a:ln>
        </p:spPr>
      </p:sp>
      <p:sp>
        <p:nvSpPr>
          <p:cNvPr id="18" name="Text 12"/>
          <p:cNvSpPr txBox="1"/>
          <p:nvPr/>
        </p:nvSpPr>
        <p:spPr>
          <a:xfrm>
            <a:off x="7214616" y="4151376"/>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Dependency Injection &amp; Reflector</a:t>
            </a:r>
            <a:endParaRPr lang="en-US" sz="1250" dirty="0"/>
          </a:p>
        </p:txBody>
      </p:sp>
      <p:sp>
        <p:nvSpPr>
          <p:cNvPr id="19" name="Shape 13"/>
          <p:cNvSpPr/>
          <p:nvPr/>
        </p:nvSpPr>
        <p:spPr>
          <a:xfrm>
            <a:off x="6903720" y="4754880"/>
            <a:ext cx="4721047" cy="475488"/>
          </a:xfrm>
          <a:prstGeom prst="roundRect">
            <a:avLst>
              <a:gd name="adj" fmla="val 26923"/>
            </a:avLst>
          </a:prstGeom>
          <a:solidFill>
            <a:srgbClr val="3C22A6"/>
          </a:solidFill>
          <a:ln w="12700">
            <a:solidFill>
              <a:srgbClr val="5335C9"/>
            </a:solidFill>
            <a:prstDash val="solid"/>
          </a:ln>
        </p:spPr>
      </p:sp>
      <p:sp>
        <p:nvSpPr>
          <p:cNvPr id="20" name="Text 14"/>
          <p:cNvSpPr txBox="1"/>
          <p:nvPr/>
        </p:nvSpPr>
        <p:spPr>
          <a:xfrm>
            <a:off x="7214616" y="4754880"/>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Serialization &amp; Localization generators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01 · FOUNDATION</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Start here</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Source generation instead of reflection, one hosting call instead of platform boilerplate.</a:t>
            </a:r>
            <a:endParaRPr lang="en-US" sz="1350" dirty="0"/>
          </a:p>
        </p:txBody>
      </p:sp>
      <p:sp>
        <p:nvSpPr>
          <p:cNvPr id="6" name="Shape 3"/>
          <p:cNvSpPr/>
          <p:nvPr/>
        </p:nvSpPr>
        <p:spPr>
          <a:xfrm>
            <a:off x="566928" y="2029968"/>
            <a:ext cx="2599868" cy="1691640"/>
          </a:xfrm>
          <a:prstGeom prst="roundRect">
            <a:avLst>
              <a:gd name="adj" fmla="val 3784"/>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04672" y="2249424"/>
            <a:ext cx="365760" cy="365760"/>
          </a:xfrm>
          <a:prstGeom prst="roundRect">
            <a:avLst>
              <a:gd name="adj" fmla="val 70000"/>
            </a:avLst>
          </a:prstGeom>
          <a:solidFill>
            <a:srgbClr val="CFFA12"/>
          </a:solidFill>
          <a:ln w="12700">
            <a:solidFill>
              <a:srgbClr val="CFFA12"/>
            </a:solidFill>
            <a:prstDash val="solid"/>
          </a:ln>
        </p:spPr>
      </p:sp>
      <p:pic>
        <p:nvPicPr>
          <p:cNvPr id="8" name="Image 1" descr="preencoded.png">    </p:cNvPr>
          <p:cNvPicPr>
            <a:picLocks noChangeAspect="1"/>
          </p:cNvPicPr>
          <p:nvPr/>
        </p:nvPicPr>
        <p:blipFill>
          <a:blip r:embed="rId2"/>
          <a:stretch>
            <a:fillRect/>
          </a:stretch>
        </p:blipFill>
        <p:spPr>
          <a:xfrm>
            <a:off x="899770" y="2344522"/>
            <a:ext cx="175565" cy="175565"/>
          </a:xfrm>
          <a:prstGeom prst="rect">
            <a:avLst/>
          </a:prstGeom>
        </p:spPr>
      </p:pic>
      <p:sp>
        <p:nvSpPr>
          <p:cNvPr id="9" name="Text 5"/>
          <p:cNvSpPr txBox="1"/>
          <p:nvPr/>
        </p:nvSpPr>
        <p:spPr>
          <a:xfrm>
            <a:off x="1335024" y="2313432"/>
            <a:ext cx="164889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App Builder</a:t>
            </a:r>
            <a:endParaRPr lang="en-US" sz="1250" dirty="0"/>
          </a:p>
        </p:txBody>
      </p:sp>
      <p:sp>
        <p:nvSpPr>
          <p:cNvPr id="10" name="Text 6"/>
          <p:cNvSpPr txBox="1"/>
          <p:nvPr/>
        </p:nvSpPr>
        <p:spPr>
          <a:xfrm>
            <a:off x="804672" y="2761488"/>
            <a:ext cx="2124380" cy="813816"/>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An interactive wizard that generates the boilerplate, packages and configuration for your project.</a:t>
            </a:r>
            <a:endParaRPr lang="en-US" sz="1000" dirty="0"/>
          </a:p>
        </p:txBody>
      </p:sp>
      <p:sp>
        <p:nvSpPr>
          <p:cNvPr id="11" name="Shape 7"/>
          <p:cNvSpPr/>
          <p:nvPr/>
        </p:nvSpPr>
        <p:spPr>
          <a:xfrm>
            <a:off x="3386252" y="2029968"/>
            <a:ext cx="2599868" cy="1691640"/>
          </a:xfrm>
          <a:prstGeom prst="roundRect">
            <a:avLst>
              <a:gd name="adj" fmla="val 3784"/>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2" name="Shape 8"/>
          <p:cNvSpPr/>
          <p:nvPr/>
        </p:nvSpPr>
        <p:spPr>
          <a:xfrm>
            <a:off x="3623996" y="2249424"/>
            <a:ext cx="365760" cy="365760"/>
          </a:xfrm>
          <a:prstGeom prst="roundRect">
            <a:avLst>
              <a:gd name="adj" fmla="val 70000"/>
            </a:avLst>
          </a:prstGeom>
          <a:solidFill>
            <a:srgbClr val="9B7BFF"/>
          </a:solidFill>
          <a:ln w="12700">
            <a:solidFill>
              <a:srgbClr val="9B7BFF"/>
            </a:solidFill>
            <a:prstDash val="solid"/>
          </a:ln>
        </p:spPr>
      </p:sp>
      <p:pic>
        <p:nvPicPr>
          <p:cNvPr id="13" name="Image 2" descr="preencoded.png">    </p:cNvPr>
          <p:cNvPicPr>
            <a:picLocks noChangeAspect="1"/>
          </p:cNvPicPr>
          <p:nvPr/>
        </p:nvPicPr>
        <p:blipFill>
          <a:blip r:embed="rId3"/>
          <a:stretch>
            <a:fillRect/>
          </a:stretch>
        </p:blipFill>
        <p:spPr>
          <a:xfrm>
            <a:off x="3719093" y="2344522"/>
            <a:ext cx="175565" cy="175565"/>
          </a:xfrm>
          <a:prstGeom prst="rect">
            <a:avLst/>
          </a:prstGeom>
        </p:spPr>
      </p:pic>
      <p:sp>
        <p:nvSpPr>
          <p:cNvPr id="14" name="Text 9"/>
          <p:cNvSpPr txBox="1"/>
          <p:nvPr/>
        </p:nvSpPr>
        <p:spPr>
          <a:xfrm>
            <a:off x="4154348" y="2313432"/>
            <a:ext cx="164889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Architecture</a:t>
            </a:r>
            <a:endParaRPr lang="en-US" sz="1250" dirty="0"/>
          </a:p>
        </p:txBody>
      </p:sp>
      <p:sp>
        <p:nvSpPr>
          <p:cNvPr id="15" name="Text 10"/>
          <p:cNvSpPr txBox="1"/>
          <p:nvPr/>
        </p:nvSpPr>
        <p:spPr>
          <a:xfrm>
            <a:off x="3623996" y="2761488"/>
            <a:ext cx="2124380" cy="813816"/>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Services, delegates and observables — the core concepts underpinning the whole ecosystem.</a:t>
            </a:r>
            <a:endParaRPr lang="en-US" sz="1000" dirty="0"/>
          </a:p>
        </p:txBody>
      </p:sp>
      <p:sp>
        <p:nvSpPr>
          <p:cNvPr id="16" name="Shape 11"/>
          <p:cNvSpPr/>
          <p:nvPr/>
        </p:nvSpPr>
        <p:spPr>
          <a:xfrm>
            <a:off x="6205576" y="2029968"/>
            <a:ext cx="2599868" cy="1691640"/>
          </a:xfrm>
          <a:prstGeom prst="roundRect">
            <a:avLst>
              <a:gd name="adj" fmla="val 3784"/>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6443320" y="2249424"/>
            <a:ext cx="365760" cy="365760"/>
          </a:xfrm>
          <a:prstGeom prst="roundRect">
            <a:avLst>
              <a:gd name="adj" fmla="val 70000"/>
            </a:avLst>
          </a:prstGeom>
          <a:solidFill>
            <a:srgbClr val="2BE5A0"/>
          </a:solidFill>
          <a:ln w="12700">
            <a:solidFill>
              <a:srgbClr val="2BE5A0"/>
            </a:solidFill>
            <a:prstDash val="solid"/>
          </a:ln>
        </p:spPr>
      </p:sp>
      <p:pic>
        <p:nvPicPr>
          <p:cNvPr id="18" name="Image 3" descr="preencoded.png">    </p:cNvPr>
          <p:cNvPicPr>
            <a:picLocks noChangeAspect="1"/>
          </p:cNvPicPr>
          <p:nvPr/>
        </p:nvPicPr>
        <p:blipFill>
          <a:blip r:embed="rId4"/>
          <a:stretch>
            <a:fillRect/>
          </a:stretch>
        </p:blipFill>
        <p:spPr>
          <a:xfrm>
            <a:off x="6538417" y="2344522"/>
            <a:ext cx="175565" cy="175565"/>
          </a:xfrm>
          <a:prstGeom prst="rect">
            <a:avLst/>
          </a:prstGeom>
        </p:spPr>
      </p:pic>
      <p:sp>
        <p:nvSpPr>
          <p:cNvPr id="19" name="Text 13"/>
          <p:cNvSpPr txBox="1"/>
          <p:nvPr/>
        </p:nvSpPr>
        <p:spPr>
          <a:xfrm>
            <a:off x="6973672" y="2313432"/>
            <a:ext cx="164889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Hosting Models</a:t>
            </a:r>
            <a:endParaRPr lang="en-US" sz="1250" dirty="0"/>
          </a:p>
        </p:txBody>
      </p:sp>
      <p:sp>
        <p:nvSpPr>
          <p:cNvPr id="20" name="Text 14"/>
          <p:cNvSpPr txBox="1"/>
          <p:nvPr/>
        </p:nvSpPr>
        <p:spPr>
          <a:xfrm>
            <a:off x="6443320" y="2761488"/>
            <a:ext cx="2124380" cy="813816"/>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MAUI, native or manual hosting. One call wires lifecycle, DI and background services.</a:t>
            </a:r>
            <a:endParaRPr lang="en-US" sz="1000" dirty="0"/>
          </a:p>
        </p:txBody>
      </p:sp>
      <p:sp>
        <p:nvSpPr>
          <p:cNvPr id="21" name="Shape 15"/>
          <p:cNvSpPr/>
          <p:nvPr/>
        </p:nvSpPr>
        <p:spPr>
          <a:xfrm>
            <a:off x="9024899" y="2029968"/>
            <a:ext cx="2599868" cy="1691640"/>
          </a:xfrm>
          <a:prstGeom prst="roundRect">
            <a:avLst>
              <a:gd name="adj" fmla="val 3784"/>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Shape 16"/>
          <p:cNvSpPr/>
          <p:nvPr/>
        </p:nvSpPr>
        <p:spPr>
          <a:xfrm>
            <a:off x="9262643" y="2249424"/>
            <a:ext cx="365760" cy="365760"/>
          </a:xfrm>
          <a:prstGeom prst="roundRect">
            <a:avLst>
              <a:gd name="adj" fmla="val 70000"/>
            </a:avLst>
          </a:prstGeom>
          <a:solidFill>
            <a:srgbClr val="9B7BFF"/>
          </a:solidFill>
          <a:ln w="12700">
            <a:solidFill>
              <a:srgbClr val="9B7BFF"/>
            </a:solidFill>
            <a:prstDash val="solid"/>
          </a:ln>
        </p:spPr>
      </p:sp>
      <p:pic>
        <p:nvPicPr>
          <p:cNvPr id="23" name="Image 4" descr="preencoded.png">    </p:cNvPr>
          <p:cNvPicPr>
            <a:picLocks noChangeAspect="1"/>
          </p:cNvPicPr>
          <p:nvPr/>
        </p:nvPicPr>
        <p:blipFill>
          <a:blip r:embed="rId5"/>
          <a:stretch>
            <a:fillRect/>
          </a:stretch>
        </p:blipFill>
        <p:spPr>
          <a:xfrm>
            <a:off x="9357741" y="2344522"/>
            <a:ext cx="175565" cy="175565"/>
          </a:xfrm>
          <a:prstGeom prst="rect">
            <a:avLst/>
          </a:prstGeom>
        </p:spPr>
      </p:pic>
      <p:sp>
        <p:nvSpPr>
          <p:cNvPr id="24" name="Text 17"/>
          <p:cNvSpPr txBox="1"/>
          <p:nvPr/>
        </p:nvSpPr>
        <p:spPr>
          <a:xfrm>
            <a:off x="9792995" y="2313432"/>
            <a:ext cx="164889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Mediator</a:t>
            </a:r>
            <a:endParaRPr lang="en-US" sz="1250" dirty="0"/>
          </a:p>
        </p:txBody>
      </p:sp>
      <p:sp>
        <p:nvSpPr>
          <p:cNvPr id="25" name="Text 18"/>
          <p:cNvSpPr txBox="1"/>
          <p:nvPr/>
        </p:nvSpPr>
        <p:spPr>
          <a:xfrm>
            <a:off x="9262643" y="2761488"/>
            <a:ext cx="2124380" cy="813816"/>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The mediator pattern for every .NET app — source-generated, AOT-ready, middleware-driven.</a:t>
            </a:r>
            <a:endParaRPr lang="en-US" sz="1000" dirty="0"/>
          </a:p>
        </p:txBody>
      </p:sp>
      <p:sp>
        <p:nvSpPr>
          <p:cNvPr id="26" name="Shape 19"/>
          <p:cNvSpPr/>
          <p:nvPr/>
        </p:nvSpPr>
        <p:spPr>
          <a:xfrm>
            <a:off x="566928" y="3941064"/>
            <a:ext cx="2599868" cy="1691640"/>
          </a:xfrm>
          <a:prstGeom prst="roundRect">
            <a:avLst>
              <a:gd name="adj" fmla="val 3784"/>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7" name="Shape 20"/>
          <p:cNvSpPr/>
          <p:nvPr/>
        </p:nvSpPr>
        <p:spPr>
          <a:xfrm>
            <a:off x="804672" y="4160520"/>
            <a:ext cx="365760" cy="365760"/>
          </a:xfrm>
          <a:prstGeom prst="roundRect">
            <a:avLst>
              <a:gd name="adj" fmla="val 70000"/>
            </a:avLst>
          </a:prstGeom>
          <a:solidFill>
            <a:srgbClr val="2BE5A0"/>
          </a:solidFill>
          <a:ln w="12700">
            <a:solidFill>
              <a:srgbClr val="2BE5A0"/>
            </a:solidFill>
            <a:prstDash val="solid"/>
          </a:ln>
        </p:spPr>
      </p:sp>
      <p:pic>
        <p:nvPicPr>
          <p:cNvPr id="28" name="Image 5" descr="preencoded.png">    </p:cNvPr>
          <p:cNvPicPr>
            <a:picLocks noChangeAspect="1"/>
          </p:cNvPicPr>
          <p:nvPr/>
        </p:nvPicPr>
        <p:blipFill>
          <a:blip r:embed="rId6"/>
          <a:stretch>
            <a:fillRect/>
          </a:stretch>
        </p:blipFill>
        <p:spPr>
          <a:xfrm>
            <a:off x="899770" y="4255618"/>
            <a:ext cx="175565" cy="175565"/>
          </a:xfrm>
          <a:prstGeom prst="rect">
            <a:avLst/>
          </a:prstGeom>
        </p:spPr>
      </p:pic>
      <p:sp>
        <p:nvSpPr>
          <p:cNvPr id="29" name="Text 21"/>
          <p:cNvSpPr txBox="1"/>
          <p:nvPr/>
        </p:nvSpPr>
        <p:spPr>
          <a:xfrm>
            <a:off x="1335024" y="4224528"/>
            <a:ext cx="164889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Dependency Injection</a:t>
            </a:r>
            <a:endParaRPr lang="en-US" sz="1250" dirty="0"/>
          </a:p>
        </p:txBody>
      </p:sp>
      <p:sp>
        <p:nvSpPr>
          <p:cNvPr id="30" name="Text 22"/>
          <p:cNvSpPr txBox="1"/>
          <p:nvPr/>
        </p:nvSpPr>
        <p:spPr>
          <a:xfrm>
            <a:off x="804672" y="4672584"/>
            <a:ext cx="2124380" cy="813816"/>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Attribute-driven registration with source generation. Tag your classes, generate your registrations.</a:t>
            </a:r>
            <a:endParaRPr lang="en-US" sz="1000" dirty="0"/>
          </a:p>
        </p:txBody>
      </p:sp>
      <p:sp>
        <p:nvSpPr>
          <p:cNvPr id="31" name="Shape 23"/>
          <p:cNvSpPr/>
          <p:nvPr/>
        </p:nvSpPr>
        <p:spPr>
          <a:xfrm>
            <a:off x="3386252" y="3941064"/>
            <a:ext cx="2599868" cy="1691640"/>
          </a:xfrm>
          <a:prstGeom prst="roundRect">
            <a:avLst>
              <a:gd name="adj" fmla="val 3784"/>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2" name="Shape 24"/>
          <p:cNvSpPr/>
          <p:nvPr/>
        </p:nvSpPr>
        <p:spPr>
          <a:xfrm>
            <a:off x="3623996" y="4160520"/>
            <a:ext cx="365760" cy="365760"/>
          </a:xfrm>
          <a:prstGeom prst="roundRect">
            <a:avLst>
              <a:gd name="adj" fmla="val 70000"/>
            </a:avLst>
          </a:prstGeom>
          <a:solidFill>
            <a:srgbClr val="9B7BFF"/>
          </a:solidFill>
          <a:ln w="12700">
            <a:solidFill>
              <a:srgbClr val="9B7BFF"/>
            </a:solidFill>
            <a:prstDash val="solid"/>
          </a:ln>
        </p:spPr>
      </p:sp>
      <p:pic>
        <p:nvPicPr>
          <p:cNvPr id="33" name="Image 6" descr="preencoded.png">    </p:cNvPr>
          <p:cNvPicPr>
            <a:picLocks noChangeAspect="1"/>
          </p:cNvPicPr>
          <p:nvPr/>
        </p:nvPicPr>
        <p:blipFill>
          <a:blip r:embed="rId7"/>
          <a:stretch>
            <a:fillRect/>
          </a:stretch>
        </p:blipFill>
        <p:spPr>
          <a:xfrm>
            <a:off x="3719093" y="4255618"/>
            <a:ext cx="175565" cy="175565"/>
          </a:xfrm>
          <a:prstGeom prst="rect">
            <a:avLst/>
          </a:prstGeom>
        </p:spPr>
      </p:pic>
      <p:sp>
        <p:nvSpPr>
          <p:cNvPr id="34" name="Text 25"/>
          <p:cNvSpPr txBox="1"/>
          <p:nvPr/>
        </p:nvSpPr>
        <p:spPr>
          <a:xfrm>
            <a:off x="4154348" y="4224528"/>
            <a:ext cx="164889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Reflector</a:t>
            </a:r>
            <a:endParaRPr lang="en-US" sz="1250" dirty="0"/>
          </a:p>
        </p:txBody>
      </p:sp>
      <p:sp>
        <p:nvSpPr>
          <p:cNvPr id="35" name="Text 26"/>
          <p:cNvSpPr txBox="1"/>
          <p:nvPr/>
        </p:nvSpPr>
        <p:spPr>
          <a:xfrm>
            <a:off x="3623996" y="4672584"/>
            <a:ext cx="2124380" cy="813816"/>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Source-generated property access that eliminates reflection for AOT-safe, high-performance code.</a:t>
            </a:r>
            <a:endParaRPr lang="en-US" sz="1000" dirty="0"/>
          </a:p>
        </p:txBody>
      </p:sp>
      <p:sp>
        <p:nvSpPr>
          <p:cNvPr id="36" name="Shape 27"/>
          <p:cNvSpPr/>
          <p:nvPr/>
        </p:nvSpPr>
        <p:spPr>
          <a:xfrm>
            <a:off x="6205576" y="3941064"/>
            <a:ext cx="2599868" cy="1691640"/>
          </a:xfrm>
          <a:prstGeom prst="roundRect">
            <a:avLst>
              <a:gd name="adj" fmla="val 3784"/>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7" name="Shape 28"/>
          <p:cNvSpPr/>
          <p:nvPr/>
        </p:nvSpPr>
        <p:spPr>
          <a:xfrm>
            <a:off x="6443320" y="4160520"/>
            <a:ext cx="365760" cy="365760"/>
          </a:xfrm>
          <a:prstGeom prst="roundRect">
            <a:avLst>
              <a:gd name="adj" fmla="val 70000"/>
            </a:avLst>
          </a:prstGeom>
          <a:solidFill>
            <a:srgbClr val="9B7BFF"/>
          </a:solidFill>
          <a:ln w="12700">
            <a:solidFill>
              <a:srgbClr val="9B7BFF"/>
            </a:solidFill>
            <a:prstDash val="solid"/>
          </a:ln>
        </p:spPr>
      </p:sp>
      <p:pic>
        <p:nvPicPr>
          <p:cNvPr id="38" name="Image 7" descr="preencoded.png">    </p:cNvPr>
          <p:cNvPicPr>
            <a:picLocks noChangeAspect="1"/>
          </p:cNvPicPr>
          <p:nvPr/>
        </p:nvPicPr>
        <p:blipFill>
          <a:blip r:embed="rId8"/>
          <a:stretch>
            <a:fillRect/>
          </a:stretch>
        </p:blipFill>
        <p:spPr>
          <a:xfrm>
            <a:off x="6538417" y="4255618"/>
            <a:ext cx="175565" cy="175565"/>
          </a:xfrm>
          <a:prstGeom prst="rect">
            <a:avLst/>
          </a:prstGeom>
        </p:spPr>
      </p:pic>
      <p:sp>
        <p:nvSpPr>
          <p:cNvPr id="39" name="Text 29"/>
          <p:cNvSpPr txBox="1"/>
          <p:nvPr/>
        </p:nvSpPr>
        <p:spPr>
          <a:xfrm>
            <a:off x="6973672" y="4224528"/>
            <a:ext cx="164889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Serialization</a:t>
            </a:r>
            <a:endParaRPr lang="en-US" sz="1250" dirty="0"/>
          </a:p>
        </p:txBody>
      </p:sp>
      <p:sp>
        <p:nvSpPr>
          <p:cNvPr id="40" name="Text 30"/>
          <p:cNvSpPr txBox="1"/>
          <p:nvPr/>
        </p:nvSpPr>
        <p:spPr>
          <a:xfrm>
            <a:off x="6443320" y="4672584"/>
            <a:ext cx="2124380" cy="813816"/>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Every JsonSerializerContext behind one AOT-safe ISerializer. Mark it, and it auto-registers.</a:t>
            </a:r>
            <a:endParaRPr lang="en-US" sz="1000" dirty="0"/>
          </a:p>
        </p:txBody>
      </p:sp>
      <p:sp>
        <p:nvSpPr>
          <p:cNvPr id="41" name="Shape 31"/>
          <p:cNvSpPr/>
          <p:nvPr/>
        </p:nvSpPr>
        <p:spPr>
          <a:xfrm>
            <a:off x="9024899" y="3941064"/>
            <a:ext cx="2599868" cy="1691640"/>
          </a:xfrm>
          <a:prstGeom prst="roundRect">
            <a:avLst>
              <a:gd name="adj" fmla="val 3784"/>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42" name="Shape 32"/>
          <p:cNvSpPr/>
          <p:nvPr/>
        </p:nvSpPr>
        <p:spPr>
          <a:xfrm>
            <a:off x="9262643" y="4160520"/>
            <a:ext cx="365760" cy="365760"/>
          </a:xfrm>
          <a:prstGeom prst="roundRect">
            <a:avLst>
              <a:gd name="adj" fmla="val 70000"/>
            </a:avLst>
          </a:prstGeom>
          <a:solidFill>
            <a:srgbClr val="2BE5A0"/>
          </a:solidFill>
          <a:ln w="12700">
            <a:solidFill>
              <a:srgbClr val="2BE5A0"/>
            </a:solidFill>
            <a:prstDash val="solid"/>
          </a:ln>
        </p:spPr>
      </p:sp>
      <p:pic>
        <p:nvPicPr>
          <p:cNvPr id="43" name="Image 8" descr="preencoded.png">    </p:cNvPr>
          <p:cNvPicPr>
            <a:picLocks noChangeAspect="1"/>
          </p:cNvPicPr>
          <p:nvPr/>
        </p:nvPicPr>
        <p:blipFill>
          <a:blip r:embed="rId9"/>
          <a:stretch>
            <a:fillRect/>
          </a:stretch>
        </p:blipFill>
        <p:spPr>
          <a:xfrm>
            <a:off x="9357741" y="4255618"/>
            <a:ext cx="175565" cy="175565"/>
          </a:xfrm>
          <a:prstGeom prst="rect">
            <a:avLst/>
          </a:prstGeom>
        </p:spPr>
      </p:pic>
      <p:sp>
        <p:nvSpPr>
          <p:cNvPr id="44" name="Text 33"/>
          <p:cNvSpPr txBox="1"/>
          <p:nvPr/>
        </p:nvSpPr>
        <p:spPr>
          <a:xfrm>
            <a:off x="9792995" y="4224528"/>
            <a:ext cx="164889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Localization Generator</a:t>
            </a:r>
            <a:endParaRPr lang="en-US" sz="1250" dirty="0"/>
          </a:p>
        </p:txBody>
      </p:sp>
      <p:sp>
        <p:nvSpPr>
          <p:cNvPr id="45" name="Text 34"/>
          <p:cNvSpPr txBox="1"/>
          <p:nvPr/>
        </p:nvSpPr>
        <p:spPr>
          <a:xfrm>
            <a:off x="9262643" y="4672584"/>
            <a:ext cx="2124380" cy="813816"/>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Strongly-typed classes generated from your .resx files. No more typo-prone string lookups.</a:t>
            </a:r>
            <a:endParaRPr lang="en-US" sz="1000" dirty="0"/>
          </a:p>
        </p:txBody>
      </p:sp>
      <p:sp>
        <p:nvSpPr>
          <p:cNvPr id="46" name="Shape 35"/>
          <p:cNvSpPr/>
          <p:nvPr/>
        </p:nvSpPr>
        <p:spPr>
          <a:xfrm>
            <a:off x="566928" y="5870448"/>
            <a:ext cx="11057839" cy="603504"/>
          </a:xfrm>
          <a:prstGeom prst="roundRect">
            <a:avLst>
              <a:gd name="adj" fmla="val 10606"/>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47" name="Text 36"/>
          <p:cNvSpPr txBox="1"/>
          <p:nvPr/>
        </p:nvSpPr>
        <p:spPr>
          <a:xfrm>
            <a:off x="932688" y="5870448"/>
            <a:ext cx="10326319" cy="60350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AI Skills  ·  every Shiny library ships an AI coding-assistant skill for Claude Code and GitHub Copilot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SPOTLIGHT</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Mediator</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A mediator built for all .NET apps — mobile, desktop and server. Add offline support, caching, validation or resiliency with a single attribute.</a:t>
            </a:r>
            <a:endParaRPr lang="en-US" sz="1350" dirty="0"/>
          </a:p>
        </p:txBody>
      </p:sp>
      <p:sp>
        <p:nvSpPr>
          <p:cNvPr id="6" name="Shape 3"/>
          <p:cNvSpPr/>
          <p:nvPr/>
        </p:nvSpPr>
        <p:spPr>
          <a:xfrm>
            <a:off x="566928" y="2395728"/>
            <a:ext cx="1572768" cy="566928"/>
          </a:xfrm>
          <a:prstGeom prst="roundRect">
            <a:avLst>
              <a:gd name="adj" fmla="val 24194"/>
            </a:avLst>
          </a:prstGeom>
          <a:solidFill>
            <a:srgbClr val="CFFA12"/>
          </a:solidFill>
          <a:ln w="12700">
            <a:solidFill>
              <a:srgbClr val="CFFA12"/>
            </a:solidFill>
            <a:prstDash val="solid"/>
          </a:ln>
        </p:spPr>
      </p:sp>
      <p:sp>
        <p:nvSpPr>
          <p:cNvPr id="7" name="Text 4"/>
          <p:cNvSpPr txBox="1"/>
          <p:nvPr/>
        </p:nvSpPr>
        <p:spPr>
          <a:xfrm>
            <a:off x="566928" y="2395728"/>
            <a:ext cx="1572768" cy="566928"/>
          </a:xfrm>
          <a:prstGeom prst="rect">
            <a:avLst/>
          </a:prstGeom>
          <a:noFill/>
          <a:ln/>
        </p:spPr>
        <p:txBody>
          <a:bodyPr wrap="square" lIns="0" tIns="0" rIns="0" bIns="0" rtlCol="0" anchor="ctr"/>
          <a:lstStyle/>
          <a:p>
            <a:pPr algn="ctr" indent="0" marL="0">
              <a:buNone/>
            </a:pPr>
            <a:r>
              <a:rPr lang="en-US" sz="1250" b="1" dirty="0">
                <a:solidFill>
                  <a:srgbClr val="0B0918"/>
                </a:solidFill>
                <a:latin typeface="Calibri" pitchFamily="34" charset="0"/>
                <a:ea typeface="Calibri" pitchFamily="34" charset="-122"/>
                <a:cs typeface="Calibri" pitchFamily="34" charset="-120"/>
              </a:rPr>
              <a:t>Request</a:t>
            </a:r>
            <a:endParaRPr lang="en-US" sz="1250" dirty="0"/>
          </a:p>
        </p:txBody>
      </p:sp>
      <p:sp>
        <p:nvSpPr>
          <p:cNvPr id="8" name="Shape 5"/>
          <p:cNvSpPr/>
          <p:nvPr/>
        </p:nvSpPr>
        <p:spPr>
          <a:xfrm>
            <a:off x="2231136" y="2679192"/>
            <a:ext cx="457200" cy="0"/>
          </a:xfrm>
          <a:prstGeom prst="line">
            <a:avLst/>
          </a:prstGeom>
          <a:noFill/>
          <a:ln w="22225">
            <a:solidFill>
              <a:srgbClr val="8079A8"/>
            </a:solidFill>
            <a:prstDash val="solid"/>
            <a:tailEnd type="triangle"/>
          </a:ln>
        </p:spPr>
      </p:sp>
      <p:sp>
        <p:nvSpPr>
          <p:cNvPr id="9" name="Shape 6"/>
          <p:cNvSpPr/>
          <p:nvPr/>
        </p:nvSpPr>
        <p:spPr>
          <a:xfrm>
            <a:off x="2779776" y="2395728"/>
            <a:ext cx="1572768" cy="566928"/>
          </a:xfrm>
          <a:prstGeom prst="roundRect">
            <a:avLst>
              <a:gd name="adj" fmla="val 24194"/>
            </a:avLst>
          </a:prstGeom>
          <a:solidFill>
            <a:srgbClr val="9B7BFF"/>
          </a:solidFill>
          <a:ln w="12700">
            <a:solidFill>
              <a:srgbClr val="9B7BFF"/>
            </a:solidFill>
            <a:prstDash val="solid"/>
          </a:ln>
        </p:spPr>
      </p:sp>
      <p:sp>
        <p:nvSpPr>
          <p:cNvPr id="10" name="Text 7"/>
          <p:cNvSpPr txBox="1"/>
          <p:nvPr/>
        </p:nvSpPr>
        <p:spPr>
          <a:xfrm>
            <a:off x="2779776" y="2395728"/>
            <a:ext cx="1572768" cy="566928"/>
          </a:xfrm>
          <a:prstGeom prst="rect">
            <a:avLst/>
          </a:prstGeom>
          <a:noFill/>
          <a:ln/>
        </p:spPr>
        <p:txBody>
          <a:bodyPr wrap="square" lIns="0" tIns="0" rIns="0" bIns="0" rtlCol="0" anchor="ctr"/>
          <a:lstStyle/>
          <a:p>
            <a:pPr algn="ctr" indent="0" marL="0">
              <a:buNone/>
            </a:pPr>
            <a:r>
              <a:rPr lang="en-US" sz="1250" b="1" dirty="0">
                <a:solidFill>
                  <a:srgbClr val="0B0918"/>
                </a:solidFill>
                <a:latin typeface="Calibri" pitchFamily="34" charset="0"/>
                <a:ea typeface="Calibri" pitchFamily="34" charset="-122"/>
                <a:cs typeface="Calibri" pitchFamily="34" charset="-120"/>
              </a:rPr>
              <a:t>Middleware</a:t>
            </a:r>
            <a:endParaRPr lang="en-US" sz="1250" dirty="0"/>
          </a:p>
        </p:txBody>
      </p:sp>
      <p:sp>
        <p:nvSpPr>
          <p:cNvPr id="11" name="Shape 8"/>
          <p:cNvSpPr/>
          <p:nvPr/>
        </p:nvSpPr>
        <p:spPr>
          <a:xfrm>
            <a:off x="4443984" y="2679192"/>
            <a:ext cx="457200" cy="0"/>
          </a:xfrm>
          <a:prstGeom prst="line">
            <a:avLst/>
          </a:prstGeom>
          <a:noFill/>
          <a:ln w="22225">
            <a:solidFill>
              <a:srgbClr val="8079A8"/>
            </a:solidFill>
            <a:prstDash val="solid"/>
            <a:tailEnd type="triangle"/>
          </a:ln>
        </p:spPr>
      </p:sp>
      <p:sp>
        <p:nvSpPr>
          <p:cNvPr id="12" name="Shape 9"/>
          <p:cNvSpPr/>
          <p:nvPr/>
        </p:nvSpPr>
        <p:spPr>
          <a:xfrm>
            <a:off x="4992624" y="2395728"/>
            <a:ext cx="1572768" cy="566928"/>
          </a:xfrm>
          <a:prstGeom prst="roundRect">
            <a:avLst>
              <a:gd name="adj" fmla="val 24194"/>
            </a:avLst>
          </a:prstGeom>
          <a:solidFill>
            <a:srgbClr val="2BE5A0"/>
          </a:solidFill>
          <a:ln w="12700">
            <a:solidFill>
              <a:srgbClr val="2BE5A0"/>
            </a:solidFill>
            <a:prstDash val="solid"/>
          </a:ln>
        </p:spPr>
      </p:sp>
      <p:sp>
        <p:nvSpPr>
          <p:cNvPr id="13" name="Text 10"/>
          <p:cNvSpPr txBox="1"/>
          <p:nvPr/>
        </p:nvSpPr>
        <p:spPr>
          <a:xfrm>
            <a:off x="4992624" y="2395728"/>
            <a:ext cx="1572768" cy="566928"/>
          </a:xfrm>
          <a:prstGeom prst="rect">
            <a:avLst/>
          </a:prstGeom>
          <a:noFill/>
          <a:ln/>
        </p:spPr>
        <p:txBody>
          <a:bodyPr wrap="square" lIns="0" tIns="0" rIns="0" bIns="0" rtlCol="0" anchor="ctr"/>
          <a:lstStyle/>
          <a:p>
            <a:pPr algn="ctr" indent="0" marL="0">
              <a:buNone/>
            </a:pPr>
            <a:r>
              <a:rPr lang="en-US" sz="1250" b="1" dirty="0">
                <a:solidFill>
                  <a:srgbClr val="0B0918"/>
                </a:solidFill>
                <a:latin typeface="Calibri" pitchFamily="34" charset="0"/>
                <a:ea typeface="Calibri" pitchFamily="34" charset="-122"/>
                <a:cs typeface="Calibri" pitchFamily="34" charset="-120"/>
              </a:rPr>
              <a:t>Handler</a:t>
            </a:r>
            <a:endParaRPr lang="en-US" sz="1250" dirty="0"/>
          </a:p>
        </p:txBody>
      </p:sp>
      <p:sp>
        <p:nvSpPr>
          <p:cNvPr id="14" name="Text 11"/>
          <p:cNvSpPr txBox="1"/>
          <p:nvPr/>
        </p:nvSpPr>
        <p:spPr>
          <a:xfrm>
            <a:off x="566928" y="3127248"/>
            <a:ext cx="5852160" cy="292608"/>
          </a:xfrm>
          <a:prstGeom prst="rect">
            <a:avLst/>
          </a:prstGeom>
          <a:noFill/>
          <a:ln/>
        </p:spPr>
        <p:txBody>
          <a:bodyPr wrap="square" lIns="0" tIns="0" rIns="0" bIns="0" rtlCol="0" anchor="ctr"/>
          <a:lstStyle/>
          <a:p>
            <a:pPr indent="0" marL="0">
              <a:buNone/>
            </a:pPr>
            <a:r>
              <a:rPr lang="en-US" sz="1150" i="1" dirty="0">
                <a:solidFill>
                  <a:srgbClr val="8079A8"/>
                </a:solidFill>
                <a:latin typeface="Calibri" pitchFamily="34" charset="0"/>
                <a:ea typeface="Calibri" pitchFamily="34" charset="-122"/>
                <a:cs typeface="Calibri" pitchFamily="34" charset="-120"/>
              </a:rPr>
              <a:t>Attributes on the contract — the handler never knows the middleware is there.</a:t>
            </a:r>
            <a:endParaRPr lang="en-US" sz="1150" dirty="0"/>
          </a:p>
        </p:txBody>
      </p:sp>
      <p:sp>
        <p:nvSpPr>
          <p:cNvPr id="15" name="Shape 12"/>
          <p:cNvSpPr/>
          <p:nvPr/>
        </p:nvSpPr>
        <p:spPr>
          <a:xfrm>
            <a:off x="566928" y="3611880"/>
            <a:ext cx="2834640" cy="310896"/>
          </a:xfrm>
          <a:prstGeom prst="roundRect">
            <a:avLst>
              <a:gd name="adj" fmla="val 47059"/>
            </a:avLst>
          </a:prstGeom>
          <a:solidFill>
            <a:srgbClr val="221A52"/>
          </a:solidFill>
          <a:ln w="12700">
            <a:solidFill>
              <a:srgbClr val="2E2665"/>
            </a:solidFill>
            <a:prstDash val="solid"/>
          </a:ln>
        </p:spPr>
      </p:sp>
      <p:sp>
        <p:nvSpPr>
          <p:cNvPr id="16" name="Text 13"/>
          <p:cNvSpPr txBox="1"/>
          <p:nvPr/>
        </p:nvSpPr>
        <p:spPr>
          <a:xfrm>
            <a:off x="566928" y="3611880"/>
            <a:ext cx="283464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Offline caching</a:t>
            </a:r>
            <a:endParaRPr lang="en-US" sz="1050" dirty="0"/>
          </a:p>
        </p:txBody>
      </p:sp>
      <p:sp>
        <p:nvSpPr>
          <p:cNvPr id="17" name="Shape 14"/>
          <p:cNvSpPr/>
          <p:nvPr/>
        </p:nvSpPr>
        <p:spPr>
          <a:xfrm>
            <a:off x="3584448" y="3611880"/>
            <a:ext cx="2834640" cy="310896"/>
          </a:xfrm>
          <a:prstGeom prst="roundRect">
            <a:avLst>
              <a:gd name="adj" fmla="val 47059"/>
            </a:avLst>
          </a:prstGeom>
          <a:solidFill>
            <a:srgbClr val="221A52"/>
          </a:solidFill>
          <a:ln w="12700">
            <a:solidFill>
              <a:srgbClr val="2E2665"/>
            </a:solidFill>
            <a:prstDash val="solid"/>
          </a:ln>
        </p:spPr>
      </p:sp>
      <p:sp>
        <p:nvSpPr>
          <p:cNvPr id="18" name="Text 15"/>
          <p:cNvSpPr txBox="1"/>
          <p:nvPr/>
        </p:nvSpPr>
        <p:spPr>
          <a:xfrm>
            <a:off x="3584448" y="3611880"/>
            <a:ext cx="283464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Memory &amp; storage cache</a:t>
            </a:r>
            <a:endParaRPr lang="en-US" sz="1050" dirty="0"/>
          </a:p>
        </p:txBody>
      </p:sp>
      <p:sp>
        <p:nvSpPr>
          <p:cNvPr id="19" name="Shape 16"/>
          <p:cNvSpPr/>
          <p:nvPr/>
        </p:nvSpPr>
        <p:spPr>
          <a:xfrm>
            <a:off x="566928" y="4069080"/>
            <a:ext cx="2834640" cy="310896"/>
          </a:xfrm>
          <a:prstGeom prst="roundRect">
            <a:avLst>
              <a:gd name="adj" fmla="val 47059"/>
            </a:avLst>
          </a:prstGeom>
          <a:solidFill>
            <a:srgbClr val="221A52"/>
          </a:solidFill>
          <a:ln w="12700">
            <a:solidFill>
              <a:srgbClr val="2E2665"/>
            </a:solidFill>
            <a:prstDash val="solid"/>
          </a:ln>
        </p:spPr>
      </p:sp>
      <p:sp>
        <p:nvSpPr>
          <p:cNvPr id="20" name="Text 17"/>
          <p:cNvSpPr txBox="1"/>
          <p:nvPr/>
        </p:nvSpPr>
        <p:spPr>
          <a:xfrm>
            <a:off x="566928" y="4069080"/>
            <a:ext cx="283464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Validation</a:t>
            </a:r>
            <a:endParaRPr lang="en-US" sz="1050" dirty="0"/>
          </a:p>
        </p:txBody>
      </p:sp>
      <p:sp>
        <p:nvSpPr>
          <p:cNvPr id="21" name="Shape 18"/>
          <p:cNvSpPr/>
          <p:nvPr/>
        </p:nvSpPr>
        <p:spPr>
          <a:xfrm>
            <a:off x="3584448" y="4069080"/>
            <a:ext cx="2834640" cy="310896"/>
          </a:xfrm>
          <a:prstGeom prst="roundRect">
            <a:avLst>
              <a:gd name="adj" fmla="val 47059"/>
            </a:avLst>
          </a:prstGeom>
          <a:solidFill>
            <a:srgbClr val="221A52"/>
          </a:solidFill>
          <a:ln w="12700">
            <a:solidFill>
              <a:srgbClr val="2E2665"/>
            </a:solidFill>
            <a:prstDash val="solid"/>
          </a:ln>
        </p:spPr>
      </p:sp>
      <p:sp>
        <p:nvSpPr>
          <p:cNvPr id="22" name="Text 19"/>
          <p:cNvSpPr txBox="1"/>
          <p:nvPr/>
        </p:nvSpPr>
        <p:spPr>
          <a:xfrm>
            <a:off x="3584448" y="4069080"/>
            <a:ext cx="283464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Resiliency &amp; retry</a:t>
            </a:r>
            <a:endParaRPr lang="en-US" sz="1050" dirty="0"/>
          </a:p>
        </p:txBody>
      </p:sp>
      <p:sp>
        <p:nvSpPr>
          <p:cNvPr id="23" name="Shape 20"/>
          <p:cNvSpPr/>
          <p:nvPr/>
        </p:nvSpPr>
        <p:spPr>
          <a:xfrm>
            <a:off x="566928" y="4526280"/>
            <a:ext cx="2834640" cy="310896"/>
          </a:xfrm>
          <a:prstGeom prst="roundRect">
            <a:avLst>
              <a:gd name="adj" fmla="val 47059"/>
            </a:avLst>
          </a:prstGeom>
          <a:solidFill>
            <a:srgbClr val="221A52"/>
          </a:solidFill>
          <a:ln w="12700">
            <a:solidFill>
              <a:srgbClr val="2E2665"/>
            </a:solidFill>
            <a:prstDash val="solid"/>
          </a:ln>
        </p:spPr>
      </p:sp>
      <p:sp>
        <p:nvSpPr>
          <p:cNvPr id="24" name="Text 21"/>
          <p:cNvSpPr txBox="1"/>
          <p:nvPr/>
        </p:nvSpPr>
        <p:spPr>
          <a:xfrm>
            <a:off x="566928" y="4526280"/>
            <a:ext cx="283464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Timed &amp; performance logging</a:t>
            </a:r>
            <a:endParaRPr lang="en-US" sz="1050" dirty="0"/>
          </a:p>
        </p:txBody>
      </p:sp>
      <p:sp>
        <p:nvSpPr>
          <p:cNvPr id="25" name="Shape 22"/>
          <p:cNvSpPr/>
          <p:nvPr/>
        </p:nvSpPr>
        <p:spPr>
          <a:xfrm>
            <a:off x="3584448" y="4526280"/>
            <a:ext cx="2834640" cy="310896"/>
          </a:xfrm>
          <a:prstGeom prst="roundRect">
            <a:avLst>
              <a:gd name="adj" fmla="val 47059"/>
            </a:avLst>
          </a:prstGeom>
          <a:solidFill>
            <a:srgbClr val="221A52"/>
          </a:solidFill>
          <a:ln w="12700">
            <a:solidFill>
              <a:srgbClr val="2E2665"/>
            </a:solidFill>
            <a:prstDash val="solid"/>
          </a:ln>
        </p:spPr>
      </p:sp>
      <p:sp>
        <p:nvSpPr>
          <p:cNvPr id="26" name="Text 23"/>
          <p:cNvSpPr txBox="1"/>
          <p:nvPr/>
        </p:nvSpPr>
        <p:spPr>
          <a:xfrm>
            <a:off x="3584448" y="4526280"/>
            <a:ext cx="283464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Replay streams</a:t>
            </a:r>
            <a:endParaRPr lang="en-US" sz="1050" dirty="0"/>
          </a:p>
        </p:txBody>
      </p:sp>
      <p:sp>
        <p:nvSpPr>
          <p:cNvPr id="27" name="Shape 24"/>
          <p:cNvSpPr/>
          <p:nvPr/>
        </p:nvSpPr>
        <p:spPr>
          <a:xfrm>
            <a:off x="566928" y="4983480"/>
            <a:ext cx="2834640" cy="310896"/>
          </a:xfrm>
          <a:prstGeom prst="roundRect">
            <a:avLst>
              <a:gd name="adj" fmla="val 47059"/>
            </a:avLst>
          </a:prstGeom>
          <a:solidFill>
            <a:srgbClr val="221A52"/>
          </a:solidFill>
          <a:ln w="12700">
            <a:solidFill>
              <a:srgbClr val="2E2665"/>
            </a:solidFill>
            <a:prstDash val="solid"/>
          </a:ln>
        </p:spPr>
      </p:sp>
      <p:sp>
        <p:nvSpPr>
          <p:cNvPr id="28" name="Text 25"/>
          <p:cNvSpPr txBox="1"/>
          <p:nvPr/>
        </p:nvSpPr>
        <p:spPr>
          <a:xfrm>
            <a:off x="566928" y="4983480"/>
            <a:ext cx="283464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User error handling</a:t>
            </a:r>
            <a:endParaRPr lang="en-US" sz="1050" dirty="0"/>
          </a:p>
        </p:txBody>
      </p:sp>
      <p:sp>
        <p:nvSpPr>
          <p:cNvPr id="29" name="Shape 26"/>
          <p:cNvSpPr/>
          <p:nvPr/>
        </p:nvSpPr>
        <p:spPr>
          <a:xfrm>
            <a:off x="3584448" y="4983480"/>
            <a:ext cx="2834640" cy="310896"/>
          </a:xfrm>
          <a:prstGeom prst="roundRect">
            <a:avLst>
              <a:gd name="adj" fmla="val 47059"/>
            </a:avLst>
          </a:prstGeom>
          <a:solidFill>
            <a:srgbClr val="221A52"/>
          </a:solidFill>
          <a:ln w="12700">
            <a:solidFill>
              <a:srgbClr val="2E2665"/>
            </a:solidFill>
            <a:prstDash val="solid"/>
          </a:ln>
        </p:spPr>
      </p:sp>
      <p:sp>
        <p:nvSpPr>
          <p:cNvPr id="30" name="Text 27"/>
          <p:cNvSpPr txBox="1"/>
          <p:nvPr/>
        </p:nvSpPr>
        <p:spPr>
          <a:xfrm>
            <a:off x="3584448" y="4983480"/>
            <a:ext cx="283464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Refresh timers</a:t>
            </a:r>
            <a:endParaRPr lang="en-US" sz="1050" dirty="0"/>
          </a:p>
        </p:txBody>
      </p:sp>
      <p:sp>
        <p:nvSpPr>
          <p:cNvPr id="31" name="Shape 28"/>
          <p:cNvSpPr/>
          <p:nvPr/>
        </p:nvSpPr>
        <p:spPr>
          <a:xfrm>
            <a:off x="6675120" y="2194560"/>
            <a:ext cx="4949647" cy="3977640"/>
          </a:xfrm>
          <a:prstGeom prst="roundRect">
            <a:avLst>
              <a:gd name="adj" fmla="val 1609"/>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2" name="Text 29"/>
          <p:cNvSpPr txBox="1"/>
          <p:nvPr/>
        </p:nvSpPr>
        <p:spPr>
          <a:xfrm>
            <a:off x="6967728" y="2395728"/>
            <a:ext cx="448056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Works where you already are</a:t>
            </a:r>
            <a:endParaRPr lang="en-US" sz="1500" dirty="0"/>
          </a:p>
        </p:txBody>
      </p:sp>
      <p:sp>
        <p:nvSpPr>
          <p:cNvPr id="33" name="Text 30"/>
          <p:cNvSpPr txBox="1"/>
          <p:nvPr/>
        </p:nvSpPr>
        <p:spPr>
          <a:xfrm>
            <a:off x="6967728" y="2834640"/>
            <a:ext cx="4480560" cy="237744"/>
          </a:xfrm>
          <a:prstGeom prst="rect">
            <a:avLst/>
          </a:prstGeom>
          <a:noFill/>
          <a:ln/>
        </p:spPr>
        <p:txBody>
          <a:bodyPr wrap="square" lIns="0" tIns="0" rIns="0" bIns="0" rtlCol="0" anchor="ctr"/>
          <a:lstStyle/>
          <a:p>
            <a:pPr indent="0" marL="0">
              <a:buNone/>
            </a:pPr>
            <a:r>
              <a:rPr lang="en-US" sz="1200" b="1" dirty="0">
                <a:solidFill>
                  <a:srgbClr val="2BE5A0"/>
                </a:solidFill>
                <a:latin typeface="Calibri" pitchFamily="34" charset="0"/>
                <a:ea typeface="Calibri" pitchFamily="34" charset="-122"/>
                <a:cs typeface="Calibri" pitchFamily="34" charset="-120"/>
              </a:rPr>
              <a:t>.NET MAUI &amp; Blazor</a:t>
            </a:r>
            <a:endParaRPr lang="en-US" sz="1200" dirty="0"/>
          </a:p>
        </p:txBody>
      </p:sp>
      <p:sp>
        <p:nvSpPr>
          <p:cNvPr id="34" name="Text 31"/>
          <p:cNvSpPr txBox="1"/>
          <p:nvPr/>
        </p:nvSpPr>
        <p:spPr>
          <a:xfrm>
            <a:off x="6967728" y="3072384"/>
            <a:ext cx="4480560" cy="384048"/>
          </a:xfrm>
          <a:prstGeom prst="rect">
            <a:avLst/>
          </a:prstGeom>
          <a:noFill/>
          <a:ln/>
        </p:spPr>
        <p:txBody>
          <a:bodyPr wrap="square" lIns="0" tIns="0" rIns="0" bIns="0" rtlCol="0" anchor="ctr"/>
          <a:lstStyle/>
          <a:p>
            <a:pPr indent="0" marL="0">
              <a:lnSpc>
                <a:spcPts val="1300"/>
              </a:lnSpc>
              <a:buNone/>
            </a:pPr>
            <a:r>
              <a:rPr lang="en-US" sz="1050" dirty="0">
                <a:solidFill>
                  <a:srgbClr val="AFA8CE"/>
                </a:solidFill>
                <a:latin typeface="Calibri" pitchFamily="34" charset="0"/>
                <a:ea typeface="Calibri" pitchFamily="34" charset="-122"/>
                <a:cs typeface="Calibri" pitchFamily="34" charset="-120"/>
              </a:rPr>
              <a:t>View-model wiring, connectivity broadcasts and lifecycle-aware handlers.</a:t>
            </a:r>
            <a:endParaRPr lang="en-US" sz="1050" dirty="0"/>
          </a:p>
        </p:txBody>
      </p:sp>
      <p:sp>
        <p:nvSpPr>
          <p:cNvPr id="35" name="Text 32"/>
          <p:cNvSpPr txBox="1"/>
          <p:nvPr/>
        </p:nvSpPr>
        <p:spPr>
          <a:xfrm>
            <a:off x="6967728" y="3493008"/>
            <a:ext cx="4480560" cy="237744"/>
          </a:xfrm>
          <a:prstGeom prst="rect">
            <a:avLst/>
          </a:prstGeom>
          <a:noFill/>
          <a:ln/>
        </p:spPr>
        <p:txBody>
          <a:bodyPr wrap="square" lIns="0" tIns="0" rIns="0" bIns="0" rtlCol="0" anchor="ctr"/>
          <a:lstStyle/>
          <a:p>
            <a:pPr indent="0" marL="0">
              <a:buNone/>
            </a:pPr>
            <a:r>
              <a:rPr lang="en-US" sz="1200" b="1" dirty="0">
                <a:solidFill>
                  <a:srgbClr val="2BE5A0"/>
                </a:solidFill>
                <a:latin typeface="Calibri" pitchFamily="34" charset="0"/>
                <a:ea typeface="Calibri" pitchFamily="34" charset="-122"/>
                <a:cs typeface="Calibri" pitchFamily="34" charset="-120"/>
              </a:rPr>
              <a:t>ASP.NET Core</a:t>
            </a:r>
            <a:endParaRPr lang="en-US" sz="1200" dirty="0"/>
          </a:p>
        </p:txBody>
      </p:sp>
      <p:sp>
        <p:nvSpPr>
          <p:cNvPr id="36" name="Text 33"/>
          <p:cNvSpPr txBox="1"/>
          <p:nvPr/>
        </p:nvSpPr>
        <p:spPr>
          <a:xfrm>
            <a:off x="6967728" y="3730752"/>
            <a:ext cx="4480560" cy="384048"/>
          </a:xfrm>
          <a:prstGeom prst="rect">
            <a:avLst/>
          </a:prstGeom>
          <a:noFill/>
          <a:ln/>
        </p:spPr>
        <p:txBody>
          <a:bodyPr wrap="square" lIns="0" tIns="0" rIns="0" bIns="0" rtlCol="0" anchor="ctr"/>
          <a:lstStyle/>
          <a:p>
            <a:pPr indent="0" marL="0">
              <a:lnSpc>
                <a:spcPts val="1300"/>
              </a:lnSpc>
              <a:buNone/>
            </a:pPr>
            <a:r>
              <a:rPr lang="en-US" sz="1050" dirty="0">
                <a:solidFill>
                  <a:srgbClr val="AFA8CE"/>
                </a:solidFill>
                <a:latin typeface="Calibri" pitchFamily="34" charset="0"/>
                <a:ea typeface="Calibri" pitchFamily="34" charset="-122"/>
                <a:cs typeface="Calibri" pitchFamily="34" charset="-120"/>
              </a:rPr>
              <a:t>Contracts published straight out as HTTP endpoints, with OpenAPI.</a:t>
            </a:r>
            <a:endParaRPr lang="en-US" sz="1050" dirty="0"/>
          </a:p>
        </p:txBody>
      </p:sp>
      <p:sp>
        <p:nvSpPr>
          <p:cNvPr id="37" name="Text 34"/>
          <p:cNvSpPr txBox="1"/>
          <p:nvPr/>
        </p:nvSpPr>
        <p:spPr>
          <a:xfrm>
            <a:off x="6967728" y="4151376"/>
            <a:ext cx="4480560" cy="237744"/>
          </a:xfrm>
          <a:prstGeom prst="rect">
            <a:avLst/>
          </a:prstGeom>
          <a:noFill/>
          <a:ln/>
        </p:spPr>
        <p:txBody>
          <a:bodyPr wrap="square" lIns="0" tIns="0" rIns="0" bIns="0" rtlCol="0" anchor="ctr"/>
          <a:lstStyle/>
          <a:p>
            <a:pPr indent="0" marL="0">
              <a:buNone/>
            </a:pPr>
            <a:r>
              <a:rPr lang="en-US" sz="1200" b="1" dirty="0">
                <a:solidFill>
                  <a:srgbClr val="2BE5A0"/>
                </a:solidFill>
                <a:latin typeface="Calibri" pitchFamily="34" charset="0"/>
                <a:ea typeface="Calibri" pitchFamily="34" charset="-122"/>
                <a:cs typeface="Calibri" pitchFamily="34" charset="-120"/>
              </a:rPr>
              <a:t>Uno Platform &amp; Prism</a:t>
            </a:r>
            <a:endParaRPr lang="en-US" sz="1200" dirty="0"/>
          </a:p>
        </p:txBody>
      </p:sp>
      <p:sp>
        <p:nvSpPr>
          <p:cNvPr id="38" name="Text 35"/>
          <p:cNvSpPr txBox="1"/>
          <p:nvPr/>
        </p:nvSpPr>
        <p:spPr>
          <a:xfrm>
            <a:off x="6967728" y="4389120"/>
            <a:ext cx="4480560" cy="384048"/>
          </a:xfrm>
          <a:prstGeom prst="rect">
            <a:avLst/>
          </a:prstGeom>
          <a:noFill/>
          <a:ln/>
        </p:spPr>
        <p:txBody>
          <a:bodyPr wrap="square" lIns="0" tIns="0" rIns="0" bIns="0" rtlCol="0" anchor="ctr"/>
          <a:lstStyle/>
          <a:p>
            <a:pPr indent="0" marL="0">
              <a:lnSpc>
                <a:spcPts val="1300"/>
              </a:lnSpc>
              <a:buNone/>
            </a:pPr>
            <a:r>
              <a:rPr lang="en-US" sz="1050" dirty="0">
                <a:solidFill>
                  <a:srgbClr val="AFA8CE"/>
                </a:solidFill>
                <a:latin typeface="Calibri" pitchFamily="34" charset="0"/>
                <a:ea typeface="Calibri" pitchFamily="34" charset="-122"/>
                <a:cs typeface="Calibri" pitchFamily="34" charset="-120"/>
              </a:rPr>
              <a:t>The same contracts across every client shell you ship.</a:t>
            </a:r>
            <a:endParaRPr lang="en-US" sz="1050" dirty="0"/>
          </a:p>
        </p:txBody>
      </p:sp>
      <p:sp>
        <p:nvSpPr>
          <p:cNvPr id="39" name="Text 36"/>
          <p:cNvSpPr txBox="1"/>
          <p:nvPr/>
        </p:nvSpPr>
        <p:spPr>
          <a:xfrm>
            <a:off x="6967728" y="4809744"/>
            <a:ext cx="4480560" cy="237744"/>
          </a:xfrm>
          <a:prstGeom prst="rect">
            <a:avLst/>
          </a:prstGeom>
          <a:noFill/>
          <a:ln/>
        </p:spPr>
        <p:txBody>
          <a:bodyPr wrap="square" lIns="0" tIns="0" rIns="0" bIns="0" rtlCol="0" anchor="ctr"/>
          <a:lstStyle/>
          <a:p>
            <a:pPr indent="0" marL="0">
              <a:buNone/>
            </a:pPr>
            <a:r>
              <a:rPr lang="en-US" sz="1200" b="1" dirty="0">
                <a:solidFill>
                  <a:srgbClr val="2BE5A0"/>
                </a:solidFill>
                <a:latin typeface="Calibri" pitchFamily="34" charset="0"/>
                <a:ea typeface="Calibri" pitchFamily="34" charset="-122"/>
                <a:cs typeface="Calibri" pitchFamily="34" charset="-120"/>
              </a:rPr>
              <a:t>Microsoft.Extensions.AI</a:t>
            </a:r>
            <a:endParaRPr lang="en-US" sz="1200" dirty="0"/>
          </a:p>
        </p:txBody>
      </p:sp>
      <p:sp>
        <p:nvSpPr>
          <p:cNvPr id="40" name="Text 37"/>
          <p:cNvSpPr txBox="1"/>
          <p:nvPr/>
        </p:nvSpPr>
        <p:spPr>
          <a:xfrm>
            <a:off x="6967728" y="5047488"/>
            <a:ext cx="4480560" cy="384048"/>
          </a:xfrm>
          <a:prstGeom prst="rect">
            <a:avLst/>
          </a:prstGeom>
          <a:noFill/>
          <a:ln/>
        </p:spPr>
        <p:txBody>
          <a:bodyPr wrap="square" lIns="0" tIns="0" rIns="0" bIns="0" rtlCol="0" anchor="ctr"/>
          <a:lstStyle/>
          <a:p>
            <a:pPr indent="0" marL="0">
              <a:lnSpc>
                <a:spcPts val="1300"/>
              </a:lnSpc>
              <a:buNone/>
            </a:pPr>
            <a:r>
              <a:rPr lang="en-US" sz="1050" dirty="0">
                <a:solidFill>
                  <a:srgbClr val="AFA8CE"/>
                </a:solidFill>
                <a:latin typeface="Calibri" pitchFamily="34" charset="0"/>
                <a:ea typeface="Calibri" pitchFamily="34" charset="-122"/>
                <a:cs typeface="Calibri" pitchFamily="34" charset="-120"/>
              </a:rPr>
              <a:t>Requests and commands exposed as AI-callable tools with generated schemas.</a:t>
            </a:r>
            <a:endParaRPr lang="en-US" sz="1050" dirty="0"/>
          </a:p>
        </p:txBody>
      </p:sp>
      <p:sp>
        <p:nvSpPr>
          <p:cNvPr id="41" name="Text 38"/>
          <p:cNvSpPr txBox="1"/>
          <p:nvPr/>
        </p:nvSpPr>
        <p:spPr>
          <a:xfrm>
            <a:off x="6967728" y="5468112"/>
            <a:ext cx="4480560" cy="237744"/>
          </a:xfrm>
          <a:prstGeom prst="rect">
            <a:avLst/>
          </a:prstGeom>
          <a:noFill/>
          <a:ln/>
        </p:spPr>
        <p:txBody>
          <a:bodyPr wrap="square" lIns="0" tIns="0" rIns="0" bIns="0" rtlCol="0" anchor="ctr"/>
          <a:lstStyle/>
          <a:p>
            <a:pPr indent="0" marL="0">
              <a:buNone/>
            </a:pPr>
            <a:r>
              <a:rPr lang="en-US" sz="1200" b="1" dirty="0">
                <a:solidFill>
                  <a:srgbClr val="2BE5A0"/>
                </a:solidFill>
                <a:latin typeface="Calibri" pitchFamily="34" charset="0"/>
                <a:ea typeface="Calibri" pitchFamily="34" charset="-122"/>
                <a:cs typeface="Calibri" pitchFamily="34" charset="-120"/>
              </a:rPr>
              <a:t>Dapper &amp; DocumentDb</a:t>
            </a:r>
            <a:endParaRPr lang="en-US" sz="1200" dirty="0"/>
          </a:p>
        </p:txBody>
      </p:sp>
      <p:sp>
        <p:nvSpPr>
          <p:cNvPr id="42" name="Text 39"/>
          <p:cNvSpPr txBox="1"/>
          <p:nvPr/>
        </p:nvSpPr>
        <p:spPr>
          <a:xfrm>
            <a:off x="6967728" y="5705856"/>
            <a:ext cx="4480560" cy="384048"/>
          </a:xfrm>
          <a:prstGeom prst="rect">
            <a:avLst/>
          </a:prstGeom>
          <a:noFill/>
          <a:ln/>
        </p:spPr>
        <p:txBody>
          <a:bodyPr wrap="square" lIns="0" tIns="0" rIns="0" bIns="0" rtlCol="0" anchor="ctr"/>
          <a:lstStyle/>
          <a:p>
            <a:pPr indent="0" marL="0">
              <a:lnSpc>
                <a:spcPts val="1300"/>
              </a:lnSpc>
              <a:buNone/>
            </a:pPr>
            <a:r>
              <a:rPr lang="en-US" sz="1050" dirty="0">
                <a:solidFill>
                  <a:srgbClr val="AFA8CE"/>
                </a:solidFill>
                <a:latin typeface="Calibri" pitchFamily="34" charset="0"/>
                <a:ea typeface="Calibri" pitchFamily="34" charset="-122"/>
                <a:cs typeface="Calibri" pitchFamily="34" charset="-120"/>
              </a:rPr>
              <a:t>Data access handlers without a repository layer to maintain.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GETTING STARTED</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One line wires the whole thing up</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UseShiny() handles every Android lifecycle callback, iOS delegate method and Windows integration. No platform-specific boilerplate.</a:t>
            </a:r>
            <a:endParaRPr lang="en-US" sz="1350" dirty="0"/>
          </a:p>
        </p:txBody>
      </p:sp>
      <p:sp>
        <p:nvSpPr>
          <p:cNvPr id="6" name="Shape 3"/>
          <p:cNvSpPr/>
          <p:nvPr/>
        </p:nvSpPr>
        <p:spPr>
          <a:xfrm>
            <a:off x="566928" y="2148840"/>
            <a:ext cx="6858000" cy="4069080"/>
          </a:xfrm>
          <a:prstGeom prst="roundRect">
            <a:avLst>
              <a:gd name="adj" fmla="val 1573"/>
            </a:avLst>
          </a:prstGeom>
          <a:solidFill>
            <a:srgbClr val="0F0B26"/>
          </a:solidFill>
          <a:ln w="12700">
            <a:solidFill>
              <a:srgbClr val="332A6B"/>
            </a:solidFill>
            <a:prstDash val="solid"/>
          </a:ln>
          <a:effectLst>
            <a:outerShdw sx="100000" sy="100000" kx="0" ky="0" algn="bl" rotWithShape="0" blurRad="152400" dist="38100" dir="5400000">
              <a:srgbClr val="000000">
                <a:alpha val="35000"/>
              </a:srgbClr>
            </a:outerShdw>
          </a:effectLst>
        </p:spPr>
      </p:sp>
      <p:sp>
        <p:nvSpPr>
          <p:cNvPr id="7" name="Text 4"/>
          <p:cNvSpPr txBox="1"/>
          <p:nvPr/>
        </p:nvSpPr>
        <p:spPr>
          <a:xfrm>
            <a:off x="877824" y="2404872"/>
            <a:ext cx="6236208" cy="3557016"/>
          </a:xfrm>
          <a:prstGeom prst="rect">
            <a:avLst/>
          </a:prstGeom>
          <a:noFill/>
          <a:ln/>
        </p:spPr>
        <p:txBody>
          <a:bodyPr wrap="square" lIns="0" tIns="0" rIns="0" bIns="0" rtlCol="0" anchor="t"/>
          <a:lstStyle/>
          <a:p>
            <a:pPr indent="0" marL="0">
              <a:lnSpc>
                <a:spcPts val="1700"/>
              </a:lnSpc>
              <a:buNone/>
            </a:pPr>
            <a:r>
              <a:rPr lang="en-US" sz="1150" dirty="0">
                <a:solidFill>
                  <a:srgbClr val="C792EA"/>
                </a:solidFill>
                <a:latin typeface="Courier New" pitchFamily="34" charset="0"/>
                <a:ea typeface="Courier New" pitchFamily="34" charset="-122"/>
                <a:cs typeface="Courier New" pitchFamily="34" charset="-120"/>
              </a:rPr>
              <a:t>public static class </a:t>
            </a:r>
            <a:pPr indent="0" marL="0">
              <a:lnSpc>
                <a:spcPts val="1700"/>
              </a:lnSpc>
              <a:buNone/>
            </a:pPr>
            <a:r>
              <a:rPr lang="en-US" sz="1150" dirty="0">
                <a:solidFill>
                  <a:srgbClr val="82AAFF"/>
                </a:solidFill>
                <a:latin typeface="Courier New" pitchFamily="34" charset="0"/>
                <a:ea typeface="Courier New" pitchFamily="34" charset="-122"/>
                <a:cs typeface="Courier New" pitchFamily="34" charset="-120"/>
              </a:rPr>
              <a:t>MauiProgram</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a:t>
            </a:r>
            <a:pPr indent="0" marL="0">
              <a:lnSpc>
                <a:spcPts val="1700"/>
              </a:lnSpc>
              <a:buNone/>
            </a:pPr>
            <a:r>
              <a:rPr lang="en-US" sz="1150" dirty="0">
                <a:solidFill>
                  <a:srgbClr val="C792EA"/>
                </a:solidFill>
                <a:latin typeface="Courier New" pitchFamily="34" charset="0"/>
                <a:ea typeface="Courier New" pitchFamily="34" charset="-122"/>
                <a:cs typeface="Courier New" pitchFamily="34" charset="-120"/>
              </a:rPr>
              <a:t>public static </a:t>
            </a:r>
            <a:pPr indent="0" marL="0">
              <a:lnSpc>
                <a:spcPts val="1700"/>
              </a:lnSpc>
              <a:buNone/>
            </a:pPr>
            <a:r>
              <a:rPr lang="en-US" sz="1150" dirty="0">
                <a:solidFill>
                  <a:srgbClr val="82AAFF"/>
                </a:solidFill>
                <a:latin typeface="Courier New" pitchFamily="34" charset="0"/>
                <a:ea typeface="Courier New" pitchFamily="34" charset="-122"/>
                <a:cs typeface="Courier New" pitchFamily="34" charset="-120"/>
              </a:rPr>
              <a:t>MauiApp </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CreateMauiApp</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=&gt;</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MauiApp.CreateBuilder()</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.UseMauiApp&lt;</a:t>
            </a:r>
            <a:pPr indent="0" marL="0">
              <a:lnSpc>
                <a:spcPts val="1700"/>
              </a:lnSpc>
              <a:buNone/>
            </a:pPr>
            <a:r>
              <a:rPr lang="en-US" sz="1150" dirty="0">
                <a:solidFill>
                  <a:srgbClr val="82AAFF"/>
                </a:solidFill>
                <a:latin typeface="Courier New" pitchFamily="34" charset="0"/>
                <a:ea typeface="Courier New" pitchFamily="34" charset="-122"/>
                <a:cs typeface="Courier New" pitchFamily="34" charset="-120"/>
              </a:rPr>
              <a:t>App</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&gt;()</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a:t>
            </a:r>
            <a:pPr indent="0" marL="0">
              <a:lnSpc>
                <a:spcPts val="1700"/>
              </a:lnSpc>
              <a:buNone/>
            </a:pPr>
            <a:r>
              <a:rPr lang="en-US" sz="1150" dirty="0">
                <a:solidFill>
                  <a:srgbClr val="C3E88D"/>
                </a:solidFill>
                <a:latin typeface="Courier New" pitchFamily="34" charset="0"/>
                <a:ea typeface="Courier New" pitchFamily="34" charset="-122"/>
                <a:cs typeface="Courier New" pitchFamily="34" charset="-120"/>
              </a:rPr>
              <a:t>UseShiny</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a:t>
            </a:r>
            <a:pPr indent="0" marL="0">
              <a:lnSpc>
                <a:spcPts val="1700"/>
              </a:lnSpc>
              <a:buNone/>
            </a:pPr>
            <a:r>
              <a:rPr lang="en-US" sz="1150" dirty="0">
                <a:solidFill>
                  <a:srgbClr val="6B6494"/>
                </a:solidFill>
                <a:latin typeface="Courier New" pitchFamily="34" charset="0"/>
                <a:ea typeface="Courier New" pitchFamily="34" charset="-122"/>
                <a:cs typeface="Courier New" pitchFamily="34" charset="-120"/>
              </a:rPr>
              <a:t>// all lifecycle, all platforms</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.ConfigureServices(svc =&gt;</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svc.</a:t>
            </a:r>
            <a:pPr indent="0" marL="0">
              <a:lnSpc>
                <a:spcPts val="1700"/>
              </a:lnSpc>
              <a:buNone/>
            </a:pPr>
            <a:r>
              <a:rPr lang="en-US" sz="1150" dirty="0">
                <a:solidFill>
                  <a:srgbClr val="C3E88D"/>
                </a:solidFill>
                <a:latin typeface="Courier New" pitchFamily="34" charset="0"/>
                <a:ea typeface="Courier New" pitchFamily="34" charset="-122"/>
                <a:cs typeface="Courier New" pitchFamily="34" charset="-120"/>
              </a:rPr>
              <a:t>AddGps</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&lt;</a:t>
            </a:r>
            <a:pPr indent="0" marL="0">
              <a:lnSpc>
                <a:spcPts val="1700"/>
              </a:lnSpc>
              <a:buNone/>
            </a:pPr>
            <a:r>
              <a:rPr lang="en-US" sz="1150" dirty="0">
                <a:solidFill>
                  <a:srgbClr val="82AAFF"/>
                </a:solidFill>
                <a:latin typeface="Courier New" pitchFamily="34" charset="0"/>
                <a:ea typeface="Courier New" pitchFamily="34" charset="-122"/>
                <a:cs typeface="Courier New" pitchFamily="34" charset="-120"/>
              </a:rPr>
              <a:t>MyGpsDelegate</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&gt;();</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svc.</a:t>
            </a:r>
            <a:pPr indent="0" marL="0">
              <a:lnSpc>
                <a:spcPts val="1700"/>
              </a:lnSpc>
              <a:buNone/>
            </a:pPr>
            <a:r>
              <a:rPr lang="en-US" sz="1150" dirty="0">
                <a:solidFill>
                  <a:srgbClr val="C3E88D"/>
                </a:solidFill>
                <a:latin typeface="Courier New" pitchFamily="34" charset="0"/>
                <a:ea typeface="Courier New" pitchFamily="34" charset="-122"/>
                <a:cs typeface="Courier New" pitchFamily="34" charset="-120"/>
              </a:rPr>
              <a:t>AddJob</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a:t>
            </a:r>
            <a:pPr indent="0" marL="0">
              <a:lnSpc>
                <a:spcPts val="1700"/>
              </a:lnSpc>
              <a:buNone/>
            </a:pPr>
            <a:r>
              <a:rPr lang="en-US" sz="1150" dirty="0">
                <a:solidFill>
                  <a:srgbClr val="C792EA"/>
                </a:solidFill>
                <a:latin typeface="Courier New" pitchFamily="34" charset="0"/>
                <a:ea typeface="Courier New" pitchFamily="34" charset="-122"/>
                <a:cs typeface="Courier New" pitchFamily="34" charset="-120"/>
              </a:rPr>
              <a:t>typeof</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a:t>
            </a:r>
            <a:pPr indent="0" marL="0">
              <a:lnSpc>
                <a:spcPts val="1700"/>
              </a:lnSpc>
              <a:buNone/>
            </a:pPr>
            <a:r>
              <a:rPr lang="en-US" sz="1150" dirty="0">
                <a:solidFill>
                  <a:srgbClr val="82AAFF"/>
                </a:solidFill>
                <a:latin typeface="Courier New" pitchFamily="34" charset="0"/>
                <a:ea typeface="Courier New" pitchFamily="34" charset="-122"/>
                <a:cs typeface="Courier New" pitchFamily="34" charset="-120"/>
              </a:rPr>
              <a:t>SyncJob</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svc.</a:t>
            </a:r>
            <a:pPr indent="0" marL="0">
              <a:lnSpc>
                <a:spcPts val="1700"/>
              </a:lnSpc>
              <a:buNone/>
            </a:pPr>
            <a:r>
              <a:rPr lang="en-US" sz="1150" dirty="0">
                <a:solidFill>
                  <a:srgbClr val="C3E88D"/>
                </a:solidFill>
                <a:latin typeface="Courier New" pitchFamily="34" charset="0"/>
                <a:ea typeface="Courier New" pitchFamily="34" charset="-122"/>
                <a:cs typeface="Courier New" pitchFamily="34" charset="-120"/>
              </a:rPr>
              <a:t>AddBluetoothLE</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svc.</a:t>
            </a:r>
            <a:pPr indent="0" marL="0">
              <a:lnSpc>
                <a:spcPts val="1700"/>
              </a:lnSpc>
              <a:buNone/>
            </a:pPr>
            <a:r>
              <a:rPr lang="en-US" sz="1150" dirty="0">
                <a:solidFill>
                  <a:srgbClr val="C3E88D"/>
                </a:solidFill>
                <a:latin typeface="Courier New" pitchFamily="34" charset="0"/>
                <a:ea typeface="Courier New" pitchFamily="34" charset="-122"/>
                <a:cs typeface="Courier New" pitchFamily="34" charset="-120"/>
              </a:rPr>
              <a:t>AddNotifications</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&lt;</a:t>
            </a:r>
            <a:pPr indent="0" marL="0">
              <a:lnSpc>
                <a:spcPts val="1700"/>
              </a:lnSpc>
              <a:buNone/>
            </a:pPr>
            <a:r>
              <a:rPr lang="en-US" sz="1150" dirty="0">
                <a:solidFill>
                  <a:srgbClr val="82AAFF"/>
                </a:solidFill>
                <a:latin typeface="Courier New" pitchFamily="34" charset="0"/>
                <a:ea typeface="Courier New" pitchFamily="34" charset="-122"/>
                <a:cs typeface="Courier New" pitchFamily="34" charset="-120"/>
              </a:rPr>
              <a:t>MyDelegate</a:t>
            </a:r>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&gt;();</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            .Build();</a:t>
            </a:r>
            <a:endParaRPr lang="en-US" sz="1150" dirty="0"/>
          </a:p>
          <a:p>
            <a:pPr indent="0" marL="0">
              <a:lnSpc>
                <a:spcPts val="1700"/>
              </a:lnSpc>
              <a:buNone/>
            </a:pPr>
            <a:r>
              <a:rPr lang="en-US" sz="1150" dirty="0">
                <a:solidFill>
                  <a:srgbClr val="E6E1FF"/>
                </a:solidFill>
                <a:latin typeface="Courier New" pitchFamily="34" charset="0"/>
                <a:ea typeface="Courier New" pitchFamily="34" charset="-122"/>
                <a:cs typeface="Courier New" pitchFamily="34" charset="-120"/>
              </a:rPr>
              <a:t>}</a:t>
            </a:r>
            <a:endParaRPr lang="en-US" sz="1150" dirty="0"/>
          </a:p>
        </p:txBody>
      </p:sp>
      <p:sp>
        <p:nvSpPr>
          <p:cNvPr id="8" name="Shape 5"/>
          <p:cNvSpPr/>
          <p:nvPr/>
        </p:nvSpPr>
        <p:spPr>
          <a:xfrm>
            <a:off x="7680960" y="2148840"/>
            <a:ext cx="3943807" cy="1280160"/>
          </a:xfrm>
          <a:prstGeom prst="roundRect">
            <a:avLst>
              <a:gd name="adj" fmla="val 500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9" name="Shape 6"/>
          <p:cNvSpPr/>
          <p:nvPr/>
        </p:nvSpPr>
        <p:spPr>
          <a:xfrm>
            <a:off x="7918704" y="2368296"/>
            <a:ext cx="347472" cy="347472"/>
          </a:xfrm>
          <a:prstGeom prst="roundRect">
            <a:avLst>
              <a:gd name="adj" fmla="val 73684"/>
            </a:avLst>
          </a:prstGeom>
          <a:solidFill>
            <a:srgbClr val="2BE5A0"/>
          </a:solidFill>
          <a:ln w="12700">
            <a:solidFill>
              <a:srgbClr val="2BE5A0"/>
            </a:solidFill>
            <a:prstDash val="solid"/>
          </a:ln>
        </p:spPr>
      </p:sp>
      <p:pic>
        <p:nvPicPr>
          <p:cNvPr id="10" name="Image 1" descr="preencoded.png">    </p:cNvPr>
          <p:cNvPicPr>
            <a:picLocks noChangeAspect="1"/>
          </p:cNvPicPr>
          <p:nvPr/>
        </p:nvPicPr>
        <p:blipFill>
          <a:blip r:embed="rId2"/>
          <a:stretch>
            <a:fillRect/>
          </a:stretch>
        </p:blipFill>
        <p:spPr>
          <a:xfrm>
            <a:off x="8009047" y="2458639"/>
            <a:ext cx="166787" cy="166787"/>
          </a:xfrm>
          <a:prstGeom prst="rect">
            <a:avLst/>
          </a:prstGeom>
        </p:spPr>
      </p:pic>
      <p:sp>
        <p:nvSpPr>
          <p:cNvPr id="11" name="Text 7"/>
          <p:cNvSpPr txBox="1"/>
          <p:nvPr/>
        </p:nvSpPr>
        <p:spPr>
          <a:xfrm>
            <a:off x="8430768" y="2423160"/>
            <a:ext cx="3011119"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 #if platform ladders</a:t>
            </a:r>
            <a:endParaRPr lang="en-US" sz="1250" dirty="0"/>
          </a:p>
        </p:txBody>
      </p:sp>
      <p:sp>
        <p:nvSpPr>
          <p:cNvPr id="12" name="Text 8"/>
          <p:cNvSpPr txBox="1"/>
          <p:nvPr/>
        </p:nvSpPr>
        <p:spPr>
          <a:xfrm>
            <a:off x="7918704" y="2862072"/>
            <a:ext cx="3468319" cy="420624"/>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Register services once. Shiny resolves the native implementation per target.</a:t>
            </a:r>
            <a:endParaRPr lang="en-US" sz="1000" dirty="0"/>
          </a:p>
        </p:txBody>
      </p:sp>
      <p:sp>
        <p:nvSpPr>
          <p:cNvPr id="13" name="Shape 9"/>
          <p:cNvSpPr/>
          <p:nvPr/>
        </p:nvSpPr>
        <p:spPr>
          <a:xfrm>
            <a:off x="7680960" y="3639312"/>
            <a:ext cx="3943807" cy="1280160"/>
          </a:xfrm>
          <a:prstGeom prst="roundRect">
            <a:avLst>
              <a:gd name="adj" fmla="val 500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4" name="Shape 10"/>
          <p:cNvSpPr/>
          <p:nvPr/>
        </p:nvSpPr>
        <p:spPr>
          <a:xfrm>
            <a:off x="7918704" y="3858768"/>
            <a:ext cx="347472" cy="347472"/>
          </a:xfrm>
          <a:prstGeom prst="roundRect">
            <a:avLst>
              <a:gd name="adj" fmla="val 73684"/>
            </a:avLst>
          </a:prstGeom>
          <a:solidFill>
            <a:srgbClr val="9B7BFF"/>
          </a:solidFill>
          <a:ln w="12700">
            <a:solidFill>
              <a:srgbClr val="9B7BFF"/>
            </a:solidFill>
            <a:prstDash val="solid"/>
          </a:ln>
        </p:spPr>
      </p:sp>
      <p:pic>
        <p:nvPicPr>
          <p:cNvPr id="15" name="Image 2" descr="preencoded.png">    </p:cNvPr>
          <p:cNvPicPr>
            <a:picLocks noChangeAspect="1"/>
          </p:cNvPicPr>
          <p:nvPr/>
        </p:nvPicPr>
        <p:blipFill>
          <a:blip r:embed="rId3"/>
          <a:stretch>
            <a:fillRect/>
          </a:stretch>
        </p:blipFill>
        <p:spPr>
          <a:xfrm>
            <a:off x="8009047" y="3949111"/>
            <a:ext cx="166787" cy="166787"/>
          </a:xfrm>
          <a:prstGeom prst="rect">
            <a:avLst/>
          </a:prstGeom>
        </p:spPr>
      </p:pic>
      <p:sp>
        <p:nvSpPr>
          <p:cNvPr id="16" name="Text 11"/>
          <p:cNvSpPr txBox="1"/>
          <p:nvPr/>
        </p:nvSpPr>
        <p:spPr>
          <a:xfrm>
            <a:off x="8430768" y="3913632"/>
            <a:ext cx="3011119"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Permissions declared once</a:t>
            </a:r>
            <a:endParaRPr lang="en-US" sz="1250" dirty="0"/>
          </a:p>
        </p:txBody>
      </p:sp>
      <p:sp>
        <p:nvSpPr>
          <p:cNvPr id="17" name="Text 12"/>
          <p:cNvSpPr txBox="1"/>
          <p:nvPr/>
        </p:nvSpPr>
        <p:spPr>
          <a:xfrm>
            <a:off x="7918704" y="4352544"/>
            <a:ext cx="3468319" cy="420624"/>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MSBuild generates the Android manifest and iOS Info.plist entries from your .csproj.</a:t>
            </a:r>
            <a:endParaRPr lang="en-US" sz="1000" dirty="0"/>
          </a:p>
        </p:txBody>
      </p:sp>
      <p:sp>
        <p:nvSpPr>
          <p:cNvPr id="18" name="Shape 13"/>
          <p:cNvSpPr/>
          <p:nvPr/>
        </p:nvSpPr>
        <p:spPr>
          <a:xfrm>
            <a:off x="7680960" y="5129784"/>
            <a:ext cx="3943807" cy="1280160"/>
          </a:xfrm>
          <a:prstGeom prst="roundRect">
            <a:avLst>
              <a:gd name="adj" fmla="val 500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9" name="Shape 14"/>
          <p:cNvSpPr/>
          <p:nvPr/>
        </p:nvSpPr>
        <p:spPr>
          <a:xfrm>
            <a:off x="7918704" y="5349240"/>
            <a:ext cx="347472" cy="347472"/>
          </a:xfrm>
          <a:prstGeom prst="roundRect">
            <a:avLst>
              <a:gd name="adj" fmla="val 73684"/>
            </a:avLst>
          </a:prstGeom>
          <a:solidFill>
            <a:srgbClr val="CFFA12"/>
          </a:solidFill>
          <a:ln w="12700">
            <a:solidFill>
              <a:srgbClr val="CFFA12"/>
            </a:solidFill>
            <a:prstDash val="solid"/>
          </a:ln>
        </p:spPr>
      </p:sp>
      <p:pic>
        <p:nvPicPr>
          <p:cNvPr id="20" name="Image 3" descr="preencoded.png">    </p:cNvPr>
          <p:cNvPicPr>
            <a:picLocks noChangeAspect="1"/>
          </p:cNvPicPr>
          <p:nvPr/>
        </p:nvPicPr>
        <p:blipFill>
          <a:blip r:embed="rId4"/>
          <a:stretch>
            <a:fillRect/>
          </a:stretch>
        </p:blipFill>
        <p:spPr>
          <a:xfrm>
            <a:off x="8009047" y="5439583"/>
            <a:ext cx="166787" cy="166787"/>
          </a:xfrm>
          <a:prstGeom prst="rect">
            <a:avLst/>
          </a:prstGeom>
        </p:spPr>
      </p:pic>
      <p:sp>
        <p:nvSpPr>
          <p:cNvPr id="21" name="Text 15"/>
          <p:cNvSpPr txBox="1"/>
          <p:nvPr/>
        </p:nvSpPr>
        <p:spPr>
          <a:xfrm>
            <a:off x="8430768" y="5404104"/>
            <a:ext cx="3011119"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Delegates, not callbacks</a:t>
            </a:r>
            <a:endParaRPr lang="en-US" sz="1250" dirty="0"/>
          </a:p>
        </p:txBody>
      </p:sp>
      <p:sp>
        <p:nvSpPr>
          <p:cNvPr id="22" name="Text 16"/>
          <p:cNvSpPr txBox="1"/>
          <p:nvPr/>
        </p:nvSpPr>
        <p:spPr>
          <a:xfrm>
            <a:off x="7918704" y="5843016"/>
            <a:ext cx="3468319" cy="420624"/>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Background events resolve a DI-injected delegate class — even after a cold start.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15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pic>
        <p:nvPicPr>
          <p:cNvPr id="3" name="Image 1" descr="preencoded.png">    </p:cNvPr>
          <p:cNvPicPr>
            <a:picLocks noChangeAspect="1"/>
          </p:cNvPicPr>
          <p:nvPr/>
        </p:nvPicPr>
        <p:blipFill>
          <a:blip r:embed="rId2"/>
          <a:stretch>
            <a:fillRect/>
          </a:stretch>
        </p:blipFill>
        <p:spPr>
          <a:xfrm>
            <a:off x="566928" y="1737360"/>
            <a:ext cx="841248" cy="841248"/>
          </a:xfrm>
          <a:prstGeom prst="rect">
            <a:avLst/>
          </a:prstGeom>
        </p:spPr>
      </p:pic>
      <p:pic>
        <p:nvPicPr>
          <p:cNvPr id="4" name="Image 2" descr="preencoded.png">    </p:cNvPr>
          <p:cNvPicPr>
            <a:picLocks noChangeAspect="1"/>
          </p:cNvPicPr>
          <p:nvPr/>
        </p:nvPicPr>
        <p:blipFill>
          <a:blip r:embed="rId3"/>
          <a:stretch>
            <a:fillRect/>
          </a:stretch>
        </p:blipFill>
        <p:spPr>
          <a:xfrm>
            <a:off x="786384" y="1956816"/>
            <a:ext cx="402336" cy="402336"/>
          </a:xfrm>
          <a:prstGeom prst="rect">
            <a:avLst/>
          </a:prstGeom>
        </p:spPr>
      </p:pic>
      <p:sp>
        <p:nvSpPr>
          <p:cNvPr id="5" name="Text 0"/>
          <p:cNvSpPr txBox="1"/>
          <p:nvPr/>
        </p:nvSpPr>
        <p:spPr>
          <a:xfrm>
            <a:off x="566928" y="2852928"/>
            <a:ext cx="4572000" cy="237744"/>
          </a:xfrm>
          <a:prstGeom prst="rect">
            <a:avLst/>
          </a:prstGeom>
          <a:noFill/>
          <a:ln/>
        </p:spPr>
        <p:txBody>
          <a:bodyPr wrap="square" lIns="0" tIns="0" rIns="0" bIns="0" rtlCol="0" anchor="ctr"/>
          <a:lstStyle/>
          <a:p>
            <a:pPr indent="0" marL="0">
              <a:buNone/>
            </a:pPr>
            <a:r>
              <a:rPr lang="en-US" sz="1100" b="1" spc="260" kern="0" dirty="0">
                <a:solidFill>
                  <a:srgbClr val="CFFA12"/>
                </a:solidFill>
                <a:latin typeface="Calibri" pitchFamily="34" charset="0"/>
                <a:ea typeface="Calibri" pitchFamily="34" charset="-122"/>
                <a:cs typeface="Calibri" pitchFamily="34" charset="-120"/>
              </a:rPr>
              <a:t>SECTION 02</a:t>
            </a:r>
            <a:endParaRPr lang="en-US" sz="1100" dirty="0"/>
          </a:p>
        </p:txBody>
      </p:sp>
      <p:sp>
        <p:nvSpPr>
          <p:cNvPr id="6" name="Text 1"/>
          <p:cNvSpPr txBox="1"/>
          <p:nvPr/>
        </p:nvSpPr>
        <p:spPr>
          <a:xfrm>
            <a:off x="566928" y="3127248"/>
            <a:ext cx="603504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Hardware &amp; Device Data</a:t>
            </a:r>
            <a:endParaRPr lang="en-US" sz="4000" dirty="0"/>
          </a:p>
        </p:txBody>
      </p:sp>
      <p:pic>
        <p:nvPicPr>
          <p:cNvPr id="7" name="Image 3" descr="preencoded.png">    </p:cNvPr>
          <p:cNvPicPr>
            <a:picLocks noChangeAspect="1"/>
          </p:cNvPicPr>
          <p:nvPr/>
        </p:nvPicPr>
        <p:blipFill>
          <a:blip r:embed="rId4"/>
          <a:stretch>
            <a:fillRect/>
          </a:stretch>
        </p:blipFill>
        <p:spPr>
          <a:xfrm>
            <a:off x="566928" y="3986784"/>
            <a:ext cx="2194560" cy="45720"/>
          </a:xfrm>
          <a:prstGeom prst="rect">
            <a:avLst/>
          </a:prstGeom>
        </p:spPr>
      </p:pic>
      <p:sp>
        <p:nvSpPr>
          <p:cNvPr id="8" name="Text 2"/>
          <p:cNvSpPr txBox="1"/>
          <p:nvPr/>
        </p:nvSpPr>
        <p:spPr>
          <a:xfrm>
            <a:off x="566928" y="4169664"/>
            <a:ext cx="5669280" cy="822960"/>
          </a:xfrm>
          <a:prstGeom prst="rect">
            <a:avLst/>
          </a:prstGeom>
          <a:noFill/>
          <a:ln/>
        </p:spPr>
        <p:txBody>
          <a:bodyPr wrap="square" lIns="0" tIns="0" rIns="0" bIns="0" rtlCol="0" anchor="ctr"/>
          <a:lstStyle/>
          <a:p>
            <a:pPr indent="0" marL="0">
              <a:lnSpc>
                <a:spcPts val="2000"/>
              </a:lnSpc>
              <a:buNone/>
            </a:pPr>
            <a:r>
              <a:rPr lang="en-US" sz="1400" dirty="0">
                <a:solidFill>
                  <a:srgbClr val="D6CCFF"/>
                </a:solidFill>
                <a:latin typeface="Calibri" pitchFamily="34" charset="0"/>
                <a:ea typeface="Calibri" pitchFamily="34" charset="-122"/>
                <a:cs typeface="Calibri" pitchFamily="34" charset="-120"/>
              </a:rPr>
              <a:t>Talk to the radios, sensors and local network — and to the data stores the OS already owns.</a:t>
            </a:r>
            <a:endParaRPr lang="en-US" sz="1400" dirty="0"/>
          </a:p>
        </p:txBody>
      </p:sp>
      <p:sp>
        <p:nvSpPr>
          <p:cNvPr id="9" name="Shape 3"/>
          <p:cNvSpPr/>
          <p:nvPr/>
        </p:nvSpPr>
        <p:spPr>
          <a:xfrm>
            <a:off x="6903720" y="1737360"/>
            <a:ext cx="4721047" cy="475488"/>
          </a:xfrm>
          <a:prstGeom prst="roundRect">
            <a:avLst>
              <a:gd name="adj" fmla="val 26923"/>
            </a:avLst>
          </a:prstGeom>
          <a:solidFill>
            <a:srgbClr val="3C22A6"/>
          </a:solidFill>
          <a:ln w="12700">
            <a:solidFill>
              <a:srgbClr val="5335C9"/>
            </a:solidFill>
            <a:prstDash val="solid"/>
          </a:ln>
        </p:spPr>
      </p:sp>
      <p:sp>
        <p:nvSpPr>
          <p:cNvPr id="10" name="Text 4"/>
          <p:cNvSpPr txBox="1"/>
          <p:nvPr/>
        </p:nvSpPr>
        <p:spPr>
          <a:xfrm>
            <a:off x="7214616" y="1737360"/>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Bluetooth LE, client and peripheral</a:t>
            </a:r>
            <a:endParaRPr lang="en-US" sz="1250" dirty="0"/>
          </a:p>
        </p:txBody>
      </p:sp>
      <p:sp>
        <p:nvSpPr>
          <p:cNvPr id="11" name="Shape 5"/>
          <p:cNvSpPr/>
          <p:nvPr/>
        </p:nvSpPr>
        <p:spPr>
          <a:xfrm>
            <a:off x="6903720" y="2340864"/>
            <a:ext cx="4721047" cy="475488"/>
          </a:xfrm>
          <a:prstGeom prst="roundRect">
            <a:avLst>
              <a:gd name="adj" fmla="val 26923"/>
            </a:avLst>
          </a:prstGeom>
          <a:solidFill>
            <a:srgbClr val="3C22A6"/>
          </a:solidFill>
          <a:ln w="12700">
            <a:solidFill>
              <a:srgbClr val="5335C9"/>
            </a:solidFill>
            <a:prstDash val="solid"/>
          </a:ln>
        </p:spPr>
      </p:sp>
      <p:sp>
        <p:nvSpPr>
          <p:cNvPr id="12" name="Text 6"/>
          <p:cNvSpPr txBox="1"/>
          <p:nvPr/>
        </p:nvSpPr>
        <p:spPr>
          <a:xfrm>
            <a:off x="7214616" y="2340864"/>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GPS, geofencing and OBD</a:t>
            </a:r>
            <a:endParaRPr lang="en-US" sz="1250" dirty="0"/>
          </a:p>
        </p:txBody>
      </p:sp>
      <p:sp>
        <p:nvSpPr>
          <p:cNvPr id="13" name="Shape 7"/>
          <p:cNvSpPr/>
          <p:nvPr/>
        </p:nvSpPr>
        <p:spPr>
          <a:xfrm>
            <a:off x="6903720" y="2944368"/>
            <a:ext cx="4721047" cy="475488"/>
          </a:xfrm>
          <a:prstGeom prst="roundRect">
            <a:avLst>
              <a:gd name="adj" fmla="val 26923"/>
            </a:avLst>
          </a:prstGeom>
          <a:solidFill>
            <a:srgbClr val="3C22A6"/>
          </a:solidFill>
          <a:ln w="12700">
            <a:solidFill>
              <a:srgbClr val="5335C9"/>
            </a:solidFill>
            <a:prstDash val="solid"/>
          </a:ln>
        </p:spPr>
      </p:sp>
      <p:sp>
        <p:nvSpPr>
          <p:cNvPr id="14" name="Text 8"/>
          <p:cNvSpPr txBox="1"/>
          <p:nvPr/>
        </p:nvSpPr>
        <p:spPr>
          <a:xfrm>
            <a:off x="7214616" y="2944368"/>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mDNS, SSDP and WS-Discovery</a:t>
            </a:r>
            <a:endParaRPr lang="en-US" sz="1250" dirty="0"/>
          </a:p>
        </p:txBody>
      </p:sp>
      <p:sp>
        <p:nvSpPr>
          <p:cNvPr id="15" name="Shape 9"/>
          <p:cNvSpPr/>
          <p:nvPr/>
        </p:nvSpPr>
        <p:spPr>
          <a:xfrm>
            <a:off x="6903720" y="3547872"/>
            <a:ext cx="4721047" cy="475488"/>
          </a:xfrm>
          <a:prstGeom prst="roundRect">
            <a:avLst>
              <a:gd name="adj" fmla="val 26923"/>
            </a:avLst>
          </a:prstGeom>
          <a:solidFill>
            <a:srgbClr val="3C22A6"/>
          </a:solidFill>
          <a:ln w="12700">
            <a:solidFill>
              <a:srgbClr val="5335C9"/>
            </a:solidFill>
            <a:prstDash val="solid"/>
          </a:ln>
        </p:spPr>
      </p:sp>
      <p:sp>
        <p:nvSpPr>
          <p:cNvPr id="16" name="Text 10"/>
          <p:cNvSpPr txBox="1"/>
          <p:nvPr/>
        </p:nvSpPr>
        <p:spPr>
          <a:xfrm>
            <a:off x="7214616" y="3547872"/>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Wi-Fi and screen recording</a:t>
            </a:r>
            <a:endParaRPr lang="en-US" sz="1250" dirty="0"/>
          </a:p>
        </p:txBody>
      </p:sp>
      <p:sp>
        <p:nvSpPr>
          <p:cNvPr id="17" name="Shape 11"/>
          <p:cNvSpPr/>
          <p:nvPr/>
        </p:nvSpPr>
        <p:spPr>
          <a:xfrm>
            <a:off x="6903720" y="4151376"/>
            <a:ext cx="4721047" cy="475488"/>
          </a:xfrm>
          <a:prstGeom prst="roundRect">
            <a:avLst>
              <a:gd name="adj" fmla="val 26923"/>
            </a:avLst>
          </a:prstGeom>
          <a:solidFill>
            <a:srgbClr val="3C22A6"/>
          </a:solidFill>
          <a:ln w="12700">
            <a:solidFill>
              <a:srgbClr val="5335C9"/>
            </a:solidFill>
            <a:prstDash val="solid"/>
          </a:ln>
        </p:spPr>
      </p:sp>
      <p:sp>
        <p:nvSpPr>
          <p:cNvPr id="18" name="Text 12"/>
          <p:cNvSpPr txBox="1"/>
          <p:nvPr/>
        </p:nvSpPr>
        <p:spPr>
          <a:xfrm>
            <a:off x="7214616" y="4151376"/>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Music, health, contacts and calendars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02 · HARDWARE &amp; CONNECTIVITY</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Radios, sensors and the local network</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One API across iOS, Android, Windows, macOS and beyond.</a:t>
            </a:r>
            <a:endParaRPr lang="en-US" sz="1350" dirty="0"/>
          </a:p>
        </p:txBody>
      </p:sp>
      <p:sp>
        <p:nvSpPr>
          <p:cNvPr id="6" name="Shape 3"/>
          <p:cNvSpPr/>
          <p:nvPr/>
        </p:nvSpPr>
        <p:spPr>
          <a:xfrm>
            <a:off x="566928" y="2103120"/>
            <a:ext cx="2599868" cy="1874520"/>
          </a:xfrm>
          <a:prstGeom prst="roundRect">
            <a:avLst>
              <a:gd name="adj" fmla="val 3415"/>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04672" y="2322576"/>
            <a:ext cx="384048" cy="384048"/>
          </a:xfrm>
          <a:prstGeom prst="roundRect">
            <a:avLst>
              <a:gd name="adj" fmla="val 66667"/>
            </a:avLst>
          </a:prstGeom>
          <a:solidFill>
            <a:srgbClr val="9B7BFF"/>
          </a:solidFill>
          <a:ln w="12700">
            <a:solidFill>
              <a:srgbClr val="9B7BFF"/>
            </a:solidFill>
            <a:prstDash val="solid"/>
          </a:ln>
        </p:spPr>
      </p:sp>
      <p:pic>
        <p:nvPicPr>
          <p:cNvPr id="8" name="Image 1" descr="preencoded.png">    </p:cNvPr>
          <p:cNvPicPr>
            <a:picLocks noChangeAspect="1"/>
          </p:cNvPicPr>
          <p:nvPr/>
        </p:nvPicPr>
        <p:blipFill>
          <a:blip r:embed="rId2"/>
          <a:stretch>
            <a:fillRect/>
          </a:stretch>
        </p:blipFill>
        <p:spPr>
          <a:xfrm>
            <a:off x="904524" y="2422428"/>
            <a:ext cx="184343" cy="184343"/>
          </a:xfrm>
          <a:prstGeom prst="rect">
            <a:avLst/>
          </a:prstGeom>
        </p:spPr>
      </p:pic>
      <p:sp>
        <p:nvSpPr>
          <p:cNvPr id="9" name="Text 5"/>
          <p:cNvSpPr txBox="1"/>
          <p:nvPr/>
        </p:nvSpPr>
        <p:spPr>
          <a:xfrm>
            <a:off x="1353312" y="2395728"/>
            <a:ext cx="1630604"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Bluetooth LE</a:t>
            </a:r>
            <a:endParaRPr lang="en-US" sz="1250" dirty="0"/>
          </a:p>
        </p:txBody>
      </p:sp>
      <p:sp>
        <p:nvSpPr>
          <p:cNvPr id="10" name="Text 6"/>
          <p:cNvSpPr txBox="1"/>
          <p:nvPr/>
        </p:nvSpPr>
        <p:spPr>
          <a:xfrm>
            <a:off x="804672" y="2852928"/>
            <a:ext cx="2124380" cy="978408"/>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Full BLE client — scanning, connection management, GATT services and background operations.</a:t>
            </a:r>
            <a:endParaRPr lang="en-US" sz="1000" dirty="0"/>
          </a:p>
        </p:txBody>
      </p:sp>
      <p:sp>
        <p:nvSpPr>
          <p:cNvPr id="11" name="Shape 7"/>
          <p:cNvSpPr/>
          <p:nvPr/>
        </p:nvSpPr>
        <p:spPr>
          <a:xfrm>
            <a:off x="3386252" y="2103120"/>
            <a:ext cx="2599868" cy="1874520"/>
          </a:xfrm>
          <a:prstGeom prst="roundRect">
            <a:avLst>
              <a:gd name="adj" fmla="val 3415"/>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2" name="Shape 8"/>
          <p:cNvSpPr/>
          <p:nvPr/>
        </p:nvSpPr>
        <p:spPr>
          <a:xfrm>
            <a:off x="3623996" y="2322576"/>
            <a:ext cx="384048" cy="384048"/>
          </a:xfrm>
          <a:prstGeom prst="roundRect">
            <a:avLst>
              <a:gd name="adj" fmla="val 66667"/>
            </a:avLst>
          </a:prstGeom>
          <a:solidFill>
            <a:srgbClr val="2BE5A0"/>
          </a:solidFill>
          <a:ln w="12700">
            <a:solidFill>
              <a:srgbClr val="2BE5A0"/>
            </a:solidFill>
            <a:prstDash val="solid"/>
          </a:ln>
        </p:spPr>
      </p:sp>
      <p:pic>
        <p:nvPicPr>
          <p:cNvPr id="13" name="Image 2" descr="preencoded.png">    </p:cNvPr>
          <p:cNvPicPr>
            <a:picLocks noChangeAspect="1"/>
          </p:cNvPicPr>
          <p:nvPr/>
        </p:nvPicPr>
        <p:blipFill>
          <a:blip r:embed="rId3"/>
          <a:stretch>
            <a:fillRect/>
          </a:stretch>
        </p:blipFill>
        <p:spPr>
          <a:xfrm>
            <a:off x="3723848" y="2422428"/>
            <a:ext cx="184343" cy="184343"/>
          </a:xfrm>
          <a:prstGeom prst="rect">
            <a:avLst/>
          </a:prstGeom>
        </p:spPr>
      </p:pic>
      <p:sp>
        <p:nvSpPr>
          <p:cNvPr id="14" name="Text 9"/>
          <p:cNvSpPr txBox="1"/>
          <p:nvPr/>
        </p:nvSpPr>
        <p:spPr>
          <a:xfrm>
            <a:off x="4172636" y="2395728"/>
            <a:ext cx="1630604"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BLE Hosting</a:t>
            </a:r>
            <a:endParaRPr lang="en-US" sz="1250" dirty="0"/>
          </a:p>
        </p:txBody>
      </p:sp>
      <p:sp>
        <p:nvSpPr>
          <p:cNvPr id="15" name="Text 10"/>
          <p:cNvSpPr txBox="1"/>
          <p:nvPr/>
        </p:nvSpPr>
        <p:spPr>
          <a:xfrm>
            <a:off x="3623996" y="2852928"/>
            <a:ext cx="2124380" cy="978408"/>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Advertise your device as a BLE peripheral with custom GATT services.</a:t>
            </a:r>
            <a:endParaRPr lang="en-US" sz="1000" dirty="0"/>
          </a:p>
        </p:txBody>
      </p:sp>
      <p:sp>
        <p:nvSpPr>
          <p:cNvPr id="16" name="Shape 11"/>
          <p:cNvSpPr/>
          <p:nvPr/>
        </p:nvSpPr>
        <p:spPr>
          <a:xfrm>
            <a:off x="6205576" y="2103120"/>
            <a:ext cx="2599868" cy="1874520"/>
          </a:xfrm>
          <a:prstGeom prst="roundRect">
            <a:avLst>
              <a:gd name="adj" fmla="val 3415"/>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6443320" y="2322576"/>
            <a:ext cx="384048" cy="384048"/>
          </a:xfrm>
          <a:prstGeom prst="roundRect">
            <a:avLst>
              <a:gd name="adj" fmla="val 66667"/>
            </a:avLst>
          </a:prstGeom>
          <a:solidFill>
            <a:srgbClr val="CFFA12"/>
          </a:solidFill>
          <a:ln w="12700">
            <a:solidFill>
              <a:srgbClr val="CFFA12"/>
            </a:solidFill>
            <a:prstDash val="solid"/>
          </a:ln>
        </p:spPr>
      </p:sp>
      <p:pic>
        <p:nvPicPr>
          <p:cNvPr id="18" name="Image 3" descr="preencoded.png">    </p:cNvPr>
          <p:cNvPicPr>
            <a:picLocks noChangeAspect="1"/>
          </p:cNvPicPr>
          <p:nvPr/>
        </p:nvPicPr>
        <p:blipFill>
          <a:blip r:embed="rId4"/>
          <a:stretch>
            <a:fillRect/>
          </a:stretch>
        </p:blipFill>
        <p:spPr>
          <a:xfrm>
            <a:off x="6543172" y="2422428"/>
            <a:ext cx="184343" cy="184343"/>
          </a:xfrm>
          <a:prstGeom prst="rect">
            <a:avLst/>
          </a:prstGeom>
        </p:spPr>
      </p:pic>
      <p:sp>
        <p:nvSpPr>
          <p:cNvPr id="19" name="Text 13"/>
          <p:cNvSpPr txBox="1"/>
          <p:nvPr/>
        </p:nvSpPr>
        <p:spPr>
          <a:xfrm>
            <a:off x="6991960" y="2395728"/>
            <a:ext cx="1630604"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GPS &amp; Geofencing</a:t>
            </a:r>
            <a:endParaRPr lang="en-US" sz="1250" dirty="0"/>
          </a:p>
        </p:txBody>
      </p:sp>
      <p:sp>
        <p:nvSpPr>
          <p:cNvPr id="20" name="Text 14"/>
          <p:cNvSpPr txBox="1"/>
          <p:nvPr/>
        </p:nvSpPr>
        <p:spPr>
          <a:xfrm>
            <a:off x="6443320" y="2852928"/>
            <a:ext cx="2124380" cy="978408"/>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Foreground and background location tracking with geofence monitoring.</a:t>
            </a:r>
            <a:endParaRPr lang="en-US" sz="1000" dirty="0"/>
          </a:p>
        </p:txBody>
      </p:sp>
      <p:sp>
        <p:nvSpPr>
          <p:cNvPr id="21" name="Shape 15"/>
          <p:cNvSpPr/>
          <p:nvPr/>
        </p:nvSpPr>
        <p:spPr>
          <a:xfrm>
            <a:off x="9024899" y="2103120"/>
            <a:ext cx="2599868" cy="1874520"/>
          </a:xfrm>
          <a:prstGeom prst="roundRect">
            <a:avLst>
              <a:gd name="adj" fmla="val 3415"/>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Shape 16"/>
          <p:cNvSpPr/>
          <p:nvPr/>
        </p:nvSpPr>
        <p:spPr>
          <a:xfrm>
            <a:off x="9262643" y="2322576"/>
            <a:ext cx="384048" cy="384048"/>
          </a:xfrm>
          <a:prstGeom prst="roundRect">
            <a:avLst>
              <a:gd name="adj" fmla="val 66667"/>
            </a:avLst>
          </a:prstGeom>
          <a:solidFill>
            <a:srgbClr val="9B7BFF"/>
          </a:solidFill>
          <a:ln w="12700">
            <a:solidFill>
              <a:srgbClr val="9B7BFF"/>
            </a:solidFill>
            <a:prstDash val="solid"/>
          </a:ln>
        </p:spPr>
      </p:sp>
      <p:pic>
        <p:nvPicPr>
          <p:cNvPr id="23" name="Image 4" descr="preencoded.png">    </p:cNvPr>
          <p:cNvPicPr>
            <a:picLocks noChangeAspect="1"/>
          </p:cNvPicPr>
          <p:nvPr/>
        </p:nvPicPr>
        <p:blipFill>
          <a:blip r:embed="rId5"/>
          <a:stretch>
            <a:fillRect/>
          </a:stretch>
        </p:blipFill>
        <p:spPr>
          <a:xfrm>
            <a:off x="9362496" y="2422428"/>
            <a:ext cx="184343" cy="184343"/>
          </a:xfrm>
          <a:prstGeom prst="rect">
            <a:avLst/>
          </a:prstGeom>
        </p:spPr>
      </p:pic>
      <p:sp>
        <p:nvSpPr>
          <p:cNvPr id="24" name="Text 17"/>
          <p:cNvSpPr txBox="1"/>
          <p:nvPr/>
        </p:nvSpPr>
        <p:spPr>
          <a:xfrm>
            <a:off x="9811283" y="2395728"/>
            <a:ext cx="1630604"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OBD</a:t>
            </a:r>
            <a:endParaRPr lang="en-US" sz="1250" dirty="0"/>
          </a:p>
        </p:txBody>
      </p:sp>
      <p:sp>
        <p:nvSpPr>
          <p:cNvPr id="25" name="Text 18"/>
          <p:cNvSpPr txBox="1"/>
          <p:nvPr/>
        </p:nvSpPr>
        <p:spPr>
          <a:xfrm>
            <a:off x="9262643" y="2852928"/>
            <a:ext cx="2124380" cy="978408"/>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On-board diagnostics over BLE with extensible commands and custom transports.</a:t>
            </a:r>
            <a:endParaRPr lang="en-US" sz="1000" dirty="0"/>
          </a:p>
        </p:txBody>
      </p:sp>
      <p:sp>
        <p:nvSpPr>
          <p:cNvPr id="26" name="Shape 19"/>
          <p:cNvSpPr/>
          <p:nvPr/>
        </p:nvSpPr>
        <p:spPr>
          <a:xfrm>
            <a:off x="566928" y="4215384"/>
            <a:ext cx="2599868" cy="1874520"/>
          </a:xfrm>
          <a:prstGeom prst="roundRect">
            <a:avLst>
              <a:gd name="adj" fmla="val 3415"/>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7" name="Shape 20"/>
          <p:cNvSpPr/>
          <p:nvPr/>
        </p:nvSpPr>
        <p:spPr>
          <a:xfrm>
            <a:off x="804672" y="4434840"/>
            <a:ext cx="384048" cy="384048"/>
          </a:xfrm>
          <a:prstGeom prst="roundRect">
            <a:avLst>
              <a:gd name="adj" fmla="val 66667"/>
            </a:avLst>
          </a:prstGeom>
          <a:solidFill>
            <a:srgbClr val="2BE5A0"/>
          </a:solidFill>
          <a:ln w="12700">
            <a:solidFill>
              <a:srgbClr val="2BE5A0"/>
            </a:solidFill>
            <a:prstDash val="solid"/>
          </a:ln>
        </p:spPr>
      </p:sp>
      <p:pic>
        <p:nvPicPr>
          <p:cNvPr id="28" name="Image 5" descr="preencoded.png">    </p:cNvPr>
          <p:cNvPicPr>
            <a:picLocks noChangeAspect="1"/>
          </p:cNvPicPr>
          <p:nvPr/>
        </p:nvPicPr>
        <p:blipFill>
          <a:blip r:embed="rId6"/>
          <a:stretch>
            <a:fillRect/>
          </a:stretch>
        </p:blipFill>
        <p:spPr>
          <a:xfrm>
            <a:off x="904524" y="4534692"/>
            <a:ext cx="184343" cy="184343"/>
          </a:xfrm>
          <a:prstGeom prst="rect">
            <a:avLst/>
          </a:prstGeom>
        </p:spPr>
      </p:pic>
      <p:sp>
        <p:nvSpPr>
          <p:cNvPr id="29" name="Text 21"/>
          <p:cNvSpPr txBox="1"/>
          <p:nvPr/>
        </p:nvSpPr>
        <p:spPr>
          <a:xfrm>
            <a:off x="1353312" y="4507992"/>
            <a:ext cx="1630604"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Network Discovery</a:t>
            </a:r>
            <a:endParaRPr lang="en-US" sz="1250" dirty="0"/>
          </a:p>
        </p:txBody>
      </p:sp>
      <p:sp>
        <p:nvSpPr>
          <p:cNvPr id="30" name="Text 22"/>
          <p:cNvSpPr txBox="1"/>
          <p:nvPr/>
        </p:nvSpPr>
        <p:spPr>
          <a:xfrm>
            <a:off x="804672" y="4965192"/>
            <a:ext cx="2124380" cy="978408"/>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mDNS/DNS-SD, SSDP/UPnP and WS-Discovery — find printers, cameras, IoT and your own app.</a:t>
            </a:r>
            <a:endParaRPr lang="en-US" sz="1000" dirty="0"/>
          </a:p>
        </p:txBody>
      </p:sp>
      <p:sp>
        <p:nvSpPr>
          <p:cNvPr id="31" name="Shape 23"/>
          <p:cNvSpPr/>
          <p:nvPr/>
        </p:nvSpPr>
        <p:spPr>
          <a:xfrm>
            <a:off x="3386252" y="4215384"/>
            <a:ext cx="2599868" cy="1874520"/>
          </a:xfrm>
          <a:prstGeom prst="roundRect">
            <a:avLst>
              <a:gd name="adj" fmla="val 3415"/>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2" name="Shape 24"/>
          <p:cNvSpPr/>
          <p:nvPr/>
        </p:nvSpPr>
        <p:spPr>
          <a:xfrm>
            <a:off x="3623996" y="4434840"/>
            <a:ext cx="384048" cy="384048"/>
          </a:xfrm>
          <a:prstGeom prst="roundRect">
            <a:avLst>
              <a:gd name="adj" fmla="val 66667"/>
            </a:avLst>
          </a:prstGeom>
          <a:solidFill>
            <a:srgbClr val="9B7BFF"/>
          </a:solidFill>
          <a:ln w="12700">
            <a:solidFill>
              <a:srgbClr val="9B7BFF"/>
            </a:solidFill>
            <a:prstDash val="solid"/>
          </a:ln>
        </p:spPr>
      </p:sp>
      <p:pic>
        <p:nvPicPr>
          <p:cNvPr id="33" name="Image 6" descr="preencoded.png">    </p:cNvPr>
          <p:cNvPicPr>
            <a:picLocks noChangeAspect="1"/>
          </p:cNvPicPr>
          <p:nvPr/>
        </p:nvPicPr>
        <p:blipFill>
          <a:blip r:embed="rId7"/>
          <a:stretch>
            <a:fillRect/>
          </a:stretch>
        </p:blipFill>
        <p:spPr>
          <a:xfrm>
            <a:off x="3723848" y="4534692"/>
            <a:ext cx="184343" cy="184343"/>
          </a:xfrm>
          <a:prstGeom prst="rect">
            <a:avLst/>
          </a:prstGeom>
        </p:spPr>
      </p:pic>
      <p:sp>
        <p:nvSpPr>
          <p:cNvPr id="34" name="Text 25"/>
          <p:cNvSpPr txBox="1"/>
          <p:nvPr/>
        </p:nvSpPr>
        <p:spPr>
          <a:xfrm>
            <a:off x="4172636" y="4507992"/>
            <a:ext cx="1630604"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Wi-Fi</a:t>
            </a:r>
            <a:endParaRPr lang="en-US" sz="1250" dirty="0"/>
          </a:p>
        </p:txBody>
      </p:sp>
      <p:sp>
        <p:nvSpPr>
          <p:cNvPr id="35" name="Text 26"/>
          <p:cNvSpPr txBox="1"/>
          <p:nvPr/>
        </p:nvSpPr>
        <p:spPr>
          <a:xfrm>
            <a:off x="3623996" y="4965192"/>
            <a:ext cx="2124380" cy="978408"/>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Enumerate and connect to networks, manage known networks, control the device hotspot.</a:t>
            </a:r>
            <a:endParaRPr lang="en-US" sz="1000" dirty="0"/>
          </a:p>
        </p:txBody>
      </p:sp>
      <p:sp>
        <p:nvSpPr>
          <p:cNvPr id="36" name="Shape 27"/>
          <p:cNvSpPr/>
          <p:nvPr/>
        </p:nvSpPr>
        <p:spPr>
          <a:xfrm>
            <a:off x="6205576" y="4215384"/>
            <a:ext cx="2599868" cy="1874520"/>
          </a:xfrm>
          <a:prstGeom prst="roundRect">
            <a:avLst>
              <a:gd name="adj" fmla="val 3415"/>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7" name="Shape 28"/>
          <p:cNvSpPr/>
          <p:nvPr/>
        </p:nvSpPr>
        <p:spPr>
          <a:xfrm>
            <a:off x="6443320" y="4434840"/>
            <a:ext cx="384048" cy="384048"/>
          </a:xfrm>
          <a:prstGeom prst="roundRect">
            <a:avLst>
              <a:gd name="adj" fmla="val 66667"/>
            </a:avLst>
          </a:prstGeom>
          <a:solidFill>
            <a:srgbClr val="2BE5A0"/>
          </a:solidFill>
          <a:ln w="12700">
            <a:solidFill>
              <a:srgbClr val="2BE5A0"/>
            </a:solidFill>
            <a:prstDash val="solid"/>
          </a:ln>
        </p:spPr>
      </p:sp>
      <p:pic>
        <p:nvPicPr>
          <p:cNvPr id="38" name="Image 7" descr="preencoded.png">    </p:cNvPr>
          <p:cNvPicPr>
            <a:picLocks noChangeAspect="1"/>
          </p:cNvPicPr>
          <p:nvPr/>
        </p:nvPicPr>
        <p:blipFill>
          <a:blip r:embed="rId8"/>
          <a:stretch>
            <a:fillRect/>
          </a:stretch>
        </p:blipFill>
        <p:spPr>
          <a:xfrm>
            <a:off x="6543172" y="4534692"/>
            <a:ext cx="184343" cy="184343"/>
          </a:xfrm>
          <a:prstGeom prst="rect">
            <a:avLst/>
          </a:prstGeom>
        </p:spPr>
      </p:pic>
      <p:sp>
        <p:nvSpPr>
          <p:cNvPr id="39" name="Text 29"/>
          <p:cNvSpPr txBox="1"/>
          <p:nvPr/>
        </p:nvSpPr>
        <p:spPr>
          <a:xfrm>
            <a:off x="6991960" y="4507992"/>
            <a:ext cx="1630604"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Screen Recording</a:t>
            </a:r>
            <a:endParaRPr lang="en-US" sz="1250" dirty="0"/>
          </a:p>
        </p:txBody>
      </p:sp>
      <p:sp>
        <p:nvSpPr>
          <p:cNvPr id="40" name="Text 30"/>
          <p:cNvSpPr txBox="1"/>
          <p:nvPr/>
        </p:nvSpPr>
        <p:spPr>
          <a:xfrm>
            <a:off x="6443320" y="4965192"/>
            <a:ext cx="2124380" cy="978408"/>
          </a:xfrm>
          <a:prstGeom prst="rect">
            <a:avLst/>
          </a:prstGeom>
          <a:noFill/>
          <a:ln/>
        </p:spPr>
        <p:txBody>
          <a:bodyPr wrap="square" lIns="0" tIns="0" rIns="0" bIns="0" rtlCol="0" anchor="t"/>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Capture the device screen with the platform’s native recorder.</a:t>
            </a:r>
            <a:endParaRPr lang="en-US" sz="1000" dirty="0"/>
          </a:p>
        </p:txBody>
      </p:sp>
      <p:sp>
        <p:nvSpPr>
          <p:cNvPr id="41" name="Shape 31"/>
          <p:cNvSpPr/>
          <p:nvPr/>
        </p:nvSpPr>
        <p:spPr>
          <a:xfrm>
            <a:off x="9024899" y="4215384"/>
            <a:ext cx="2599868" cy="1874520"/>
          </a:xfrm>
          <a:prstGeom prst="roundRect">
            <a:avLst>
              <a:gd name="adj" fmla="val 3415"/>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42" name="Text 32"/>
          <p:cNvSpPr txBox="1"/>
          <p:nvPr/>
        </p:nvSpPr>
        <p:spPr>
          <a:xfrm>
            <a:off x="9262643" y="4434840"/>
            <a:ext cx="2124380" cy="457200"/>
          </a:xfrm>
          <a:prstGeom prst="rect">
            <a:avLst/>
          </a:prstGeom>
          <a:noFill/>
          <a:ln/>
        </p:spPr>
        <p:txBody>
          <a:bodyPr wrap="square" lIns="0" tIns="0" rIns="0" bIns="0" rtlCol="0" anchor="ctr"/>
          <a:lstStyle/>
          <a:p>
            <a:pPr indent="0" marL="0">
              <a:buNone/>
            </a:pPr>
            <a:r>
              <a:rPr lang="en-US" sz="1250" b="1" dirty="0">
                <a:solidFill>
                  <a:srgbClr val="CFFA12"/>
                </a:solidFill>
                <a:latin typeface="Calibri" pitchFamily="34" charset="0"/>
                <a:ea typeface="Calibri" pitchFamily="34" charset="-122"/>
                <a:cs typeface="Calibri" pitchFamily="34" charset="-120"/>
              </a:rPr>
              <a:t>Battery-aware by design</a:t>
            </a:r>
            <a:endParaRPr lang="en-US" sz="1250" dirty="0"/>
          </a:p>
        </p:txBody>
      </p:sp>
      <p:sp>
        <p:nvSpPr>
          <p:cNvPr id="43" name="Text 33"/>
          <p:cNvSpPr txBox="1"/>
          <p:nvPr/>
        </p:nvSpPr>
        <p:spPr>
          <a:xfrm>
            <a:off x="9262643" y="4892040"/>
            <a:ext cx="2124380" cy="1005840"/>
          </a:xfrm>
          <a:prstGeom prst="rect">
            <a:avLst/>
          </a:prstGeom>
          <a:noFill/>
          <a:ln/>
        </p:spPr>
        <p:txBody>
          <a:bodyPr wrap="square" lIns="0" tIns="0" rIns="0" bIns="0" rtlCol="0" anchor="ctr"/>
          <a:lstStyle/>
          <a:p>
            <a:pPr indent="0" marL="0">
              <a:lnSpc>
                <a:spcPts val="1300"/>
              </a:lnSpc>
              <a:buNone/>
            </a:pPr>
            <a:r>
              <a:rPr lang="en-US" sz="1050" dirty="0">
                <a:solidFill>
                  <a:srgbClr val="AFA8CE"/>
                </a:solidFill>
                <a:latin typeface="Calibri" pitchFamily="34" charset="0"/>
                <a:ea typeface="Calibri" pitchFamily="34" charset="-122"/>
                <a:cs typeface="Calibri" pitchFamily="34" charset="-120"/>
              </a:rPr>
              <a:t>Scanning, tracking and background work use each platform’s power-managed APIs and restore themselves after a reboot or an app kill.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02 · DEVICE DATA</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data the OS already owns</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Music, health, contacts and calendars behind one cross-platform API — with permissions handled for you.</a:t>
            </a:r>
            <a:endParaRPr lang="en-US" sz="1350" dirty="0"/>
          </a:p>
        </p:txBody>
      </p:sp>
      <p:sp>
        <p:nvSpPr>
          <p:cNvPr id="6" name="Shape 3"/>
          <p:cNvSpPr/>
          <p:nvPr/>
        </p:nvSpPr>
        <p:spPr>
          <a:xfrm>
            <a:off x="566928" y="2148840"/>
            <a:ext cx="5391760" cy="1783080"/>
          </a:xfrm>
          <a:prstGeom prst="roundRect">
            <a:avLst>
              <a:gd name="adj" fmla="val 359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04672" y="2368296"/>
            <a:ext cx="457200" cy="457200"/>
          </a:xfrm>
          <a:prstGeom prst="roundRect">
            <a:avLst>
              <a:gd name="adj" fmla="val 56000"/>
            </a:avLst>
          </a:prstGeom>
          <a:solidFill>
            <a:srgbClr val="9B7BFF"/>
          </a:solidFill>
          <a:ln w="12700">
            <a:solidFill>
              <a:srgbClr val="9B7BFF"/>
            </a:solidFill>
            <a:prstDash val="solid"/>
          </a:ln>
        </p:spPr>
      </p:sp>
      <p:pic>
        <p:nvPicPr>
          <p:cNvPr id="8" name="Image 1" descr="preencoded.png">    </p:cNvPr>
          <p:cNvPicPr>
            <a:picLocks noChangeAspect="1"/>
          </p:cNvPicPr>
          <p:nvPr/>
        </p:nvPicPr>
        <p:blipFill>
          <a:blip r:embed="rId2"/>
          <a:stretch>
            <a:fillRect/>
          </a:stretch>
        </p:blipFill>
        <p:spPr>
          <a:xfrm>
            <a:off x="923544" y="2487168"/>
            <a:ext cx="219456" cy="219456"/>
          </a:xfrm>
          <a:prstGeom prst="rect">
            <a:avLst/>
          </a:prstGeom>
        </p:spPr>
      </p:pic>
      <p:sp>
        <p:nvSpPr>
          <p:cNvPr id="9" name="Text 5"/>
          <p:cNvSpPr txBox="1"/>
          <p:nvPr/>
        </p:nvSpPr>
        <p:spPr>
          <a:xfrm>
            <a:off x="1426464" y="2478024"/>
            <a:ext cx="4349344" cy="2560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Music Library</a:t>
            </a:r>
            <a:endParaRPr lang="en-US" sz="1500" dirty="0"/>
          </a:p>
        </p:txBody>
      </p:sp>
      <p:sp>
        <p:nvSpPr>
          <p:cNvPr id="10" name="Text 6"/>
          <p:cNvSpPr txBox="1"/>
          <p:nvPr/>
        </p:nvSpPr>
        <p:spPr>
          <a:xfrm>
            <a:off x="804672" y="2971800"/>
            <a:ext cx="4916272" cy="813816"/>
          </a:xfrm>
          <a:prstGeom prst="rect">
            <a:avLst/>
          </a:prstGeom>
          <a:noFill/>
          <a:ln/>
        </p:spPr>
        <p:txBody>
          <a:bodyPr wrap="square" lIns="0" tIns="0" rIns="0" bIns="0" rtlCol="0" anchor="t"/>
          <a:lstStyle/>
          <a:p>
            <a:pPr indent="0" marL="0">
              <a:lnSpc>
                <a:spcPts val="1600"/>
              </a:lnSpc>
              <a:buNone/>
            </a:pPr>
            <a:r>
              <a:rPr lang="en-US" sz="1200" dirty="0">
                <a:solidFill>
                  <a:srgbClr val="AFA8CE"/>
                </a:solidFill>
                <a:latin typeface="Calibri" pitchFamily="34" charset="0"/>
                <a:ea typeface="Calibri" pitchFamily="34" charset="-122"/>
                <a:cs typeface="Calibri" pitchFamily="34" charset="-120"/>
              </a:rPr>
              <a:t>Query tracks, browse by genre, decade or playlist, and play music straight from the device library.</a:t>
            </a:r>
            <a:endParaRPr lang="en-US" sz="1200" dirty="0"/>
          </a:p>
        </p:txBody>
      </p:sp>
      <p:sp>
        <p:nvSpPr>
          <p:cNvPr id="11" name="Shape 7"/>
          <p:cNvSpPr/>
          <p:nvPr/>
        </p:nvSpPr>
        <p:spPr>
          <a:xfrm>
            <a:off x="6233008" y="2148840"/>
            <a:ext cx="5391760" cy="1783080"/>
          </a:xfrm>
          <a:prstGeom prst="roundRect">
            <a:avLst>
              <a:gd name="adj" fmla="val 359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2" name="Shape 8"/>
          <p:cNvSpPr/>
          <p:nvPr/>
        </p:nvSpPr>
        <p:spPr>
          <a:xfrm>
            <a:off x="6470752" y="2368296"/>
            <a:ext cx="457200" cy="457200"/>
          </a:xfrm>
          <a:prstGeom prst="roundRect">
            <a:avLst>
              <a:gd name="adj" fmla="val 56000"/>
            </a:avLst>
          </a:prstGeom>
          <a:solidFill>
            <a:srgbClr val="2BE5A0"/>
          </a:solidFill>
          <a:ln w="12700">
            <a:solidFill>
              <a:srgbClr val="2BE5A0"/>
            </a:solidFill>
            <a:prstDash val="solid"/>
          </a:ln>
        </p:spPr>
      </p:sp>
      <p:pic>
        <p:nvPicPr>
          <p:cNvPr id="13" name="Image 2" descr="preencoded.png">    </p:cNvPr>
          <p:cNvPicPr>
            <a:picLocks noChangeAspect="1"/>
          </p:cNvPicPr>
          <p:nvPr/>
        </p:nvPicPr>
        <p:blipFill>
          <a:blip r:embed="rId3"/>
          <a:stretch>
            <a:fillRect/>
          </a:stretch>
        </p:blipFill>
        <p:spPr>
          <a:xfrm>
            <a:off x="6589624" y="2487168"/>
            <a:ext cx="219456" cy="219456"/>
          </a:xfrm>
          <a:prstGeom prst="rect">
            <a:avLst/>
          </a:prstGeom>
        </p:spPr>
      </p:pic>
      <p:sp>
        <p:nvSpPr>
          <p:cNvPr id="14" name="Text 9"/>
          <p:cNvSpPr txBox="1"/>
          <p:nvPr/>
        </p:nvSpPr>
        <p:spPr>
          <a:xfrm>
            <a:off x="7092544" y="2478024"/>
            <a:ext cx="4349344" cy="2560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Health Data</a:t>
            </a:r>
            <a:endParaRPr lang="en-US" sz="1500" dirty="0"/>
          </a:p>
        </p:txBody>
      </p:sp>
      <p:sp>
        <p:nvSpPr>
          <p:cNvPr id="15" name="Text 10"/>
          <p:cNvSpPr txBox="1"/>
          <p:nvPr/>
        </p:nvSpPr>
        <p:spPr>
          <a:xfrm>
            <a:off x="6470752" y="2971800"/>
            <a:ext cx="4916272" cy="813816"/>
          </a:xfrm>
          <a:prstGeom prst="rect">
            <a:avLst/>
          </a:prstGeom>
          <a:noFill/>
          <a:ln/>
        </p:spPr>
        <p:txBody>
          <a:bodyPr wrap="square" lIns="0" tIns="0" rIns="0" bIns="0" rtlCol="0" anchor="t"/>
          <a:lstStyle/>
          <a:p>
            <a:pPr indent="0" marL="0">
              <a:lnSpc>
                <a:spcPts val="1600"/>
              </a:lnSpc>
              <a:buNone/>
            </a:pPr>
            <a:r>
              <a:rPr lang="en-US" sz="1200" dirty="0">
                <a:solidFill>
                  <a:srgbClr val="AFA8CE"/>
                </a:solidFill>
                <a:latin typeface="Calibri" pitchFamily="34" charset="0"/>
                <a:ea typeface="Calibri" pitchFamily="34" charset="-122"/>
                <a:cs typeface="Calibri" pitchFamily="34" charset="-120"/>
              </a:rPr>
              <a:t>Apple HealthKit and Android Health Connect unified — 12 metrics including steps, heart rate, blood pressure and sleep.</a:t>
            </a:r>
            <a:endParaRPr lang="en-US" sz="1200" dirty="0"/>
          </a:p>
        </p:txBody>
      </p:sp>
      <p:sp>
        <p:nvSpPr>
          <p:cNvPr id="16" name="Shape 11"/>
          <p:cNvSpPr/>
          <p:nvPr/>
        </p:nvSpPr>
        <p:spPr>
          <a:xfrm>
            <a:off x="566928" y="4187952"/>
            <a:ext cx="5391760" cy="1783080"/>
          </a:xfrm>
          <a:prstGeom prst="roundRect">
            <a:avLst>
              <a:gd name="adj" fmla="val 359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804672" y="4407408"/>
            <a:ext cx="457200" cy="457200"/>
          </a:xfrm>
          <a:prstGeom prst="roundRect">
            <a:avLst>
              <a:gd name="adj" fmla="val 56000"/>
            </a:avLst>
          </a:prstGeom>
          <a:solidFill>
            <a:srgbClr val="CFFA12"/>
          </a:solidFill>
          <a:ln w="12700">
            <a:solidFill>
              <a:srgbClr val="CFFA12"/>
            </a:solidFill>
            <a:prstDash val="solid"/>
          </a:ln>
        </p:spPr>
      </p:sp>
      <p:pic>
        <p:nvPicPr>
          <p:cNvPr id="18" name="Image 3" descr="preencoded.png">    </p:cNvPr>
          <p:cNvPicPr>
            <a:picLocks noChangeAspect="1"/>
          </p:cNvPicPr>
          <p:nvPr/>
        </p:nvPicPr>
        <p:blipFill>
          <a:blip r:embed="rId4"/>
          <a:stretch>
            <a:fillRect/>
          </a:stretch>
        </p:blipFill>
        <p:spPr>
          <a:xfrm>
            <a:off x="923544" y="4526280"/>
            <a:ext cx="219456" cy="219456"/>
          </a:xfrm>
          <a:prstGeom prst="rect">
            <a:avLst/>
          </a:prstGeom>
        </p:spPr>
      </p:pic>
      <p:sp>
        <p:nvSpPr>
          <p:cNvPr id="19" name="Text 13"/>
          <p:cNvSpPr txBox="1"/>
          <p:nvPr/>
        </p:nvSpPr>
        <p:spPr>
          <a:xfrm>
            <a:off x="1426464" y="4517136"/>
            <a:ext cx="4349344" cy="2560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Contact Store</a:t>
            </a:r>
            <a:endParaRPr lang="en-US" sz="1500" dirty="0"/>
          </a:p>
        </p:txBody>
      </p:sp>
      <p:sp>
        <p:nvSpPr>
          <p:cNvPr id="20" name="Text 14"/>
          <p:cNvSpPr txBox="1"/>
          <p:nvPr/>
        </p:nvSpPr>
        <p:spPr>
          <a:xfrm>
            <a:off x="804672" y="5010912"/>
            <a:ext cx="4916272" cy="813816"/>
          </a:xfrm>
          <a:prstGeom prst="rect">
            <a:avLst/>
          </a:prstGeom>
          <a:noFill/>
          <a:ln/>
        </p:spPr>
        <p:txBody>
          <a:bodyPr wrap="square" lIns="0" tIns="0" rIns="0" bIns="0" rtlCol="0" anchor="t"/>
          <a:lstStyle/>
          <a:p>
            <a:pPr indent="0" marL="0">
              <a:lnSpc>
                <a:spcPts val="1600"/>
              </a:lnSpc>
              <a:buNone/>
            </a:pPr>
            <a:r>
              <a:rPr lang="en-US" sz="1200" dirty="0">
                <a:solidFill>
                  <a:srgbClr val="AFA8CE"/>
                </a:solidFill>
                <a:latin typeface="Calibri" pitchFamily="34" charset="0"/>
                <a:ea typeface="Calibri" pitchFamily="34" charset="-122"/>
                <a:cs typeface="Calibri" pitchFamily="34" charset="-120"/>
              </a:rPr>
              <a:t>Device contacts with full CRUD, LINQ queries translated to native predicates, and MAUI permission classes.</a:t>
            </a:r>
            <a:endParaRPr lang="en-US" sz="1200" dirty="0"/>
          </a:p>
        </p:txBody>
      </p:sp>
      <p:sp>
        <p:nvSpPr>
          <p:cNvPr id="21" name="Shape 15"/>
          <p:cNvSpPr/>
          <p:nvPr/>
        </p:nvSpPr>
        <p:spPr>
          <a:xfrm>
            <a:off x="6233008" y="4187952"/>
            <a:ext cx="5391760" cy="1783080"/>
          </a:xfrm>
          <a:prstGeom prst="roundRect">
            <a:avLst>
              <a:gd name="adj" fmla="val 359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Shape 16"/>
          <p:cNvSpPr/>
          <p:nvPr/>
        </p:nvSpPr>
        <p:spPr>
          <a:xfrm>
            <a:off x="6470752" y="4407408"/>
            <a:ext cx="457200" cy="457200"/>
          </a:xfrm>
          <a:prstGeom prst="roundRect">
            <a:avLst>
              <a:gd name="adj" fmla="val 56000"/>
            </a:avLst>
          </a:prstGeom>
          <a:solidFill>
            <a:srgbClr val="9B7BFF"/>
          </a:solidFill>
          <a:ln w="12700">
            <a:solidFill>
              <a:srgbClr val="9B7BFF"/>
            </a:solidFill>
            <a:prstDash val="solid"/>
          </a:ln>
        </p:spPr>
      </p:sp>
      <p:pic>
        <p:nvPicPr>
          <p:cNvPr id="23" name="Image 4" descr="preencoded.png">    </p:cNvPr>
          <p:cNvPicPr>
            <a:picLocks noChangeAspect="1"/>
          </p:cNvPicPr>
          <p:nvPr/>
        </p:nvPicPr>
        <p:blipFill>
          <a:blip r:embed="rId5"/>
          <a:stretch>
            <a:fillRect/>
          </a:stretch>
        </p:blipFill>
        <p:spPr>
          <a:xfrm>
            <a:off x="6589624" y="4526280"/>
            <a:ext cx="219456" cy="219456"/>
          </a:xfrm>
          <a:prstGeom prst="rect">
            <a:avLst/>
          </a:prstGeom>
        </p:spPr>
      </p:pic>
      <p:sp>
        <p:nvSpPr>
          <p:cNvPr id="24" name="Text 17"/>
          <p:cNvSpPr txBox="1"/>
          <p:nvPr/>
        </p:nvSpPr>
        <p:spPr>
          <a:xfrm>
            <a:off x="7092544" y="4517136"/>
            <a:ext cx="4349344" cy="2560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Calendar Store</a:t>
            </a:r>
            <a:endParaRPr lang="en-US" sz="1500" dirty="0"/>
          </a:p>
        </p:txBody>
      </p:sp>
      <p:sp>
        <p:nvSpPr>
          <p:cNvPr id="25" name="Text 18"/>
          <p:cNvSpPr txBox="1"/>
          <p:nvPr/>
        </p:nvSpPr>
        <p:spPr>
          <a:xfrm>
            <a:off x="6470752" y="5010912"/>
            <a:ext cx="4916272" cy="813816"/>
          </a:xfrm>
          <a:prstGeom prst="rect">
            <a:avLst/>
          </a:prstGeom>
          <a:noFill/>
          <a:ln/>
        </p:spPr>
        <p:txBody>
          <a:bodyPr wrap="square" lIns="0" tIns="0" rIns="0" bIns="0" rtlCol="0" anchor="t"/>
          <a:lstStyle/>
          <a:p>
            <a:pPr indent="0" marL="0">
              <a:lnSpc>
                <a:spcPts val="1600"/>
              </a:lnSpc>
              <a:buNone/>
            </a:pPr>
            <a:r>
              <a:rPr lang="en-US" sz="1200" dirty="0">
                <a:solidFill>
                  <a:srgbClr val="AFA8CE"/>
                </a:solidFill>
                <a:latin typeface="Calibri" pitchFamily="34" charset="0"/>
                <a:ea typeface="Calibri" pitchFamily="34" charset="-122"/>
                <a:cs typeface="Calibri" pitchFamily="34" charset="-120"/>
              </a:rPr>
              <a:t>Calendars and events on iOS, Mac Catalyst, macOS, Android and Windows. IQueryable&lt;CalendarEvent&gt; pushes the calendar id and date window into the native fetch; attendees, reminders, availability and iOS 17 write-only access included.</a:t>
            </a:r>
            <a:endParaRPr lang="en-US" sz="1200" dirty="0"/>
          </a:p>
        </p:txBody>
      </p:sp>
      <p:sp>
        <p:nvSpPr>
          <p:cNvPr id="26" name="Shape 19"/>
          <p:cNvSpPr/>
          <p:nvPr/>
        </p:nvSpPr>
        <p:spPr>
          <a:xfrm>
            <a:off x="566928" y="6144768"/>
            <a:ext cx="11057839" cy="475488"/>
          </a:xfrm>
          <a:prstGeom prst="roundRect">
            <a:avLst>
              <a:gd name="adj" fmla="val 13462"/>
            </a:avLst>
          </a:prstGeom>
          <a:solidFill>
            <a:srgbClr val="221A52"/>
          </a:solidFill>
          <a:ln w="12700">
            <a:solidFill>
              <a:srgbClr val="2E2665"/>
            </a:solidFill>
            <a:prstDash val="solid"/>
          </a:ln>
        </p:spPr>
      </p:sp>
      <p:sp>
        <p:nvSpPr>
          <p:cNvPr id="27" name="Text 20"/>
          <p:cNvSpPr txBox="1"/>
          <p:nvPr/>
        </p:nvSpPr>
        <p:spPr>
          <a:xfrm>
            <a:off x="932688" y="6144768"/>
            <a:ext cx="10326319" cy="47548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All four expose Shiny’s AccessState permission model, and all four are available as AI tools.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A15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pic>
        <p:nvPicPr>
          <p:cNvPr id="3" name="Image 1" descr="preencoded.png">    </p:cNvPr>
          <p:cNvPicPr>
            <a:picLocks noChangeAspect="1"/>
          </p:cNvPicPr>
          <p:nvPr/>
        </p:nvPicPr>
        <p:blipFill>
          <a:blip r:embed="rId2"/>
          <a:stretch>
            <a:fillRect/>
          </a:stretch>
        </p:blipFill>
        <p:spPr>
          <a:xfrm>
            <a:off x="566928" y="1737360"/>
            <a:ext cx="841248" cy="841248"/>
          </a:xfrm>
          <a:prstGeom prst="rect">
            <a:avLst/>
          </a:prstGeom>
        </p:spPr>
      </p:pic>
      <p:pic>
        <p:nvPicPr>
          <p:cNvPr id="4" name="Image 2" descr="preencoded.png">    </p:cNvPr>
          <p:cNvPicPr>
            <a:picLocks noChangeAspect="1"/>
          </p:cNvPicPr>
          <p:nvPr/>
        </p:nvPicPr>
        <p:blipFill>
          <a:blip r:embed="rId3"/>
          <a:stretch>
            <a:fillRect/>
          </a:stretch>
        </p:blipFill>
        <p:spPr>
          <a:xfrm>
            <a:off x="786384" y="1956816"/>
            <a:ext cx="402336" cy="402336"/>
          </a:xfrm>
          <a:prstGeom prst="rect">
            <a:avLst/>
          </a:prstGeom>
        </p:spPr>
      </p:pic>
      <p:sp>
        <p:nvSpPr>
          <p:cNvPr id="5" name="Text 0"/>
          <p:cNvSpPr txBox="1"/>
          <p:nvPr/>
        </p:nvSpPr>
        <p:spPr>
          <a:xfrm>
            <a:off x="566928" y="2852928"/>
            <a:ext cx="4572000" cy="237744"/>
          </a:xfrm>
          <a:prstGeom prst="rect">
            <a:avLst/>
          </a:prstGeom>
          <a:noFill/>
          <a:ln/>
        </p:spPr>
        <p:txBody>
          <a:bodyPr wrap="square" lIns="0" tIns="0" rIns="0" bIns="0" rtlCol="0" anchor="ctr"/>
          <a:lstStyle/>
          <a:p>
            <a:pPr indent="0" marL="0">
              <a:buNone/>
            </a:pPr>
            <a:r>
              <a:rPr lang="en-US" sz="1100" b="1" spc="260" kern="0" dirty="0">
                <a:solidFill>
                  <a:srgbClr val="CFFA12"/>
                </a:solidFill>
                <a:latin typeface="Calibri" pitchFamily="34" charset="0"/>
                <a:ea typeface="Calibri" pitchFamily="34" charset="-122"/>
                <a:cs typeface="Calibri" pitchFamily="34" charset="-120"/>
              </a:rPr>
              <a:t>SECTION 03</a:t>
            </a:r>
            <a:endParaRPr lang="en-US" sz="1100" dirty="0"/>
          </a:p>
        </p:txBody>
      </p:sp>
      <p:sp>
        <p:nvSpPr>
          <p:cNvPr id="6" name="Text 1"/>
          <p:cNvSpPr txBox="1"/>
          <p:nvPr/>
        </p:nvSpPr>
        <p:spPr>
          <a:xfrm>
            <a:off x="566928" y="3127248"/>
            <a:ext cx="603504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AI &amp; Intelligence</a:t>
            </a:r>
            <a:endParaRPr lang="en-US" sz="4000" dirty="0"/>
          </a:p>
        </p:txBody>
      </p:sp>
      <p:pic>
        <p:nvPicPr>
          <p:cNvPr id="7" name="Image 3" descr="preencoded.png">    </p:cNvPr>
          <p:cNvPicPr>
            <a:picLocks noChangeAspect="1"/>
          </p:cNvPicPr>
          <p:nvPr/>
        </p:nvPicPr>
        <p:blipFill>
          <a:blip r:embed="rId4"/>
          <a:stretch>
            <a:fillRect/>
          </a:stretch>
        </p:blipFill>
        <p:spPr>
          <a:xfrm>
            <a:off x="566928" y="3986784"/>
            <a:ext cx="2194560" cy="45720"/>
          </a:xfrm>
          <a:prstGeom prst="rect">
            <a:avLst/>
          </a:prstGeom>
        </p:spPr>
      </p:pic>
      <p:sp>
        <p:nvSpPr>
          <p:cNvPr id="8" name="Text 2"/>
          <p:cNvSpPr txBox="1"/>
          <p:nvPr/>
        </p:nvSpPr>
        <p:spPr>
          <a:xfrm>
            <a:off x="566928" y="4169664"/>
            <a:ext cx="5669280" cy="822960"/>
          </a:xfrm>
          <a:prstGeom prst="rect">
            <a:avLst/>
          </a:prstGeom>
          <a:noFill/>
          <a:ln/>
        </p:spPr>
        <p:txBody>
          <a:bodyPr wrap="square" lIns="0" tIns="0" rIns="0" bIns="0" rtlCol="0" anchor="ctr"/>
          <a:lstStyle/>
          <a:p>
            <a:pPr indent="0" marL="0">
              <a:lnSpc>
                <a:spcPts val="2000"/>
              </a:lnSpc>
              <a:buNone/>
            </a:pPr>
            <a:r>
              <a:rPr lang="en-US" sz="1400" dirty="0">
                <a:solidFill>
                  <a:srgbClr val="D6CCFF"/>
                </a:solidFill>
                <a:latin typeface="Calibri" pitchFamily="34" charset="0"/>
                <a:ea typeface="Calibri" pitchFamily="34" charset="-122"/>
                <a:cs typeface="Calibri" pitchFamily="34" charset="-120"/>
              </a:rPr>
              <a:t>Conversation, speech and on-device recognition — with the heavy lifting kept off the UI thread.</a:t>
            </a:r>
            <a:endParaRPr lang="en-US" sz="1400" dirty="0"/>
          </a:p>
        </p:txBody>
      </p:sp>
      <p:sp>
        <p:nvSpPr>
          <p:cNvPr id="9" name="Shape 3"/>
          <p:cNvSpPr/>
          <p:nvPr/>
        </p:nvSpPr>
        <p:spPr>
          <a:xfrm>
            <a:off x="6903720" y="1737360"/>
            <a:ext cx="4721047" cy="475488"/>
          </a:xfrm>
          <a:prstGeom prst="roundRect">
            <a:avLst>
              <a:gd name="adj" fmla="val 26923"/>
            </a:avLst>
          </a:prstGeom>
          <a:solidFill>
            <a:srgbClr val="3C22A6"/>
          </a:solidFill>
          <a:ln w="12700">
            <a:solidFill>
              <a:srgbClr val="5335C9"/>
            </a:solidFill>
            <a:prstDash val="solid"/>
          </a:ln>
        </p:spPr>
      </p:sp>
      <p:sp>
        <p:nvSpPr>
          <p:cNvPr id="10" name="Text 4"/>
          <p:cNvSpPr txBox="1"/>
          <p:nvPr/>
        </p:nvSpPr>
        <p:spPr>
          <a:xfrm>
            <a:off x="7214616" y="1737360"/>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AI Conversations — chat, voice, hands-free</a:t>
            </a:r>
            <a:endParaRPr lang="en-US" sz="1250" dirty="0"/>
          </a:p>
        </p:txBody>
      </p:sp>
      <p:sp>
        <p:nvSpPr>
          <p:cNvPr id="11" name="Shape 5"/>
          <p:cNvSpPr/>
          <p:nvPr/>
        </p:nvSpPr>
        <p:spPr>
          <a:xfrm>
            <a:off x="6903720" y="2340864"/>
            <a:ext cx="4721047" cy="475488"/>
          </a:xfrm>
          <a:prstGeom prst="roundRect">
            <a:avLst>
              <a:gd name="adj" fmla="val 26923"/>
            </a:avLst>
          </a:prstGeom>
          <a:solidFill>
            <a:srgbClr val="3C22A6"/>
          </a:solidFill>
          <a:ln w="12700">
            <a:solidFill>
              <a:srgbClr val="5335C9"/>
            </a:solidFill>
            <a:prstDash val="solid"/>
          </a:ln>
        </p:spPr>
      </p:sp>
      <p:sp>
        <p:nvSpPr>
          <p:cNvPr id="12" name="Text 6"/>
          <p:cNvSpPr txBox="1"/>
          <p:nvPr/>
        </p:nvSpPr>
        <p:spPr>
          <a:xfrm>
            <a:off x="7214616" y="2340864"/>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Speech-to-text and text-to-speech</a:t>
            </a:r>
            <a:endParaRPr lang="en-US" sz="1250" dirty="0"/>
          </a:p>
        </p:txBody>
      </p:sp>
      <p:sp>
        <p:nvSpPr>
          <p:cNvPr id="13" name="Shape 7"/>
          <p:cNvSpPr/>
          <p:nvPr/>
        </p:nvSpPr>
        <p:spPr>
          <a:xfrm>
            <a:off x="6903720" y="2944368"/>
            <a:ext cx="4721047" cy="475488"/>
          </a:xfrm>
          <a:prstGeom prst="roundRect">
            <a:avLst>
              <a:gd name="adj" fmla="val 26923"/>
            </a:avLst>
          </a:prstGeom>
          <a:solidFill>
            <a:srgbClr val="3C22A6"/>
          </a:solidFill>
          <a:ln w="12700">
            <a:solidFill>
              <a:srgbClr val="5335C9"/>
            </a:solidFill>
            <a:prstDash val="solid"/>
          </a:ln>
        </p:spPr>
      </p:sp>
      <p:sp>
        <p:nvSpPr>
          <p:cNvPr id="14" name="Text 8"/>
          <p:cNvSpPr txBox="1"/>
          <p:nvPr/>
        </p:nvSpPr>
        <p:spPr>
          <a:xfrm>
            <a:off x="7214616" y="2944368"/>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Face and speaker recognition</a:t>
            </a:r>
            <a:endParaRPr lang="en-US" sz="1250" dirty="0"/>
          </a:p>
        </p:txBody>
      </p:sp>
      <p:sp>
        <p:nvSpPr>
          <p:cNvPr id="15" name="Shape 9"/>
          <p:cNvSpPr/>
          <p:nvPr/>
        </p:nvSpPr>
        <p:spPr>
          <a:xfrm>
            <a:off x="6903720" y="3547872"/>
            <a:ext cx="4721047" cy="475488"/>
          </a:xfrm>
          <a:prstGeom prst="roundRect">
            <a:avLst>
              <a:gd name="adj" fmla="val 26923"/>
            </a:avLst>
          </a:prstGeom>
          <a:solidFill>
            <a:srgbClr val="3C22A6"/>
          </a:solidFill>
          <a:ln w="12700">
            <a:solidFill>
              <a:srgbClr val="5335C9"/>
            </a:solidFill>
            <a:prstDash val="solid"/>
          </a:ln>
        </p:spPr>
      </p:sp>
      <p:sp>
        <p:nvSpPr>
          <p:cNvPr id="16" name="Text 10"/>
          <p:cNvSpPr txBox="1"/>
          <p:nvPr/>
        </p:nvSpPr>
        <p:spPr>
          <a:xfrm>
            <a:off x="7214616" y="3547872"/>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Document scanning and extraction</a:t>
            </a:r>
            <a:endParaRPr lang="en-US" sz="1250" dirty="0"/>
          </a:p>
        </p:txBody>
      </p:sp>
      <p:sp>
        <p:nvSpPr>
          <p:cNvPr id="17" name="Shape 11"/>
          <p:cNvSpPr/>
          <p:nvPr/>
        </p:nvSpPr>
        <p:spPr>
          <a:xfrm>
            <a:off x="6903720" y="4151376"/>
            <a:ext cx="4721047" cy="475488"/>
          </a:xfrm>
          <a:prstGeom prst="roundRect">
            <a:avLst>
              <a:gd name="adj" fmla="val 26923"/>
            </a:avLst>
          </a:prstGeom>
          <a:solidFill>
            <a:srgbClr val="3C22A6"/>
          </a:solidFill>
          <a:ln w="12700">
            <a:solidFill>
              <a:srgbClr val="5335C9"/>
            </a:solidFill>
            <a:prstDash val="solid"/>
          </a:ln>
        </p:spPr>
      </p:sp>
      <p:sp>
        <p:nvSpPr>
          <p:cNvPr id="18" name="Text 12"/>
          <p:cNvSpPr txBox="1"/>
          <p:nvPr/>
        </p:nvSpPr>
        <p:spPr>
          <a:xfrm>
            <a:off x="7214616" y="4151376"/>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AI tools across the whole suite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03 · AI &amp; INTELLIGENCE</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intelligence layer</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On-device where it matters, pluggable providers where it helps.</a:t>
            </a:r>
            <a:endParaRPr lang="en-US" sz="1350" dirty="0"/>
          </a:p>
        </p:txBody>
      </p:sp>
      <p:sp>
        <p:nvSpPr>
          <p:cNvPr id="6" name="Shape 3"/>
          <p:cNvSpPr/>
          <p:nvPr/>
        </p:nvSpPr>
        <p:spPr>
          <a:xfrm>
            <a:off x="566928" y="2148840"/>
            <a:ext cx="3527450" cy="1965960"/>
          </a:xfrm>
          <a:prstGeom prst="roundRect">
            <a:avLst>
              <a:gd name="adj" fmla="val 3256"/>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04672" y="2368296"/>
            <a:ext cx="420624" cy="420624"/>
          </a:xfrm>
          <a:prstGeom prst="roundRect">
            <a:avLst>
              <a:gd name="adj" fmla="val 60870"/>
            </a:avLst>
          </a:prstGeom>
          <a:solidFill>
            <a:srgbClr val="CFFA12"/>
          </a:solidFill>
          <a:ln w="12700">
            <a:solidFill>
              <a:srgbClr val="CFFA12"/>
            </a:solidFill>
            <a:prstDash val="solid"/>
          </a:ln>
        </p:spPr>
      </p:sp>
      <p:pic>
        <p:nvPicPr>
          <p:cNvPr id="8" name="Image 1" descr="preencoded.png">    </p:cNvPr>
          <p:cNvPicPr>
            <a:picLocks noChangeAspect="1"/>
          </p:cNvPicPr>
          <p:nvPr/>
        </p:nvPicPr>
        <p:blipFill>
          <a:blip r:embed="rId2"/>
          <a:stretch>
            <a:fillRect/>
          </a:stretch>
        </p:blipFill>
        <p:spPr>
          <a:xfrm>
            <a:off x="914034" y="2477658"/>
            <a:ext cx="201900" cy="201900"/>
          </a:xfrm>
          <a:prstGeom prst="rect">
            <a:avLst/>
          </a:prstGeom>
        </p:spPr>
      </p:pic>
      <p:sp>
        <p:nvSpPr>
          <p:cNvPr id="9" name="Text 5"/>
          <p:cNvSpPr txBox="1"/>
          <p:nvPr/>
        </p:nvSpPr>
        <p:spPr>
          <a:xfrm>
            <a:off x="1389888" y="2459736"/>
            <a:ext cx="252161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AI Conversations</a:t>
            </a:r>
            <a:endParaRPr lang="en-US" sz="1350" dirty="0"/>
          </a:p>
        </p:txBody>
      </p:sp>
      <p:sp>
        <p:nvSpPr>
          <p:cNvPr id="10" name="Text 6"/>
          <p:cNvSpPr txBox="1"/>
          <p:nvPr/>
        </p:nvSpPr>
        <p:spPr>
          <a:xfrm>
            <a:off x="804672" y="2935224"/>
            <a:ext cx="3051962" cy="103327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Microsoft.Extensions.AI chat completions plus speech recognition, text-to-speech, wake word and audio feedback — text, voice and hands-free behind one IAiConversationService.</a:t>
            </a:r>
            <a:endParaRPr lang="en-US" sz="1100" dirty="0"/>
          </a:p>
        </p:txBody>
      </p:sp>
      <p:sp>
        <p:nvSpPr>
          <p:cNvPr id="11" name="Shape 7"/>
          <p:cNvSpPr/>
          <p:nvPr/>
        </p:nvSpPr>
        <p:spPr>
          <a:xfrm>
            <a:off x="4332122" y="2148840"/>
            <a:ext cx="3527450" cy="1965960"/>
          </a:xfrm>
          <a:prstGeom prst="roundRect">
            <a:avLst>
              <a:gd name="adj" fmla="val 3256"/>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2" name="Shape 8"/>
          <p:cNvSpPr/>
          <p:nvPr/>
        </p:nvSpPr>
        <p:spPr>
          <a:xfrm>
            <a:off x="4569866" y="2368296"/>
            <a:ext cx="420624" cy="420624"/>
          </a:xfrm>
          <a:prstGeom prst="roundRect">
            <a:avLst>
              <a:gd name="adj" fmla="val 60870"/>
            </a:avLst>
          </a:prstGeom>
          <a:solidFill>
            <a:srgbClr val="9B7BFF"/>
          </a:solidFill>
          <a:ln w="12700">
            <a:solidFill>
              <a:srgbClr val="9B7BFF"/>
            </a:solidFill>
            <a:prstDash val="solid"/>
          </a:ln>
        </p:spPr>
      </p:sp>
      <p:pic>
        <p:nvPicPr>
          <p:cNvPr id="13" name="Image 2" descr="preencoded.png">    </p:cNvPr>
          <p:cNvPicPr>
            <a:picLocks noChangeAspect="1"/>
          </p:cNvPicPr>
          <p:nvPr/>
        </p:nvPicPr>
        <p:blipFill>
          <a:blip r:embed="rId3"/>
          <a:stretch>
            <a:fillRect/>
          </a:stretch>
        </p:blipFill>
        <p:spPr>
          <a:xfrm>
            <a:off x="4679229" y="2477658"/>
            <a:ext cx="201900" cy="201900"/>
          </a:xfrm>
          <a:prstGeom prst="rect">
            <a:avLst/>
          </a:prstGeom>
        </p:spPr>
      </p:pic>
      <p:sp>
        <p:nvSpPr>
          <p:cNvPr id="14" name="Text 9"/>
          <p:cNvSpPr txBox="1"/>
          <p:nvPr/>
        </p:nvSpPr>
        <p:spPr>
          <a:xfrm>
            <a:off x="5155082" y="2459736"/>
            <a:ext cx="252161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Speech</a:t>
            </a:r>
            <a:endParaRPr lang="en-US" sz="1350" dirty="0"/>
          </a:p>
        </p:txBody>
      </p:sp>
      <p:sp>
        <p:nvSpPr>
          <p:cNvPr id="15" name="Text 10"/>
          <p:cNvSpPr txBox="1"/>
          <p:nvPr/>
        </p:nvSpPr>
        <p:spPr>
          <a:xfrm>
            <a:off x="4569866" y="2935224"/>
            <a:ext cx="3051962" cy="103327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Speech-to-text, text-to-speech, audio capture and playback with pluggable cloud providers — Azure AI Speech and ElevenLabs.</a:t>
            </a:r>
            <a:endParaRPr lang="en-US" sz="1100" dirty="0"/>
          </a:p>
        </p:txBody>
      </p:sp>
      <p:sp>
        <p:nvSpPr>
          <p:cNvPr id="16" name="Shape 11"/>
          <p:cNvSpPr/>
          <p:nvPr/>
        </p:nvSpPr>
        <p:spPr>
          <a:xfrm>
            <a:off x="8097317" y="2148840"/>
            <a:ext cx="3527450" cy="1965960"/>
          </a:xfrm>
          <a:prstGeom prst="roundRect">
            <a:avLst>
              <a:gd name="adj" fmla="val 3256"/>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8335061" y="2368296"/>
            <a:ext cx="420624" cy="420624"/>
          </a:xfrm>
          <a:prstGeom prst="roundRect">
            <a:avLst>
              <a:gd name="adj" fmla="val 60870"/>
            </a:avLst>
          </a:prstGeom>
          <a:solidFill>
            <a:srgbClr val="2BE5A0"/>
          </a:solidFill>
          <a:ln w="12700">
            <a:solidFill>
              <a:srgbClr val="2BE5A0"/>
            </a:solidFill>
            <a:prstDash val="solid"/>
          </a:ln>
        </p:spPr>
      </p:sp>
      <p:pic>
        <p:nvPicPr>
          <p:cNvPr id="18" name="Image 3" descr="preencoded.png">    </p:cNvPr>
          <p:cNvPicPr>
            <a:picLocks noChangeAspect="1"/>
          </p:cNvPicPr>
          <p:nvPr/>
        </p:nvPicPr>
        <p:blipFill>
          <a:blip r:embed="rId4"/>
          <a:stretch>
            <a:fillRect/>
          </a:stretch>
        </p:blipFill>
        <p:spPr>
          <a:xfrm>
            <a:off x="8444423" y="2477658"/>
            <a:ext cx="201900" cy="201900"/>
          </a:xfrm>
          <a:prstGeom prst="rect">
            <a:avLst/>
          </a:prstGeom>
        </p:spPr>
      </p:pic>
      <p:sp>
        <p:nvSpPr>
          <p:cNvPr id="19" name="Text 13"/>
          <p:cNvSpPr txBox="1"/>
          <p:nvPr/>
        </p:nvSpPr>
        <p:spPr>
          <a:xfrm>
            <a:off x="8920277" y="2459736"/>
            <a:ext cx="252161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Face Intelligence</a:t>
            </a:r>
            <a:endParaRPr lang="en-US" sz="1350" dirty="0"/>
          </a:p>
        </p:txBody>
      </p:sp>
      <p:sp>
        <p:nvSpPr>
          <p:cNvPr id="20" name="Text 14"/>
          <p:cNvSpPr txBox="1"/>
          <p:nvPr/>
        </p:nvSpPr>
        <p:spPr>
          <a:xfrm>
            <a:off x="8335061" y="2935224"/>
            <a:ext cx="3051962" cy="103327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ArcFace embeddings with nearest-neighbour vector search. A dependency-free core, swappable ONNX embedder and vector stores, plus MAUI controls for live recognition and guided enrollment.</a:t>
            </a:r>
            <a:endParaRPr lang="en-US" sz="1100" dirty="0"/>
          </a:p>
        </p:txBody>
      </p:sp>
      <p:sp>
        <p:nvSpPr>
          <p:cNvPr id="21" name="Shape 15"/>
          <p:cNvSpPr/>
          <p:nvPr/>
        </p:nvSpPr>
        <p:spPr>
          <a:xfrm>
            <a:off x="566928" y="4352544"/>
            <a:ext cx="3527450" cy="1965960"/>
          </a:xfrm>
          <a:prstGeom prst="roundRect">
            <a:avLst>
              <a:gd name="adj" fmla="val 3256"/>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Shape 16"/>
          <p:cNvSpPr/>
          <p:nvPr/>
        </p:nvSpPr>
        <p:spPr>
          <a:xfrm>
            <a:off x="804672" y="4572000"/>
            <a:ext cx="420624" cy="420624"/>
          </a:xfrm>
          <a:prstGeom prst="roundRect">
            <a:avLst>
              <a:gd name="adj" fmla="val 60870"/>
            </a:avLst>
          </a:prstGeom>
          <a:solidFill>
            <a:srgbClr val="9B7BFF"/>
          </a:solidFill>
          <a:ln w="12700">
            <a:solidFill>
              <a:srgbClr val="9B7BFF"/>
            </a:solidFill>
            <a:prstDash val="solid"/>
          </a:ln>
        </p:spPr>
      </p:sp>
      <p:pic>
        <p:nvPicPr>
          <p:cNvPr id="23" name="Image 4" descr="preencoded.png">    </p:cNvPr>
          <p:cNvPicPr>
            <a:picLocks noChangeAspect="1"/>
          </p:cNvPicPr>
          <p:nvPr/>
        </p:nvPicPr>
        <p:blipFill>
          <a:blip r:embed="rId5"/>
          <a:stretch>
            <a:fillRect/>
          </a:stretch>
        </p:blipFill>
        <p:spPr>
          <a:xfrm>
            <a:off x="914034" y="4681362"/>
            <a:ext cx="201900" cy="201900"/>
          </a:xfrm>
          <a:prstGeom prst="rect">
            <a:avLst/>
          </a:prstGeom>
        </p:spPr>
      </p:pic>
      <p:sp>
        <p:nvSpPr>
          <p:cNvPr id="24" name="Text 17"/>
          <p:cNvSpPr txBox="1"/>
          <p:nvPr/>
        </p:nvSpPr>
        <p:spPr>
          <a:xfrm>
            <a:off x="1389888" y="4663440"/>
            <a:ext cx="252161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Voice Intelligence</a:t>
            </a:r>
            <a:endParaRPr lang="en-US" sz="1350" dirty="0"/>
          </a:p>
        </p:txBody>
      </p:sp>
      <p:sp>
        <p:nvSpPr>
          <p:cNvPr id="25" name="Text 18"/>
          <p:cNvSpPr txBox="1"/>
          <p:nvPr/>
        </p:nvSpPr>
        <p:spPr>
          <a:xfrm>
            <a:off x="804672" y="5138928"/>
            <a:ext cx="3051962" cy="103327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Speaker recognition on the same architecture: ECAPA/CAM++ voiceprints, cosine-distance matching and enrollment that checks level, clipping, SNR and agreement before storing.</a:t>
            </a:r>
            <a:endParaRPr lang="en-US" sz="1100" dirty="0"/>
          </a:p>
        </p:txBody>
      </p:sp>
      <p:sp>
        <p:nvSpPr>
          <p:cNvPr id="26" name="Shape 19"/>
          <p:cNvSpPr/>
          <p:nvPr/>
        </p:nvSpPr>
        <p:spPr>
          <a:xfrm>
            <a:off x="4332122" y="4352544"/>
            <a:ext cx="3527450" cy="1965960"/>
          </a:xfrm>
          <a:prstGeom prst="roundRect">
            <a:avLst>
              <a:gd name="adj" fmla="val 3256"/>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7" name="Shape 20"/>
          <p:cNvSpPr/>
          <p:nvPr/>
        </p:nvSpPr>
        <p:spPr>
          <a:xfrm>
            <a:off x="4569866" y="4572000"/>
            <a:ext cx="420624" cy="420624"/>
          </a:xfrm>
          <a:prstGeom prst="roundRect">
            <a:avLst>
              <a:gd name="adj" fmla="val 60870"/>
            </a:avLst>
          </a:prstGeom>
          <a:solidFill>
            <a:srgbClr val="2BE5A0"/>
          </a:solidFill>
          <a:ln w="12700">
            <a:solidFill>
              <a:srgbClr val="2BE5A0"/>
            </a:solidFill>
            <a:prstDash val="solid"/>
          </a:ln>
        </p:spPr>
      </p:sp>
      <p:pic>
        <p:nvPicPr>
          <p:cNvPr id="28" name="Image 5" descr="preencoded.png">    </p:cNvPr>
          <p:cNvPicPr>
            <a:picLocks noChangeAspect="1"/>
          </p:cNvPicPr>
          <p:nvPr/>
        </p:nvPicPr>
        <p:blipFill>
          <a:blip r:embed="rId6"/>
          <a:stretch>
            <a:fillRect/>
          </a:stretch>
        </p:blipFill>
        <p:spPr>
          <a:xfrm>
            <a:off x="4679229" y="4681362"/>
            <a:ext cx="201900" cy="201900"/>
          </a:xfrm>
          <a:prstGeom prst="rect">
            <a:avLst/>
          </a:prstGeom>
        </p:spPr>
      </p:pic>
      <p:sp>
        <p:nvSpPr>
          <p:cNvPr id="29" name="Text 21"/>
          <p:cNvSpPr txBox="1"/>
          <p:nvPr/>
        </p:nvSpPr>
        <p:spPr>
          <a:xfrm>
            <a:off x="5155082" y="4663440"/>
            <a:ext cx="252161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Document Intelligence</a:t>
            </a:r>
            <a:endParaRPr lang="en-US" sz="1350" dirty="0"/>
          </a:p>
        </p:txBody>
      </p:sp>
      <p:sp>
        <p:nvSpPr>
          <p:cNvPr id="30" name="Text 22"/>
          <p:cNvSpPr txBox="1"/>
          <p:nvPr/>
        </p:nvSpPr>
        <p:spPr>
          <a:xfrm>
            <a:off x="4569866" y="5138928"/>
            <a:ext cx="3051962" cy="103327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VisionKit, ML Kit and Vision behind one IDocumentScanner — plus on-device extraction of receipts, invoices, AAMVA licences, ICAO passports and Luhn-validated cards.</a:t>
            </a:r>
            <a:endParaRPr lang="en-US" sz="1100" dirty="0"/>
          </a:p>
        </p:txBody>
      </p:sp>
      <p:sp>
        <p:nvSpPr>
          <p:cNvPr id="31" name="Shape 23"/>
          <p:cNvSpPr/>
          <p:nvPr/>
        </p:nvSpPr>
        <p:spPr>
          <a:xfrm>
            <a:off x="8097317" y="4352544"/>
            <a:ext cx="3527450" cy="1965960"/>
          </a:xfrm>
          <a:prstGeom prst="roundRect">
            <a:avLst>
              <a:gd name="adj" fmla="val 3256"/>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2" name="Text 24"/>
          <p:cNvSpPr txBox="1"/>
          <p:nvPr/>
        </p:nvSpPr>
        <p:spPr>
          <a:xfrm>
            <a:off x="8335061" y="4572000"/>
            <a:ext cx="3051962" cy="274320"/>
          </a:xfrm>
          <a:prstGeom prst="rect">
            <a:avLst/>
          </a:prstGeom>
          <a:noFill/>
          <a:ln/>
        </p:spPr>
        <p:txBody>
          <a:bodyPr wrap="square" lIns="0" tIns="0" rIns="0" bIns="0" rtlCol="0" anchor="ctr"/>
          <a:lstStyle/>
          <a:p>
            <a:pPr indent="0" marL="0">
              <a:buNone/>
            </a:pPr>
            <a:r>
              <a:rPr lang="en-US" sz="1350" b="1" dirty="0">
                <a:solidFill>
                  <a:srgbClr val="CFFA12"/>
                </a:solidFill>
                <a:latin typeface="Calibri" pitchFamily="34" charset="0"/>
                <a:ea typeface="Calibri" pitchFamily="34" charset="-122"/>
                <a:cs typeface="Calibri" pitchFamily="34" charset="-120"/>
              </a:rPr>
              <a:t>Privacy by default</a:t>
            </a:r>
            <a:endParaRPr lang="en-US" sz="1350" dirty="0"/>
          </a:p>
        </p:txBody>
      </p:sp>
      <p:sp>
        <p:nvSpPr>
          <p:cNvPr id="33" name="Text 25"/>
          <p:cNvSpPr txBox="1"/>
          <p:nvPr/>
        </p:nvSpPr>
        <p:spPr>
          <a:xfrm>
            <a:off x="8335061" y="4901184"/>
            <a:ext cx="3051962" cy="1280160"/>
          </a:xfrm>
          <a:prstGeom prst="rect">
            <a:avLst/>
          </a:prstGeom>
          <a:noFill/>
          <a:ln/>
        </p:spPr>
        <p:txBody>
          <a:bodyPr wrap="square" lIns="0" tIns="0" rIns="0" bIns="0" rtlCol="0" anchor="ctr"/>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Face and voice biometrics, card numbers and document fields are processed on the device. Capture stays inside your app, so it works with any audio or camera pipeline you already have — and CVVs are never read, PANs never logged.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POWERED BY MICROSOFT.EXTENSIONS.AI</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Your app, callable by an agent</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Turn contracts, services, routes and data into AI-callable tools — source-generated, AOT-safe function calling across mobile, desktop, web and server.</a:t>
            </a:r>
            <a:endParaRPr lang="en-US" sz="1350" dirty="0"/>
          </a:p>
        </p:txBody>
      </p:sp>
      <p:sp>
        <p:nvSpPr>
          <p:cNvPr id="6" name="Shape 3"/>
          <p:cNvSpPr/>
          <p:nvPr/>
        </p:nvSpPr>
        <p:spPr>
          <a:xfrm>
            <a:off x="566928" y="2395728"/>
            <a:ext cx="2586152" cy="1115568"/>
          </a:xfrm>
          <a:prstGeom prst="roundRect">
            <a:avLst>
              <a:gd name="adj" fmla="val 573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786384" y="2615184"/>
            <a:ext cx="329184" cy="329184"/>
          </a:xfrm>
          <a:prstGeom prst="roundRect">
            <a:avLst>
              <a:gd name="adj" fmla="val 77778"/>
            </a:avLst>
          </a:prstGeom>
          <a:solidFill>
            <a:srgbClr val="9B7BFF"/>
          </a:solidFill>
          <a:ln w="12700">
            <a:solidFill>
              <a:srgbClr val="9B7BFF"/>
            </a:solidFill>
            <a:prstDash val="solid"/>
          </a:ln>
        </p:spPr>
      </p:sp>
      <p:pic>
        <p:nvPicPr>
          <p:cNvPr id="8" name="Image 1" descr="preencoded.png">    </p:cNvPr>
          <p:cNvPicPr>
            <a:picLocks noChangeAspect="1"/>
          </p:cNvPicPr>
          <p:nvPr/>
        </p:nvPicPr>
        <p:blipFill>
          <a:blip r:embed="rId2"/>
          <a:stretch>
            <a:fillRect/>
          </a:stretch>
        </p:blipFill>
        <p:spPr>
          <a:xfrm>
            <a:off x="871972" y="2700772"/>
            <a:ext cx="158008" cy="158008"/>
          </a:xfrm>
          <a:prstGeom prst="rect">
            <a:avLst/>
          </a:prstGeom>
        </p:spPr>
      </p:pic>
      <p:sp>
        <p:nvSpPr>
          <p:cNvPr id="9" name="Text 5"/>
          <p:cNvSpPr txBox="1"/>
          <p:nvPr/>
        </p:nvSpPr>
        <p:spPr>
          <a:xfrm>
            <a:off x="1188720" y="2642616"/>
            <a:ext cx="176319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Conversations</a:t>
            </a:r>
            <a:endParaRPr lang="en-US" sz="1200" dirty="0"/>
          </a:p>
        </p:txBody>
      </p:sp>
      <p:sp>
        <p:nvSpPr>
          <p:cNvPr id="10" name="Text 6"/>
          <p:cNvSpPr txBox="1"/>
          <p:nvPr/>
        </p:nvSpPr>
        <p:spPr>
          <a:xfrm>
            <a:off x="786384" y="3017520"/>
            <a:ext cx="2147240" cy="411480"/>
          </a:xfrm>
          <a:prstGeom prst="rect">
            <a:avLst/>
          </a:prstGeom>
          <a:noFill/>
          <a:ln/>
        </p:spPr>
        <p:txBody>
          <a:bodyPr wrap="square" lIns="0" tIns="0" rIns="0" bIns="0" rtlCol="0" anchor="ctr"/>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Chat, speech and wake word behind one interface.</a:t>
            </a:r>
            <a:endParaRPr lang="en-US" sz="950" dirty="0"/>
          </a:p>
        </p:txBody>
      </p:sp>
      <p:sp>
        <p:nvSpPr>
          <p:cNvPr id="11" name="Shape 7"/>
          <p:cNvSpPr/>
          <p:nvPr/>
        </p:nvSpPr>
        <p:spPr>
          <a:xfrm>
            <a:off x="3390824" y="2395728"/>
            <a:ext cx="2586152" cy="1115568"/>
          </a:xfrm>
          <a:prstGeom prst="roundRect">
            <a:avLst>
              <a:gd name="adj" fmla="val 573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2" name="Shape 8"/>
          <p:cNvSpPr/>
          <p:nvPr/>
        </p:nvSpPr>
        <p:spPr>
          <a:xfrm>
            <a:off x="3610280" y="2615184"/>
            <a:ext cx="329184" cy="329184"/>
          </a:xfrm>
          <a:prstGeom prst="roundRect">
            <a:avLst>
              <a:gd name="adj" fmla="val 77778"/>
            </a:avLst>
          </a:prstGeom>
          <a:solidFill>
            <a:srgbClr val="9B7BFF"/>
          </a:solidFill>
          <a:ln w="12700">
            <a:solidFill>
              <a:srgbClr val="9B7BFF"/>
            </a:solidFill>
            <a:prstDash val="solid"/>
          </a:ln>
        </p:spPr>
      </p:sp>
      <p:pic>
        <p:nvPicPr>
          <p:cNvPr id="13" name="Image 2" descr="preencoded.png">    </p:cNvPr>
          <p:cNvPicPr>
            <a:picLocks noChangeAspect="1"/>
          </p:cNvPicPr>
          <p:nvPr/>
        </p:nvPicPr>
        <p:blipFill>
          <a:blip r:embed="rId3"/>
          <a:stretch>
            <a:fillRect/>
          </a:stretch>
        </p:blipFill>
        <p:spPr>
          <a:xfrm>
            <a:off x="3695868" y="2700772"/>
            <a:ext cx="158008" cy="158008"/>
          </a:xfrm>
          <a:prstGeom prst="rect">
            <a:avLst/>
          </a:prstGeom>
        </p:spPr>
      </p:pic>
      <p:sp>
        <p:nvSpPr>
          <p:cNvPr id="14" name="Text 9"/>
          <p:cNvSpPr txBox="1"/>
          <p:nvPr/>
        </p:nvSpPr>
        <p:spPr>
          <a:xfrm>
            <a:off x="4012616" y="2642616"/>
            <a:ext cx="176319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Shell Navigation</a:t>
            </a:r>
            <a:endParaRPr lang="en-US" sz="1200" dirty="0"/>
          </a:p>
        </p:txBody>
      </p:sp>
      <p:sp>
        <p:nvSpPr>
          <p:cNvPr id="15" name="Text 10"/>
          <p:cNvSpPr txBox="1"/>
          <p:nvPr/>
        </p:nvSpPr>
        <p:spPr>
          <a:xfrm>
            <a:off x="3610280" y="3017520"/>
            <a:ext cx="2147240" cy="411480"/>
          </a:xfrm>
          <a:prstGeom prst="rect">
            <a:avLst/>
          </a:prstGeom>
          <a:noFill/>
          <a:ln/>
        </p:spPr>
        <p:txBody>
          <a:bodyPr wrap="square" lIns="0" tIns="0" rIns="0" bIns="0" rtlCol="0" anchor="ctr"/>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Generated AITools let an agent discover and hit your routes.</a:t>
            </a:r>
            <a:endParaRPr lang="en-US" sz="950" dirty="0"/>
          </a:p>
        </p:txBody>
      </p:sp>
      <p:sp>
        <p:nvSpPr>
          <p:cNvPr id="16" name="Shape 11"/>
          <p:cNvSpPr/>
          <p:nvPr/>
        </p:nvSpPr>
        <p:spPr>
          <a:xfrm>
            <a:off x="6214720" y="2395728"/>
            <a:ext cx="2586152" cy="1115568"/>
          </a:xfrm>
          <a:prstGeom prst="roundRect">
            <a:avLst>
              <a:gd name="adj" fmla="val 573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6434176" y="2615184"/>
            <a:ext cx="329184" cy="329184"/>
          </a:xfrm>
          <a:prstGeom prst="roundRect">
            <a:avLst>
              <a:gd name="adj" fmla="val 77778"/>
            </a:avLst>
          </a:prstGeom>
          <a:solidFill>
            <a:srgbClr val="2BE5A0"/>
          </a:solidFill>
          <a:ln w="12700">
            <a:solidFill>
              <a:srgbClr val="2BE5A0"/>
            </a:solidFill>
            <a:prstDash val="solid"/>
          </a:ln>
        </p:spPr>
      </p:sp>
      <p:pic>
        <p:nvPicPr>
          <p:cNvPr id="18" name="Image 3" descr="preencoded.png">    </p:cNvPr>
          <p:cNvPicPr>
            <a:picLocks noChangeAspect="1"/>
          </p:cNvPicPr>
          <p:nvPr/>
        </p:nvPicPr>
        <p:blipFill>
          <a:blip r:embed="rId4"/>
          <a:stretch>
            <a:fillRect/>
          </a:stretch>
        </p:blipFill>
        <p:spPr>
          <a:xfrm>
            <a:off x="6519763" y="2700772"/>
            <a:ext cx="158008" cy="158008"/>
          </a:xfrm>
          <a:prstGeom prst="rect">
            <a:avLst/>
          </a:prstGeom>
        </p:spPr>
      </p:pic>
      <p:sp>
        <p:nvSpPr>
          <p:cNvPr id="19" name="Text 13"/>
          <p:cNvSpPr txBox="1"/>
          <p:nvPr/>
        </p:nvSpPr>
        <p:spPr>
          <a:xfrm>
            <a:off x="6836512" y="2642616"/>
            <a:ext cx="176319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Mediator</a:t>
            </a:r>
            <a:endParaRPr lang="en-US" sz="1200" dirty="0"/>
          </a:p>
        </p:txBody>
      </p:sp>
      <p:sp>
        <p:nvSpPr>
          <p:cNvPr id="20" name="Text 14"/>
          <p:cNvSpPr txBox="1"/>
          <p:nvPr/>
        </p:nvSpPr>
        <p:spPr>
          <a:xfrm>
            <a:off x="6434176" y="3017520"/>
            <a:ext cx="2147240" cy="411480"/>
          </a:xfrm>
          <a:prstGeom prst="rect">
            <a:avLst/>
          </a:prstGeom>
          <a:noFill/>
          <a:ln/>
        </p:spPr>
        <p:txBody>
          <a:bodyPr wrap="square" lIns="0" tIns="0" rIns="0" bIns="0" rtlCol="0" anchor="ctr"/>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Requests and commands as AIFunctions with generated schemas.</a:t>
            </a:r>
            <a:endParaRPr lang="en-US" sz="950" dirty="0"/>
          </a:p>
        </p:txBody>
      </p:sp>
      <p:sp>
        <p:nvSpPr>
          <p:cNvPr id="21" name="Shape 15"/>
          <p:cNvSpPr/>
          <p:nvPr/>
        </p:nvSpPr>
        <p:spPr>
          <a:xfrm>
            <a:off x="9038615" y="2395728"/>
            <a:ext cx="2586152" cy="1115568"/>
          </a:xfrm>
          <a:prstGeom prst="roundRect">
            <a:avLst>
              <a:gd name="adj" fmla="val 573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Shape 16"/>
          <p:cNvSpPr/>
          <p:nvPr/>
        </p:nvSpPr>
        <p:spPr>
          <a:xfrm>
            <a:off x="9258071" y="2615184"/>
            <a:ext cx="329184" cy="329184"/>
          </a:xfrm>
          <a:prstGeom prst="roundRect">
            <a:avLst>
              <a:gd name="adj" fmla="val 77778"/>
            </a:avLst>
          </a:prstGeom>
          <a:solidFill>
            <a:srgbClr val="9B7BFF"/>
          </a:solidFill>
          <a:ln w="12700">
            <a:solidFill>
              <a:srgbClr val="9B7BFF"/>
            </a:solidFill>
            <a:prstDash val="solid"/>
          </a:ln>
        </p:spPr>
      </p:sp>
      <p:pic>
        <p:nvPicPr>
          <p:cNvPr id="23" name="Image 4" descr="preencoded.png">    </p:cNvPr>
          <p:cNvPicPr>
            <a:picLocks noChangeAspect="1"/>
          </p:cNvPicPr>
          <p:nvPr/>
        </p:nvPicPr>
        <p:blipFill>
          <a:blip r:embed="rId5"/>
          <a:stretch>
            <a:fillRect/>
          </a:stretch>
        </p:blipFill>
        <p:spPr>
          <a:xfrm>
            <a:off x="9343659" y="2700772"/>
            <a:ext cx="158008" cy="158008"/>
          </a:xfrm>
          <a:prstGeom prst="rect">
            <a:avLst/>
          </a:prstGeom>
        </p:spPr>
      </p:pic>
      <p:sp>
        <p:nvSpPr>
          <p:cNvPr id="24" name="Text 17"/>
          <p:cNvSpPr txBox="1"/>
          <p:nvPr/>
        </p:nvSpPr>
        <p:spPr>
          <a:xfrm>
            <a:off x="9660407" y="2642616"/>
            <a:ext cx="176319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Dependency Injection</a:t>
            </a:r>
            <a:endParaRPr lang="en-US" sz="1200" dirty="0"/>
          </a:p>
        </p:txBody>
      </p:sp>
      <p:sp>
        <p:nvSpPr>
          <p:cNvPr id="25" name="Text 18"/>
          <p:cNvSpPr txBox="1"/>
          <p:nvPr/>
        </p:nvSpPr>
        <p:spPr>
          <a:xfrm>
            <a:off x="9258071" y="3017520"/>
            <a:ext cx="2147240" cy="411480"/>
          </a:xfrm>
          <a:prstGeom prst="rect">
            <a:avLst/>
          </a:prstGeom>
          <a:noFill/>
          <a:ln/>
        </p:spPr>
        <p:txBody>
          <a:bodyPr wrap="square" lIns="0" tIns="0" rIns="0" bIns="0" rtlCol="0" anchor="ctr"/>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Tag a service interface, get reflection-free tools registered.</a:t>
            </a:r>
            <a:endParaRPr lang="en-US" sz="950" dirty="0"/>
          </a:p>
        </p:txBody>
      </p:sp>
      <p:sp>
        <p:nvSpPr>
          <p:cNvPr id="26" name="Shape 19"/>
          <p:cNvSpPr/>
          <p:nvPr/>
        </p:nvSpPr>
        <p:spPr>
          <a:xfrm>
            <a:off x="566928" y="3749040"/>
            <a:ext cx="2586152" cy="1115568"/>
          </a:xfrm>
          <a:prstGeom prst="roundRect">
            <a:avLst>
              <a:gd name="adj" fmla="val 573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7" name="Shape 20"/>
          <p:cNvSpPr/>
          <p:nvPr/>
        </p:nvSpPr>
        <p:spPr>
          <a:xfrm>
            <a:off x="786384" y="3968496"/>
            <a:ext cx="329184" cy="329184"/>
          </a:xfrm>
          <a:prstGeom prst="roundRect">
            <a:avLst>
              <a:gd name="adj" fmla="val 77778"/>
            </a:avLst>
          </a:prstGeom>
          <a:solidFill>
            <a:srgbClr val="9B7BFF"/>
          </a:solidFill>
          <a:ln w="12700">
            <a:solidFill>
              <a:srgbClr val="9B7BFF"/>
            </a:solidFill>
            <a:prstDash val="solid"/>
          </a:ln>
        </p:spPr>
      </p:sp>
      <p:pic>
        <p:nvPicPr>
          <p:cNvPr id="28" name="Image 5" descr="preencoded.png">    </p:cNvPr>
          <p:cNvPicPr>
            <a:picLocks noChangeAspect="1"/>
          </p:cNvPicPr>
          <p:nvPr/>
        </p:nvPicPr>
        <p:blipFill>
          <a:blip r:embed="rId6"/>
          <a:stretch>
            <a:fillRect/>
          </a:stretch>
        </p:blipFill>
        <p:spPr>
          <a:xfrm>
            <a:off x="871972" y="4054084"/>
            <a:ext cx="158008" cy="158008"/>
          </a:xfrm>
          <a:prstGeom prst="rect">
            <a:avLst/>
          </a:prstGeom>
        </p:spPr>
      </p:pic>
      <p:sp>
        <p:nvSpPr>
          <p:cNvPr id="29" name="Text 21"/>
          <p:cNvSpPr txBox="1"/>
          <p:nvPr/>
        </p:nvSpPr>
        <p:spPr>
          <a:xfrm>
            <a:off x="1188720" y="3995928"/>
            <a:ext cx="176319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Document DB</a:t>
            </a:r>
            <a:endParaRPr lang="en-US" sz="1200" dirty="0"/>
          </a:p>
        </p:txBody>
      </p:sp>
      <p:sp>
        <p:nvSpPr>
          <p:cNvPr id="30" name="Text 22"/>
          <p:cNvSpPr txBox="1"/>
          <p:nvPr/>
        </p:nvSpPr>
        <p:spPr>
          <a:xfrm>
            <a:off x="786384" y="4370832"/>
            <a:ext cx="2147240" cy="411480"/>
          </a:xfrm>
          <a:prstGeom prst="rect">
            <a:avLst/>
          </a:prstGeom>
          <a:noFill/>
          <a:ln/>
        </p:spPr>
        <p:txBody>
          <a:bodyPr wrap="square" lIns="0" tIns="0" rIns="0" bIns="0" rtlCol="0" anchor="ctr"/>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Vector search, structured filters and auto-embed on insert.</a:t>
            </a:r>
            <a:endParaRPr lang="en-US" sz="950" dirty="0"/>
          </a:p>
        </p:txBody>
      </p:sp>
      <p:sp>
        <p:nvSpPr>
          <p:cNvPr id="31" name="Shape 23"/>
          <p:cNvSpPr/>
          <p:nvPr/>
        </p:nvSpPr>
        <p:spPr>
          <a:xfrm>
            <a:off x="3390824" y="3749040"/>
            <a:ext cx="2586152" cy="1115568"/>
          </a:xfrm>
          <a:prstGeom prst="roundRect">
            <a:avLst>
              <a:gd name="adj" fmla="val 573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2" name="Shape 24"/>
          <p:cNvSpPr/>
          <p:nvPr/>
        </p:nvSpPr>
        <p:spPr>
          <a:xfrm>
            <a:off x="3610280" y="3968496"/>
            <a:ext cx="329184" cy="329184"/>
          </a:xfrm>
          <a:prstGeom prst="roundRect">
            <a:avLst>
              <a:gd name="adj" fmla="val 77778"/>
            </a:avLst>
          </a:prstGeom>
          <a:solidFill>
            <a:srgbClr val="2BE5A0"/>
          </a:solidFill>
          <a:ln w="12700">
            <a:solidFill>
              <a:srgbClr val="2BE5A0"/>
            </a:solidFill>
            <a:prstDash val="solid"/>
          </a:ln>
        </p:spPr>
      </p:sp>
      <p:pic>
        <p:nvPicPr>
          <p:cNvPr id="33" name="Image 6" descr="preencoded.png">    </p:cNvPr>
          <p:cNvPicPr>
            <a:picLocks noChangeAspect="1"/>
          </p:cNvPicPr>
          <p:nvPr/>
        </p:nvPicPr>
        <p:blipFill>
          <a:blip r:embed="rId7"/>
          <a:stretch>
            <a:fillRect/>
          </a:stretch>
        </p:blipFill>
        <p:spPr>
          <a:xfrm>
            <a:off x="3695868" y="4054084"/>
            <a:ext cx="158008" cy="158008"/>
          </a:xfrm>
          <a:prstGeom prst="rect">
            <a:avLst/>
          </a:prstGeom>
        </p:spPr>
      </p:pic>
      <p:sp>
        <p:nvSpPr>
          <p:cNvPr id="34" name="Text 25"/>
          <p:cNvSpPr txBox="1"/>
          <p:nvPr/>
        </p:nvSpPr>
        <p:spPr>
          <a:xfrm>
            <a:off x="4012616" y="3995928"/>
            <a:ext cx="176319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Health</a:t>
            </a:r>
            <a:endParaRPr lang="en-US" sz="1200" dirty="0"/>
          </a:p>
        </p:txBody>
      </p:sp>
      <p:sp>
        <p:nvSpPr>
          <p:cNvPr id="35" name="Text 26"/>
          <p:cNvSpPr txBox="1"/>
          <p:nvPr/>
        </p:nvSpPr>
        <p:spPr>
          <a:xfrm>
            <a:off x="3610280" y="4370832"/>
            <a:ext cx="2147240" cy="411480"/>
          </a:xfrm>
          <a:prstGeom prst="rect">
            <a:avLst/>
          </a:prstGeom>
          <a:noFill/>
          <a:ln/>
        </p:spPr>
        <p:txBody>
          <a:bodyPr wrap="square" lIns="0" tIns="0" rIns="0" bIns="0" rtlCol="0" anchor="ctr"/>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Read steps, heart rate and sleep; log workouts on opt-in.</a:t>
            </a:r>
            <a:endParaRPr lang="en-US" sz="950" dirty="0"/>
          </a:p>
        </p:txBody>
      </p:sp>
      <p:sp>
        <p:nvSpPr>
          <p:cNvPr id="36" name="Shape 27"/>
          <p:cNvSpPr/>
          <p:nvPr/>
        </p:nvSpPr>
        <p:spPr>
          <a:xfrm>
            <a:off x="6214720" y="3749040"/>
            <a:ext cx="2586152" cy="1115568"/>
          </a:xfrm>
          <a:prstGeom prst="roundRect">
            <a:avLst>
              <a:gd name="adj" fmla="val 573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7" name="Shape 28"/>
          <p:cNvSpPr/>
          <p:nvPr/>
        </p:nvSpPr>
        <p:spPr>
          <a:xfrm>
            <a:off x="6434176" y="3968496"/>
            <a:ext cx="329184" cy="329184"/>
          </a:xfrm>
          <a:prstGeom prst="roundRect">
            <a:avLst>
              <a:gd name="adj" fmla="val 77778"/>
            </a:avLst>
          </a:prstGeom>
          <a:solidFill>
            <a:srgbClr val="9B7BFF"/>
          </a:solidFill>
          <a:ln w="12700">
            <a:solidFill>
              <a:srgbClr val="9B7BFF"/>
            </a:solidFill>
            <a:prstDash val="solid"/>
          </a:ln>
        </p:spPr>
      </p:sp>
      <p:pic>
        <p:nvPicPr>
          <p:cNvPr id="38" name="Image 7" descr="preencoded.png">    </p:cNvPr>
          <p:cNvPicPr>
            <a:picLocks noChangeAspect="1"/>
          </p:cNvPicPr>
          <p:nvPr/>
        </p:nvPicPr>
        <p:blipFill>
          <a:blip r:embed="rId8"/>
          <a:stretch>
            <a:fillRect/>
          </a:stretch>
        </p:blipFill>
        <p:spPr>
          <a:xfrm>
            <a:off x="6519763" y="4054084"/>
            <a:ext cx="158008" cy="158008"/>
          </a:xfrm>
          <a:prstGeom prst="rect">
            <a:avLst/>
          </a:prstGeom>
        </p:spPr>
      </p:pic>
      <p:sp>
        <p:nvSpPr>
          <p:cNvPr id="39" name="Text 29"/>
          <p:cNvSpPr txBox="1"/>
          <p:nvPr/>
        </p:nvSpPr>
        <p:spPr>
          <a:xfrm>
            <a:off x="6836512" y="3995928"/>
            <a:ext cx="176319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Contacts</a:t>
            </a:r>
            <a:endParaRPr lang="en-US" sz="1200" dirty="0"/>
          </a:p>
        </p:txBody>
      </p:sp>
      <p:sp>
        <p:nvSpPr>
          <p:cNvPr id="40" name="Text 30"/>
          <p:cNvSpPr txBox="1"/>
          <p:nvPr/>
        </p:nvSpPr>
        <p:spPr>
          <a:xfrm>
            <a:off x="6434176" y="4370832"/>
            <a:ext cx="2147240" cy="411480"/>
          </a:xfrm>
          <a:prstGeom prst="rect">
            <a:avLst/>
          </a:prstGeom>
          <a:noFill/>
          <a:ln/>
        </p:spPr>
        <p:txBody>
          <a:bodyPr wrap="square" lIns="0" tIns="0" rIns="0" bIns="0" rtlCol="0" anchor="ctr"/>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Search the address book; create and update on write opt-in.</a:t>
            </a:r>
            <a:endParaRPr lang="en-US" sz="950" dirty="0"/>
          </a:p>
        </p:txBody>
      </p:sp>
      <p:sp>
        <p:nvSpPr>
          <p:cNvPr id="41" name="Shape 31"/>
          <p:cNvSpPr/>
          <p:nvPr/>
        </p:nvSpPr>
        <p:spPr>
          <a:xfrm>
            <a:off x="9038615" y="3749040"/>
            <a:ext cx="2586152" cy="1115568"/>
          </a:xfrm>
          <a:prstGeom prst="roundRect">
            <a:avLst>
              <a:gd name="adj" fmla="val 573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42" name="Shape 32"/>
          <p:cNvSpPr/>
          <p:nvPr/>
        </p:nvSpPr>
        <p:spPr>
          <a:xfrm>
            <a:off x="9258071" y="3968496"/>
            <a:ext cx="329184" cy="329184"/>
          </a:xfrm>
          <a:prstGeom prst="roundRect">
            <a:avLst>
              <a:gd name="adj" fmla="val 77778"/>
            </a:avLst>
          </a:prstGeom>
          <a:solidFill>
            <a:srgbClr val="9B7BFF"/>
          </a:solidFill>
          <a:ln w="12700">
            <a:solidFill>
              <a:srgbClr val="9B7BFF"/>
            </a:solidFill>
            <a:prstDash val="solid"/>
          </a:ln>
        </p:spPr>
      </p:sp>
      <p:pic>
        <p:nvPicPr>
          <p:cNvPr id="43" name="Image 8" descr="preencoded.png">    </p:cNvPr>
          <p:cNvPicPr>
            <a:picLocks noChangeAspect="1"/>
          </p:cNvPicPr>
          <p:nvPr/>
        </p:nvPicPr>
        <p:blipFill>
          <a:blip r:embed="rId9"/>
          <a:stretch>
            <a:fillRect/>
          </a:stretch>
        </p:blipFill>
        <p:spPr>
          <a:xfrm>
            <a:off x="9343659" y="4054084"/>
            <a:ext cx="158008" cy="158008"/>
          </a:xfrm>
          <a:prstGeom prst="rect">
            <a:avLst/>
          </a:prstGeom>
        </p:spPr>
      </p:pic>
      <p:sp>
        <p:nvSpPr>
          <p:cNvPr id="44" name="Text 33"/>
          <p:cNvSpPr txBox="1"/>
          <p:nvPr/>
        </p:nvSpPr>
        <p:spPr>
          <a:xfrm>
            <a:off x="9660407" y="3995928"/>
            <a:ext cx="176319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Calendar</a:t>
            </a:r>
            <a:endParaRPr lang="en-US" sz="1200" dirty="0"/>
          </a:p>
        </p:txBody>
      </p:sp>
      <p:sp>
        <p:nvSpPr>
          <p:cNvPr id="45" name="Text 34"/>
          <p:cNvSpPr txBox="1"/>
          <p:nvPr/>
        </p:nvSpPr>
        <p:spPr>
          <a:xfrm>
            <a:off x="9258071" y="4370832"/>
            <a:ext cx="2147240" cy="411480"/>
          </a:xfrm>
          <a:prstGeom prst="rect">
            <a:avLst/>
          </a:prstGeom>
          <a:noFill/>
          <a:ln/>
        </p:spPr>
        <p:txBody>
          <a:bodyPr wrap="square" lIns="0" tIns="0" rIns="0" bIns="0" rtlCol="0" anchor="ctr"/>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List calendars and search events in a date window.</a:t>
            </a:r>
            <a:endParaRPr lang="en-US" sz="950" dirty="0"/>
          </a:p>
        </p:txBody>
      </p:sp>
      <p:sp>
        <p:nvSpPr>
          <p:cNvPr id="46" name="Shape 35"/>
          <p:cNvSpPr/>
          <p:nvPr/>
        </p:nvSpPr>
        <p:spPr>
          <a:xfrm>
            <a:off x="566928" y="5102352"/>
            <a:ext cx="2586152" cy="1115568"/>
          </a:xfrm>
          <a:prstGeom prst="roundRect">
            <a:avLst>
              <a:gd name="adj" fmla="val 573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47" name="Shape 36"/>
          <p:cNvSpPr/>
          <p:nvPr/>
        </p:nvSpPr>
        <p:spPr>
          <a:xfrm>
            <a:off x="786384" y="5321808"/>
            <a:ext cx="329184" cy="329184"/>
          </a:xfrm>
          <a:prstGeom prst="roundRect">
            <a:avLst>
              <a:gd name="adj" fmla="val 77778"/>
            </a:avLst>
          </a:prstGeom>
          <a:solidFill>
            <a:srgbClr val="2BE5A0"/>
          </a:solidFill>
          <a:ln w="12700">
            <a:solidFill>
              <a:srgbClr val="2BE5A0"/>
            </a:solidFill>
            <a:prstDash val="solid"/>
          </a:ln>
        </p:spPr>
      </p:sp>
      <p:pic>
        <p:nvPicPr>
          <p:cNvPr id="48" name="Image 9" descr="preencoded.png">    </p:cNvPr>
          <p:cNvPicPr>
            <a:picLocks noChangeAspect="1"/>
          </p:cNvPicPr>
          <p:nvPr/>
        </p:nvPicPr>
        <p:blipFill>
          <a:blip r:embed="rId10"/>
          <a:stretch>
            <a:fillRect/>
          </a:stretch>
        </p:blipFill>
        <p:spPr>
          <a:xfrm>
            <a:off x="871972" y="5407396"/>
            <a:ext cx="158008" cy="158008"/>
          </a:xfrm>
          <a:prstGeom prst="rect">
            <a:avLst/>
          </a:prstGeom>
        </p:spPr>
      </p:pic>
      <p:sp>
        <p:nvSpPr>
          <p:cNvPr id="49" name="Text 37"/>
          <p:cNvSpPr txBox="1"/>
          <p:nvPr/>
        </p:nvSpPr>
        <p:spPr>
          <a:xfrm>
            <a:off x="1188720" y="5349240"/>
            <a:ext cx="176319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Reminders</a:t>
            </a:r>
            <a:endParaRPr lang="en-US" sz="1200" dirty="0"/>
          </a:p>
        </p:txBody>
      </p:sp>
      <p:sp>
        <p:nvSpPr>
          <p:cNvPr id="50" name="Text 38"/>
          <p:cNvSpPr txBox="1"/>
          <p:nvPr/>
        </p:nvSpPr>
        <p:spPr>
          <a:xfrm>
            <a:off x="786384" y="5724144"/>
            <a:ext cx="2147240" cy="411480"/>
          </a:xfrm>
          <a:prstGeom prst="rect">
            <a:avLst/>
          </a:prstGeom>
          <a:noFill/>
          <a:ln/>
        </p:spPr>
        <p:txBody>
          <a:bodyPr wrap="square" lIns="0" tIns="0" rIns="0" bIns="0" rtlCol="0" anchor="ctr"/>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List pending reminders, schedule and cancel them.</a:t>
            </a:r>
            <a:endParaRPr lang="en-US" sz="950" dirty="0"/>
          </a:p>
        </p:txBody>
      </p:sp>
      <p:sp>
        <p:nvSpPr>
          <p:cNvPr id="51" name="Shape 39"/>
          <p:cNvSpPr/>
          <p:nvPr/>
        </p:nvSpPr>
        <p:spPr>
          <a:xfrm>
            <a:off x="3390824" y="5102352"/>
            <a:ext cx="2586152" cy="1115568"/>
          </a:xfrm>
          <a:prstGeom prst="roundRect">
            <a:avLst>
              <a:gd name="adj" fmla="val 573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52" name="Shape 40"/>
          <p:cNvSpPr/>
          <p:nvPr/>
        </p:nvSpPr>
        <p:spPr>
          <a:xfrm>
            <a:off x="3610280" y="5321808"/>
            <a:ext cx="329184" cy="329184"/>
          </a:xfrm>
          <a:prstGeom prst="roundRect">
            <a:avLst>
              <a:gd name="adj" fmla="val 77778"/>
            </a:avLst>
          </a:prstGeom>
          <a:solidFill>
            <a:srgbClr val="9B7BFF"/>
          </a:solidFill>
          <a:ln w="12700">
            <a:solidFill>
              <a:srgbClr val="9B7BFF"/>
            </a:solidFill>
            <a:prstDash val="solid"/>
          </a:ln>
        </p:spPr>
      </p:sp>
      <p:pic>
        <p:nvPicPr>
          <p:cNvPr id="53" name="Image 10" descr="preencoded.png">    </p:cNvPr>
          <p:cNvPicPr>
            <a:picLocks noChangeAspect="1"/>
          </p:cNvPicPr>
          <p:nvPr/>
        </p:nvPicPr>
        <p:blipFill>
          <a:blip r:embed="rId11"/>
          <a:stretch>
            <a:fillRect/>
          </a:stretch>
        </p:blipFill>
        <p:spPr>
          <a:xfrm>
            <a:off x="3695868" y="5407396"/>
            <a:ext cx="158008" cy="158008"/>
          </a:xfrm>
          <a:prstGeom prst="rect">
            <a:avLst/>
          </a:prstGeom>
        </p:spPr>
      </p:pic>
      <p:sp>
        <p:nvSpPr>
          <p:cNvPr id="54" name="Text 41"/>
          <p:cNvSpPr txBox="1"/>
          <p:nvPr/>
        </p:nvSpPr>
        <p:spPr>
          <a:xfrm>
            <a:off x="4012616" y="5349240"/>
            <a:ext cx="176319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Location</a:t>
            </a:r>
            <a:endParaRPr lang="en-US" sz="1200" dirty="0"/>
          </a:p>
        </p:txBody>
      </p:sp>
      <p:sp>
        <p:nvSpPr>
          <p:cNvPr id="55" name="Text 42"/>
          <p:cNvSpPr txBox="1"/>
          <p:nvPr/>
        </p:nvSpPr>
        <p:spPr>
          <a:xfrm>
            <a:off x="3610280" y="5724144"/>
            <a:ext cx="2147240" cy="411480"/>
          </a:xfrm>
          <a:prstGeom prst="rect">
            <a:avLst/>
          </a:prstGeom>
          <a:noFill/>
          <a:ln/>
        </p:spPr>
        <p:txBody>
          <a:bodyPr wrap="square" lIns="0" tIns="0" rIns="0" bIns="0" rtlCol="0" anchor="ctr"/>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Read-only GPS awareness, distance and travel estimates.</a:t>
            </a:r>
            <a:endParaRPr lang="en-US" sz="950" dirty="0"/>
          </a:p>
        </p:txBody>
      </p:sp>
      <p:sp>
        <p:nvSpPr>
          <p:cNvPr id="56" name="Shape 43"/>
          <p:cNvSpPr/>
          <p:nvPr/>
        </p:nvSpPr>
        <p:spPr>
          <a:xfrm>
            <a:off x="6214720" y="5102352"/>
            <a:ext cx="2586152" cy="1115568"/>
          </a:xfrm>
          <a:prstGeom prst="roundRect">
            <a:avLst>
              <a:gd name="adj" fmla="val 573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57" name="Shape 44"/>
          <p:cNvSpPr/>
          <p:nvPr/>
        </p:nvSpPr>
        <p:spPr>
          <a:xfrm>
            <a:off x="6434176" y="5321808"/>
            <a:ext cx="329184" cy="329184"/>
          </a:xfrm>
          <a:prstGeom prst="roundRect">
            <a:avLst>
              <a:gd name="adj" fmla="val 77778"/>
            </a:avLst>
          </a:prstGeom>
          <a:solidFill>
            <a:srgbClr val="9B7BFF"/>
          </a:solidFill>
          <a:ln w="12700">
            <a:solidFill>
              <a:srgbClr val="9B7BFF"/>
            </a:solidFill>
            <a:prstDash val="solid"/>
          </a:ln>
        </p:spPr>
      </p:sp>
      <p:pic>
        <p:nvPicPr>
          <p:cNvPr id="58" name="Image 11" descr="preencoded.png">    </p:cNvPr>
          <p:cNvPicPr>
            <a:picLocks noChangeAspect="1"/>
          </p:cNvPicPr>
          <p:nvPr/>
        </p:nvPicPr>
        <p:blipFill>
          <a:blip r:embed="rId12"/>
          <a:stretch>
            <a:fillRect/>
          </a:stretch>
        </p:blipFill>
        <p:spPr>
          <a:xfrm>
            <a:off x="6519763" y="5407396"/>
            <a:ext cx="158008" cy="158008"/>
          </a:xfrm>
          <a:prstGeom prst="rect">
            <a:avLst/>
          </a:prstGeom>
        </p:spPr>
      </p:pic>
      <p:sp>
        <p:nvSpPr>
          <p:cNvPr id="59" name="Text 45"/>
          <p:cNvSpPr txBox="1"/>
          <p:nvPr/>
        </p:nvSpPr>
        <p:spPr>
          <a:xfrm>
            <a:off x="6836512" y="5349240"/>
            <a:ext cx="1763192"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Music</a:t>
            </a:r>
            <a:endParaRPr lang="en-US" sz="1200" dirty="0"/>
          </a:p>
        </p:txBody>
      </p:sp>
      <p:sp>
        <p:nvSpPr>
          <p:cNvPr id="60" name="Text 46"/>
          <p:cNvSpPr txBox="1"/>
          <p:nvPr/>
        </p:nvSpPr>
        <p:spPr>
          <a:xfrm>
            <a:off x="6434176" y="5724144"/>
            <a:ext cx="2147240" cy="411480"/>
          </a:xfrm>
          <a:prstGeom prst="rect">
            <a:avLst/>
          </a:prstGeom>
          <a:noFill/>
          <a:ln/>
        </p:spPr>
        <p:txBody>
          <a:bodyPr wrap="square" lIns="0" tIns="0" rIns="0" bIns="0" rtlCol="0" anchor="ctr"/>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Search the library, control playback, manage playlists.</a:t>
            </a:r>
            <a:endParaRPr lang="en-US" sz="950" dirty="0"/>
          </a:p>
        </p:txBody>
      </p:sp>
      <p:sp>
        <p:nvSpPr>
          <p:cNvPr id="61" name="Shape 47"/>
          <p:cNvSpPr/>
          <p:nvPr/>
        </p:nvSpPr>
        <p:spPr>
          <a:xfrm>
            <a:off x="9038615" y="5102352"/>
            <a:ext cx="2586152" cy="1115568"/>
          </a:xfrm>
          <a:prstGeom prst="roundRect">
            <a:avLst>
              <a:gd name="adj" fmla="val 5738"/>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62" name="Text 48"/>
          <p:cNvSpPr txBox="1"/>
          <p:nvPr/>
        </p:nvSpPr>
        <p:spPr>
          <a:xfrm>
            <a:off x="9258071" y="5102352"/>
            <a:ext cx="2147240" cy="1115568"/>
          </a:xfrm>
          <a:prstGeom prst="rect">
            <a:avLst/>
          </a:prstGeom>
          <a:noFill/>
          <a:ln/>
        </p:spPr>
        <p:txBody>
          <a:bodyPr wrap="square" lIns="0" tIns="0" rIns="0" bIns="0" rtlCol="0" anchor="ctr"/>
          <a:lstStyle/>
          <a:p>
            <a:pPr indent="0" marL="0">
              <a:lnSpc>
                <a:spcPts val="1600"/>
              </a:lnSpc>
              <a:buNone/>
            </a:pPr>
            <a:r>
              <a:rPr lang="en-US" sz="1150" b="1" dirty="0">
                <a:solidFill>
                  <a:srgbClr val="CFFA12"/>
                </a:solidFill>
                <a:latin typeface="Calibri" pitchFamily="34" charset="0"/>
                <a:ea typeface="Calibri" pitchFamily="34" charset="-122"/>
                <a:cs typeface="Calibri" pitchFamily="34" charset="-120"/>
              </a:rPr>
              <a:t>Read-only by default.</a:t>
            </a:r>
            <a:endParaRPr lang="en-US" sz="1150" dirty="0"/>
          </a:p>
          <a:p>
            <a:pPr indent="0" marL="0">
              <a:lnSpc>
                <a:spcPts val="1600"/>
              </a:lnSpc>
              <a:buNone/>
            </a:pPr>
            <a:r>
              <a:rPr lang="en-US" sz="1150" b="1" dirty="0">
                <a:solidFill>
                  <a:srgbClr val="CFFA12"/>
                </a:solidFill>
                <a:latin typeface="Calibri" pitchFamily="34" charset="0"/>
                <a:ea typeface="Calibri" pitchFamily="34" charset="-122"/>
                <a:cs typeface="Calibri" pitchFamily="34" charset="-120"/>
              </a:rPr>
              <a:t>Writes are opt-in, per operation.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A15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pic>
        <p:nvPicPr>
          <p:cNvPr id="3" name="Image 1" descr="preencoded.png">    </p:cNvPr>
          <p:cNvPicPr>
            <a:picLocks noChangeAspect="1"/>
          </p:cNvPicPr>
          <p:nvPr/>
        </p:nvPicPr>
        <p:blipFill>
          <a:blip r:embed="rId2"/>
          <a:stretch>
            <a:fillRect/>
          </a:stretch>
        </p:blipFill>
        <p:spPr>
          <a:xfrm>
            <a:off x="566928" y="1737360"/>
            <a:ext cx="841248" cy="841248"/>
          </a:xfrm>
          <a:prstGeom prst="rect">
            <a:avLst/>
          </a:prstGeom>
        </p:spPr>
      </p:pic>
      <p:pic>
        <p:nvPicPr>
          <p:cNvPr id="4" name="Image 2" descr="preencoded.png">    </p:cNvPr>
          <p:cNvPicPr>
            <a:picLocks noChangeAspect="1"/>
          </p:cNvPicPr>
          <p:nvPr/>
        </p:nvPicPr>
        <p:blipFill>
          <a:blip r:embed="rId3"/>
          <a:stretch>
            <a:fillRect/>
          </a:stretch>
        </p:blipFill>
        <p:spPr>
          <a:xfrm>
            <a:off x="786384" y="1956816"/>
            <a:ext cx="402336" cy="402336"/>
          </a:xfrm>
          <a:prstGeom prst="rect">
            <a:avLst/>
          </a:prstGeom>
        </p:spPr>
      </p:pic>
      <p:sp>
        <p:nvSpPr>
          <p:cNvPr id="5" name="Text 0"/>
          <p:cNvSpPr txBox="1"/>
          <p:nvPr/>
        </p:nvSpPr>
        <p:spPr>
          <a:xfrm>
            <a:off x="566928" y="2852928"/>
            <a:ext cx="4572000" cy="237744"/>
          </a:xfrm>
          <a:prstGeom prst="rect">
            <a:avLst/>
          </a:prstGeom>
          <a:noFill/>
          <a:ln/>
        </p:spPr>
        <p:txBody>
          <a:bodyPr wrap="square" lIns="0" tIns="0" rIns="0" bIns="0" rtlCol="0" anchor="ctr"/>
          <a:lstStyle/>
          <a:p>
            <a:pPr indent="0" marL="0">
              <a:buNone/>
            </a:pPr>
            <a:r>
              <a:rPr lang="en-US" sz="1100" b="1" spc="260" kern="0" dirty="0">
                <a:solidFill>
                  <a:srgbClr val="CFFA12"/>
                </a:solidFill>
                <a:latin typeface="Calibri" pitchFamily="34" charset="0"/>
                <a:ea typeface="Calibri" pitchFamily="34" charset="-122"/>
                <a:cs typeface="Calibri" pitchFamily="34" charset="-120"/>
              </a:rPr>
              <a:t>SECTION 04</a:t>
            </a:r>
            <a:endParaRPr lang="en-US" sz="1100" dirty="0"/>
          </a:p>
        </p:txBody>
      </p:sp>
      <p:sp>
        <p:nvSpPr>
          <p:cNvPr id="6" name="Text 1"/>
          <p:cNvSpPr txBox="1"/>
          <p:nvPr/>
        </p:nvSpPr>
        <p:spPr>
          <a:xfrm>
            <a:off x="566928" y="3127248"/>
            <a:ext cx="603504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Background, Delivery &amp; MAUI</a:t>
            </a:r>
            <a:endParaRPr lang="en-US" sz="4000" dirty="0"/>
          </a:p>
        </p:txBody>
      </p:sp>
      <p:pic>
        <p:nvPicPr>
          <p:cNvPr id="7" name="Image 3" descr="preencoded.png">    </p:cNvPr>
          <p:cNvPicPr>
            <a:picLocks noChangeAspect="1"/>
          </p:cNvPicPr>
          <p:nvPr/>
        </p:nvPicPr>
        <p:blipFill>
          <a:blip r:embed="rId4"/>
          <a:stretch>
            <a:fillRect/>
          </a:stretch>
        </p:blipFill>
        <p:spPr>
          <a:xfrm>
            <a:off x="566928" y="3986784"/>
            <a:ext cx="2194560" cy="45720"/>
          </a:xfrm>
          <a:prstGeom prst="rect">
            <a:avLst/>
          </a:prstGeom>
        </p:spPr>
      </p:pic>
      <p:sp>
        <p:nvSpPr>
          <p:cNvPr id="8" name="Text 2"/>
          <p:cNvSpPr txBox="1"/>
          <p:nvPr/>
        </p:nvSpPr>
        <p:spPr>
          <a:xfrm>
            <a:off x="566928" y="4169664"/>
            <a:ext cx="5669280" cy="822960"/>
          </a:xfrm>
          <a:prstGeom prst="rect">
            <a:avLst/>
          </a:prstGeom>
          <a:noFill/>
          <a:ln/>
        </p:spPr>
        <p:txBody>
          <a:bodyPr wrap="square" lIns="0" tIns="0" rIns="0" bIns="0" rtlCol="0" anchor="ctr"/>
          <a:lstStyle/>
          <a:p>
            <a:pPr indent="0" marL="0">
              <a:lnSpc>
                <a:spcPts val="2000"/>
              </a:lnSpc>
              <a:buNone/>
            </a:pPr>
            <a:r>
              <a:rPr lang="en-US" sz="1400" dirty="0">
                <a:solidFill>
                  <a:srgbClr val="D6CCFF"/>
                </a:solidFill>
                <a:latin typeface="Calibri" pitchFamily="34" charset="0"/>
                <a:ea typeface="Calibri" pitchFamily="34" charset="-122"/>
                <a:cs typeface="Calibri" pitchFamily="34" charset="-120"/>
              </a:rPr>
              <a:t>Work that keeps running when your app is off screen, and the plumbing that holds a MAUI app together.</a:t>
            </a:r>
            <a:endParaRPr lang="en-US" sz="1400" dirty="0"/>
          </a:p>
        </p:txBody>
      </p:sp>
      <p:sp>
        <p:nvSpPr>
          <p:cNvPr id="9" name="Shape 3"/>
          <p:cNvSpPr/>
          <p:nvPr/>
        </p:nvSpPr>
        <p:spPr>
          <a:xfrm>
            <a:off x="6903720" y="1737360"/>
            <a:ext cx="4721047" cy="475488"/>
          </a:xfrm>
          <a:prstGeom prst="roundRect">
            <a:avLst>
              <a:gd name="adj" fmla="val 26923"/>
            </a:avLst>
          </a:prstGeom>
          <a:solidFill>
            <a:srgbClr val="3C22A6"/>
          </a:solidFill>
          <a:ln w="12700">
            <a:solidFill>
              <a:srgbClr val="5335C9"/>
            </a:solidFill>
            <a:prstDash val="solid"/>
          </a:ln>
        </p:spPr>
      </p:sp>
      <p:sp>
        <p:nvSpPr>
          <p:cNvPr id="10" name="Text 4"/>
          <p:cNvSpPr txBox="1"/>
          <p:nvPr/>
        </p:nvSpPr>
        <p:spPr>
          <a:xfrm>
            <a:off x="7214616" y="1737360"/>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Background jobs that survive restarts</a:t>
            </a:r>
            <a:endParaRPr lang="en-US" sz="1250" dirty="0"/>
          </a:p>
        </p:txBody>
      </p:sp>
      <p:sp>
        <p:nvSpPr>
          <p:cNvPr id="11" name="Shape 5"/>
          <p:cNvSpPr/>
          <p:nvPr/>
        </p:nvSpPr>
        <p:spPr>
          <a:xfrm>
            <a:off x="6903720" y="2340864"/>
            <a:ext cx="4721047" cy="475488"/>
          </a:xfrm>
          <a:prstGeom prst="roundRect">
            <a:avLst>
              <a:gd name="adj" fmla="val 26923"/>
            </a:avLst>
          </a:prstGeom>
          <a:solidFill>
            <a:srgbClr val="3C22A6"/>
          </a:solidFill>
          <a:ln w="12700">
            <a:solidFill>
              <a:srgbClr val="5335C9"/>
            </a:solidFill>
            <a:prstDash val="solid"/>
          </a:ln>
        </p:spPr>
      </p:sp>
      <p:sp>
        <p:nvSpPr>
          <p:cNvPr id="12" name="Text 6"/>
          <p:cNvSpPr txBox="1"/>
          <p:nvPr/>
        </p:nvSpPr>
        <p:spPr>
          <a:xfrm>
            <a:off x="7214616" y="2340864"/>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Resumable HTTP transfers</a:t>
            </a:r>
            <a:endParaRPr lang="en-US" sz="1250" dirty="0"/>
          </a:p>
        </p:txBody>
      </p:sp>
      <p:sp>
        <p:nvSpPr>
          <p:cNvPr id="13" name="Shape 7"/>
          <p:cNvSpPr/>
          <p:nvPr/>
        </p:nvSpPr>
        <p:spPr>
          <a:xfrm>
            <a:off x="6903720" y="2944368"/>
            <a:ext cx="4721047" cy="475488"/>
          </a:xfrm>
          <a:prstGeom prst="roundRect">
            <a:avLst>
              <a:gd name="adj" fmla="val 26923"/>
            </a:avLst>
          </a:prstGeom>
          <a:solidFill>
            <a:srgbClr val="3C22A6"/>
          </a:solidFill>
          <a:ln w="12700">
            <a:solidFill>
              <a:srgbClr val="5335C9"/>
            </a:solidFill>
            <a:prstDash val="solid"/>
          </a:ln>
        </p:spPr>
      </p:sp>
      <p:sp>
        <p:nvSpPr>
          <p:cNvPr id="14" name="Text 8"/>
          <p:cNvSpPr txBox="1"/>
          <p:nvPr/>
        </p:nvSpPr>
        <p:spPr>
          <a:xfrm>
            <a:off x="7214616" y="2944368"/>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Local and push notifications</a:t>
            </a:r>
            <a:endParaRPr lang="en-US" sz="1250" dirty="0"/>
          </a:p>
        </p:txBody>
      </p:sp>
      <p:sp>
        <p:nvSpPr>
          <p:cNvPr id="15" name="Shape 9"/>
          <p:cNvSpPr/>
          <p:nvPr/>
        </p:nvSpPr>
        <p:spPr>
          <a:xfrm>
            <a:off x="6903720" y="3547872"/>
            <a:ext cx="4721047" cy="475488"/>
          </a:xfrm>
          <a:prstGeom prst="roundRect">
            <a:avLst>
              <a:gd name="adj" fmla="val 26923"/>
            </a:avLst>
          </a:prstGeom>
          <a:solidFill>
            <a:srgbClr val="3C22A6"/>
          </a:solidFill>
          <a:ln w="12700">
            <a:solidFill>
              <a:srgbClr val="5335C9"/>
            </a:solidFill>
            <a:prstDash val="solid"/>
          </a:ln>
        </p:spPr>
      </p:sp>
      <p:sp>
        <p:nvSpPr>
          <p:cNvPr id="16" name="Text 10"/>
          <p:cNvSpPr txBox="1"/>
          <p:nvPr/>
        </p:nvSpPr>
        <p:spPr>
          <a:xfrm>
            <a:off x="7214616" y="3547872"/>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Shell navigation and MAUI hosting</a:t>
            </a:r>
            <a:endParaRPr lang="en-US" sz="1250" dirty="0"/>
          </a:p>
        </p:txBody>
      </p:sp>
      <p:sp>
        <p:nvSpPr>
          <p:cNvPr id="17" name="Shape 11"/>
          <p:cNvSpPr/>
          <p:nvPr/>
        </p:nvSpPr>
        <p:spPr>
          <a:xfrm>
            <a:off x="6903720" y="4151376"/>
            <a:ext cx="4721047" cy="475488"/>
          </a:xfrm>
          <a:prstGeom prst="roundRect">
            <a:avLst>
              <a:gd name="adj" fmla="val 26923"/>
            </a:avLst>
          </a:prstGeom>
          <a:solidFill>
            <a:srgbClr val="3C22A6"/>
          </a:solidFill>
          <a:ln w="12700">
            <a:solidFill>
              <a:srgbClr val="5335C9"/>
            </a:solidFill>
            <a:prstDash val="solid"/>
          </a:ln>
        </p:spPr>
      </p:sp>
      <p:sp>
        <p:nvSpPr>
          <p:cNvPr id="18" name="Text 12"/>
          <p:cNvSpPr txBox="1"/>
          <p:nvPr/>
        </p:nvSpPr>
        <p:spPr>
          <a:xfrm>
            <a:off x="7214616" y="4151376"/>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Configuration and MSBuild permissions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04 · BACKGROUND &amp; DELIVERY</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When the app is not on screen</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Scheduled work, transfers and the notifications that bring users back.</a:t>
            </a:r>
            <a:endParaRPr lang="en-US" sz="1350" dirty="0"/>
          </a:p>
        </p:txBody>
      </p:sp>
      <p:sp>
        <p:nvSpPr>
          <p:cNvPr id="6" name="Shape 3"/>
          <p:cNvSpPr/>
          <p:nvPr/>
        </p:nvSpPr>
        <p:spPr>
          <a:xfrm>
            <a:off x="566928" y="2212848"/>
            <a:ext cx="2586152" cy="2148840"/>
          </a:xfrm>
          <a:prstGeom prst="roundRect">
            <a:avLst>
              <a:gd name="adj" fmla="val 2979"/>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04672" y="2432304"/>
            <a:ext cx="420624" cy="420624"/>
          </a:xfrm>
          <a:prstGeom prst="roundRect">
            <a:avLst>
              <a:gd name="adj" fmla="val 60870"/>
            </a:avLst>
          </a:prstGeom>
          <a:solidFill>
            <a:srgbClr val="9B7BFF"/>
          </a:solidFill>
          <a:ln w="12700">
            <a:solidFill>
              <a:srgbClr val="9B7BFF"/>
            </a:solidFill>
            <a:prstDash val="solid"/>
          </a:ln>
        </p:spPr>
      </p:sp>
      <p:pic>
        <p:nvPicPr>
          <p:cNvPr id="8" name="Image 1" descr="preencoded.png">    </p:cNvPr>
          <p:cNvPicPr>
            <a:picLocks noChangeAspect="1"/>
          </p:cNvPicPr>
          <p:nvPr/>
        </p:nvPicPr>
        <p:blipFill>
          <a:blip r:embed="rId2"/>
          <a:stretch>
            <a:fillRect/>
          </a:stretch>
        </p:blipFill>
        <p:spPr>
          <a:xfrm>
            <a:off x="914034" y="2541666"/>
            <a:ext cx="201900" cy="201900"/>
          </a:xfrm>
          <a:prstGeom prst="rect">
            <a:avLst/>
          </a:prstGeom>
        </p:spPr>
      </p:pic>
      <p:sp>
        <p:nvSpPr>
          <p:cNvPr id="9" name="Text 5"/>
          <p:cNvSpPr txBox="1"/>
          <p:nvPr/>
        </p:nvSpPr>
        <p:spPr>
          <a:xfrm>
            <a:off x="1389888" y="2523744"/>
            <a:ext cx="1580312"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Background Jobs</a:t>
            </a:r>
            <a:endParaRPr lang="en-US" sz="1350" dirty="0"/>
          </a:p>
        </p:txBody>
      </p:sp>
      <p:sp>
        <p:nvSpPr>
          <p:cNvPr id="10" name="Text 6"/>
          <p:cNvSpPr txBox="1"/>
          <p:nvPr/>
        </p:nvSpPr>
        <p:spPr>
          <a:xfrm>
            <a:off x="804672" y="2999232"/>
            <a:ext cx="2110664" cy="121615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Periodic and one-shot tasks that survive app restarts, with platform-aware scheduling and battery optimization.</a:t>
            </a:r>
            <a:endParaRPr lang="en-US" sz="1100" dirty="0"/>
          </a:p>
        </p:txBody>
      </p:sp>
      <p:sp>
        <p:nvSpPr>
          <p:cNvPr id="11" name="Shape 7"/>
          <p:cNvSpPr/>
          <p:nvPr/>
        </p:nvSpPr>
        <p:spPr>
          <a:xfrm>
            <a:off x="3390824" y="2212848"/>
            <a:ext cx="2586152" cy="2148840"/>
          </a:xfrm>
          <a:prstGeom prst="roundRect">
            <a:avLst>
              <a:gd name="adj" fmla="val 2979"/>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2" name="Shape 8"/>
          <p:cNvSpPr/>
          <p:nvPr/>
        </p:nvSpPr>
        <p:spPr>
          <a:xfrm>
            <a:off x="3628568" y="2432304"/>
            <a:ext cx="420624" cy="420624"/>
          </a:xfrm>
          <a:prstGeom prst="roundRect">
            <a:avLst>
              <a:gd name="adj" fmla="val 60870"/>
            </a:avLst>
          </a:prstGeom>
          <a:solidFill>
            <a:srgbClr val="2BE5A0"/>
          </a:solidFill>
          <a:ln w="12700">
            <a:solidFill>
              <a:srgbClr val="2BE5A0"/>
            </a:solidFill>
            <a:prstDash val="solid"/>
          </a:ln>
        </p:spPr>
      </p:sp>
      <p:pic>
        <p:nvPicPr>
          <p:cNvPr id="13" name="Image 2" descr="preencoded.png">    </p:cNvPr>
          <p:cNvPicPr>
            <a:picLocks noChangeAspect="1"/>
          </p:cNvPicPr>
          <p:nvPr/>
        </p:nvPicPr>
        <p:blipFill>
          <a:blip r:embed="rId3"/>
          <a:stretch>
            <a:fillRect/>
          </a:stretch>
        </p:blipFill>
        <p:spPr>
          <a:xfrm>
            <a:off x="3737930" y="2541666"/>
            <a:ext cx="201900" cy="201900"/>
          </a:xfrm>
          <a:prstGeom prst="rect">
            <a:avLst/>
          </a:prstGeom>
        </p:spPr>
      </p:pic>
      <p:sp>
        <p:nvSpPr>
          <p:cNvPr id="14" name="Text 9"/>
          <p:cNvSpPr txBox="1"/>
          <p:nvPr/>
        </p:nvSpPr>
        <p:spPr>
          <a:xfrm>
            <a:off x="4213784" y="2523744"/>
            <a:ext cx="1580312"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HTTP Transfers</a:t>
            </a:r>
            <a:endParaRPr lang="en-US" sz="1350" dirty="0"/>
          </a:p>
        </p:txBody>
      </p:sp>
      <p:sp>
        <p:nvSpPr>
          <p:cNvPr id="15" name="Text 10"/>
          <p:cNvSpPr txBox="1"/>
          <p:nvPr/>
        </p:nvSpPr>
        <p:spPr>
          <a:xfrm>
            <a:off x="3628568" y="2999232"/>
            <a:ext cx="2110664" cy="121615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Resumable background uploads and downloads with progress monitoring, Azure Blob Storage support and foreground service integration.</a:t>
            </a:r>
            <a:endParaRPr lang="en-US" sz="1100" dirty="0"/>
          </a:p>
        </p:txBody>
      </p:sp>
      <p:sp>
        <p:nvSpPr>
          <p:cNvPr id="16" name="Shape 11"/>
          <p:cNvSpPr/>
          <p:nvPr/>
        </p:nvSpPr>
        <p:spPr>
          <a:xfrm>
            <a:off x="6214720" y="2212848"/>
            <a:ext cx="2586152" cy="2148840"/>
          </a:xfrm>
          <a:prstGeom prst="roundRect">
            <a:avLst>
              <a:gd name="adj" fmla="val 2979"/>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6452464" y="2432304"/>
            <a:ext cx="420624" cy="420624"/>
          </a:xfrm>
          <a:prstGeom prst="roundRect">
            <a:avLst>
              <a:gd name="adj" fmla="val 60870"/>
            </a:avLst>
          </a:prstGeom>
          <a:solidFill>
            <a:srgbClr val="CFFA12"/>
          </a:solidFill>
          <a:ln w="12700">
            <a:solidFill>
              <a:srgbClr val="CFFA12"/>
            </a:solidFill>
            <a:prstDash val="solid"/>
          </a:ln>
        </p:spPr>
      </p:sp>
      <p:pic>
        <p:nvPicPr>
          <p:cNvPr id="18" name="Image 3" descr="preencoded.png">    </p:cNvPr>
          <p:cNvPicPr>
            <a:picLocks noChangeAspect="1"/>
          </p:cNvPicPr>
          <p:nvPr/>
        </p:nvPicPr>
        <p:blipFill>
          <a:blip r:embed="rId4"/>
          <a:stretch>
            <a:fillRect/>
          </a:stretch>
        </p:blipFill>
        <p:spPr>
          <a:xfrm>
            <a:off x="6561826" y="2541666"/>
            <a:ext cx="201900" cy="201900"/>
          </a:xfrm>
          <a:prstGeom prst="rect">
            <a:avLst/>
          </a:prstGeom>
        </p:spPr>
      </p:pic>
      <p:sp>
        <p:nvSpPr>
          <p:cNvPr id="19" name="Text 13"/>
          <p:cNvSpPr txBox="1"/>
          <p:nvPr/>
        </p:nvSpPr>
        <p:spPr>
          <a:xfrm>
            <a:off x="7037680" y="2523744"/>
            <a:ext cx="1580312"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Local Notifications</a:t>
            </a:r>
            <a:endParaRPr lang="en-US" sz="1350" dirty="0"/>
          </a:p>
        </p:txBody>
      </p:sp>
      <p:sp>
        <p:nvSpPr>
          <p:cNvPr id="20" name="Text 14"/>
          <p:cNvSpPr txBox="1"/>
          <p:nvPr/>
        </p:nvSpPr>
        <p:spPr>
          <a:xfrm>
            <a:off x="6452464" y="2999232"/>
            <a:ext cx="2110664" cy="121615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Rich local notifications with channels, scheduling triggers and platform-specific customization.</a:t>
            </a:r>
            <a:endParaRPr lang="en-US" sz="1100" dirty="0"/>
          </a:p>
        </p:txBody>
      </p:sp>
      <p:sp>
        <p:nvSpPr>
          <p:cNvPr id="21" name="Shape 15"/>
          <p:cNvSpPr/>
          <p:nvPr/>
        </p:nvSpPr>
        <p:spPr>
          <a:xfrm>
            <a:off x="9038615" y="2212848"/>
            <a:ext cx="2586152" cy="2148840"/>
          </a:xfrm>
          <a:prstGeom prst="roundRect">
            <a:avLst>
              <a:gd name="adj" fmla="val 2979"/>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Shape 16"/>
          <p:cNvSpPr/>
          <p:nvPr/>
        </p:nvSpPr>
        <p:spPr>
          <a:xfrm>
            <a:off x="9276359" y="2432304"/>
            <a:ext cx="420624" cy="420624"/>
          </a:xfrm>
          <a:prstGeom prst="roundRect">
            <a:avLst>
              <a:gd name="adj" fmla="val 60870"/>
            </a:avLst>
          </a:prstGeom>
          <a:solidFill>
            <a:srgbClr val="9B7BFF"/>
          </a:solidFill>
          <a:ln w="12700">
            <a:solidFill>
              <a:srgbClr val="9B7BFF"/>
            </a:solidFill>
            <a:prstDash val="solid"/>
          </a:ln>
        </p:spPr>
      </p:sp>
      <p:pic>
        <p:nvPicPr>
          <p:cNvPr id="23" name="Image 4" descr="preencoded.png">    </p:cNvPr>
          <p:cNvPicPr>
            <a:picLocks noChangeAspect="1"/>
          </p:cNvPicPr>
          <p:nvPr/>
        </p:nvPicPr>
        <p:blipFill>
          <a:blip r:embed="rId5"/>
          <a:stretch>
            <a:fillRect/>
          </a:stretch>
        </p:blipFill>
        <p:spPr>
          <a:xfrm>
            <a:off x="9385722" y="2541666"/>
            <a:ext cx="201900" cy="201900"/>
          </a:xfrm>
          <a:prstGeom prst="rect">
            <a:avLst/>
          </a:prstGeom>
        </p:spPr>
      </p:pic>
      <p:sp>
        <p:nvSpPr>
          <p:cNvPr id="24" name="Text 17"/>
          <p:cNvSpPr txBox="1"/>
          <p:nvPr/>
        </p:nvSpPr>
        <p:spPr>
          <a:xfrm>
            <a:off x="9861575" y="2523744"/>
            <a:ext cx="1580312"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Push Notifications</a:t>
            </a:r>
            <a:endParaRPr lang="en-US" sz="1350" dirty="0"/>
          </a:p>
        </p:txBody>
      </p:sp>
      <p:sp>
        <p:nvSpPr>
          <p:cNvPr id="25" name="Text 18"/>
          <p:cNvSpPr txBox="1"/>
          <p:nvPr/>
        </p:nvSpPr>
        <p:spPr>
          <a:xfrm>
            <a:off x="9276359" y="2999232"/>
            <a:ext cx="2110664" cy="121615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Native, Firebase and Azure Notification Hub providers behind one delegate model on the device.</a:t>
            </a:r>
            <a:endParaRPr lang="en-US" sz="1100" dirty="0"/>
          </a:p>
        </p:txBody>
      </p:sp>
      <p:sp>
        <p:nvSpPr>
          <p:cNvPr id="26" name="Shape 19"/>
          <p:cNvSpPr/>
          <p:nvPr/>
        </p:nvSpPr>
        <p:spPr>
          <a:xfrm>
            <a:off x="566928" y="4709160"/>
            <a:ext cx="11057839" cy="1463040"/>
          </a:xfrm>
          <a:prstGeom prst="roundRect">
            <a:avLst>
              <a:gd name="adj" fmla="val 4375"/>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7" name="Text 20"/>
          <p:cNvSpPr txBox="1"/>
          <p:nvPr/>
        </p:nvSpPr>
        <p:spPr>
          <a:xfrm>
            <a:off x="932688" y="4937760"/>
            <a:ext cx="4206240" cy="274320"/>
          </a:xfrm>
          <a:prstGeom prst="rect">
            <a:avLst/>
          </a:prstGeom>
          <a:noFill/>
          <a:ln/>
        </p:spPr>
        <p:txBody>
          <a:bodyPr wrap="square" lIns="0" tIns="0" rIns="0" bIns="0" rtlCol="0" anchor="ctr"/>
          <a:lstStyle/>
          <a:p>
            <a:pPr indent="0" marL="0">
              <a:buNone/>
            </a:pPr>
            <a:r>
              <a:rPr lang="en-US" sz="1400" b="1" dirty="0">
                <a:solidFill>
                  <a:srgbClr val="CFFA12"/>
                </a:solidFill>
                <a:latin typeface="Calibri" pitchFamily="34" charset="0"/>
                <a:ea typeface="Calibri" pitchFamily="34" charset="-122"/>
                <a:cs typeface="Calibri" pitchFamily="34" charset="-120"/>
              </a:rPr>
              <a:t>Delegates, not callbacks</a:t>
            </a:r>
            <a:endParaRPr lang="en-US" sz="1400" dirty="0"/>
          </a:p>
        </p:txBody>
      </p:sp>
      <p:sp>
        <p:nvSpPr>
          <p:cNvPr id="28" name="Text 21"/>
          <p:cNvSpPr txBox="1"/>
          <p:nvPr/>
        </p:nvSpPr>
        <p:spPr>
          <a:xfrm>
            <a:off x="932688" y="5266944"/>
            <a:ext cx="10326319" cy="777240"/>
          </a:xfrm>
          <a:prstGeom prst="rect">
            <a:avLst/>
          </a:prstGeom>
          <a:noFill/>
          <a:ln/>
        </p:spPr>
        <p:txBody>
          <a:bodyPr wrap="square" lIns="0" tIns="0" rIns="0" bIns="0" rtlCol="0" anchor="ctr"/>
          <a:lstStyle/>
          <a:p>
            <a:pPr indent="0" marL="0">
              <a:lnSpc>
                <a:spcPts val="1600"/>
              </a:lnSpc>
              <a:buNone/>
            </a:pPr>
            <a:r>
              <a:rPr lang="en-US" sz="1200" dirty="0">
                <a:solidFill>
                  <a:srgbClr val="AFA8CE"/>
                </a:solidFill>
                <a:latin typeface="Calibri" pitchFamily="34" charset="0"/>
                <a:ea typeface="Calibri" pitchFamily="34" charset="-122"/>
                <a:cs typeface="Calibri" pitchFamily="34" charset="-120"/>
              </a:rPr>
              <a:t>Every background event resolves a DI-injected delegate class, so your handler gets its dependencies even when the OS starts the app cold, minutes after the user closed it. Sending from a backend is covered separately by Shiny Push (Server) — APNs, FCM and Web Push through one API.</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04 · MAUI APP</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plumbing that holds an app together</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Navigation, hosting, configuration and permissions — without the magic strings.</a:t>
            </a:r>
            <a:endParaRPr lang="en-US" sz="1350" dirty="0"/>
          </a:p>
        </p:txBody>
      </p:sp>
      <p:sp>
        <p:nvSpPr>
          <p:cNvPr id="6" name="Shape 3"/>
          <p:cNvSpPr/>
          <p:nvPr/>
        </p:nvSpPr>
        <p:spPr>
          <a:xfrm>
            <a:off x="566928" y="2212848"/>
            <a:ext cx="3621024" cy="1920240"/>
          </a:xfrm>
          <a:prstGeom prst="roundRect">
            <a:avLst>
              <a:gd name="adj" fmla="val 3333"/>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04672" y="2432304"/>
            <a:ext cx="420624" cy="420624"/>
          </a:xfrm>
          <a:prstGeom prst="roundRect">
            <a:avLst>
              <a:gd name="adj" fmla="val 60870"/>
            </a:avLst>
          </a:prstGeom>
          <a:solidFill>
            <a:srgbClr val="9B7BFF"/>
          </a:solidFill>
          <a:ln w="12700">
            <a:solidFill>
              <a:srgbClr val="9B7BFF"/>
            </a:solidFill>
            <a:prstDash val="solid"/>
          </a:ln>
        </p:spPr>
      </p:sp>
      <p:pic>
        <p:nvPicPr>
          <p:cNvPr id="8" name="Image 1" descr="preencoded.png">    </p:cNvPr>
          <p:cNvPicPr>
            <a:picLocks noChangeAspect="1"/>
          </p:cNvPicPr>
          <p:nvPr/>
        </p:nvPicPr>
        <p:blipFill>
          <a:blip r:embed="rId2"/>
          <a:stretch>
            <a:fillRect/>
          </a:stretch>
        </p:blipFill>
        <p:spPr>
          <a:xfrm>
            <a:off x="914034" y="2541666"/>
            <a:ext cx="201900" cy="201900"/>
          </a:xfrm>
          <a:prstGeom prst="rect">
            <a:avLst/>
          </a:prstGeom>
        </p:spPr>
      </p:pic>
      <p:sp>
        <p:nvSpPr>
          <p:cNvPr id="9" name="Text 5"/>
          <p:cNvSpPr txBox="1"/>
          <p:nvPr/>
        </p:nvSpPr>
        <p:spPr>
          <a:xfrm>
            <a:off x="1389888" y="2523744"/>
            <a:ext cx="261518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Shell Navigation</a:t>
            </a:r>
            <a:endParaRPr lang="en-US" sz="1350" dirty="0"/>
          </a:p>
        </p:txBody>
      </p:sp>
      <p:sp>
        <p:nvSpPr>
          <p:cNvPr id="10" name="Text 6"/>
          <p:cNvSpPr txBox="1"/>
          <p:nvPr/>
        </p:nvSpPr>
        <p:spPr>
          <a:xfrm>
            <a:off x="804672" y="2999232"/>
            <a:ext cx="3145536" cy="98755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Opinionated Shell navigation with source-generated routes, strongly-typed parameters and proper ViewModel lifecycle management.</a:t>
            </a:r>
            <a:endParaRPr lang="en-US" sz="1100" dirty="0"/>
          </a:p>
        </p:txBody>
      </p:sp>
      <p:sp>
        <p:nvSpPr>
          <p:cNvPr id="11" name="Shape 7"/>
          <p:cNvSpPr/>
          <p:nvPr/>
        </p:nvSpPr>
        <p:spPr>
          <a:xfrm>
            <a:off x="4443984" y="2212848"/>
            <a:ext cx="3621024" cy="1920240"/>
          </a:xfrm>
          <a:prstGeom prst="roundRect">
            <a:avLst>
              <a:gd name="adj" fmla="val 3333"/>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2" name="Shape 8"/>
          <p:cNvSpPr/>
          <p:nvPr/>
        </p:nvSpPr>
        <p:spPr>
          <a:xfrm>
            <a:off x="4681728" y="2432304"/>
            <a:ext cx="420624" cy="420624"/>
          </a:xfrm>
          <a:prstGeom prst="roundRect">
            <a:avLst>
              <a:gd name="adj" fmla="val 60870"/>
            </a:avLst>
          </a:prstGeom>
          <a:solidFill>
            <a:srgbClr val="2BE5A0"/>
          </a:solidFill>
          <a:ln w="12700">
            <a:solidFill>
              <a:srgbClr val="2BE5A0"/>
            </a:solidFill>
            <a:prstDash val="solid"/>
          </a:ln>
        </p:spPr>
      </p:sp>
      <p:pic>
        <p:nvPicPr>
          <p:cNvPr id="13" name="Image 2" descr="preencoded.png">    </p:cNvPr>
          <p:cNvPicPr>
            <a:picLocks noChangeAspect="1"/>
          </p:cNvPicPr>
          <p:nvPr/>
        </p:nvPicPr>
        <p:blipFill>
          <a:blip r:embed="rId3"/>
          <a:stretch>
            <a:fillRect/>
          </a:stretch>
        </p:blipFill>
        <p:spPr>
          <a:xfrm>
            <a:off x="4791090" y="2541666"/>
            <a:ext cx="201900" cy="201900"/>
          </a:xfrm>
          <a:prstGeom prst="rect">
            <a:avLst/>
          </a:prstGeom>
        </p:spPr>
      </p:pic>
      <p:sp>
        <p:nvSpPr>
          <p:cNvPr id="14" name="Text 9"/>
          <p:cNvSpPr txBox="1"/>
          <p:nvPr/>
        </p:nvSpPr>
        <p:spPr>
          <a:xfrm>
            <a:off x="5266944" y="2523744"/>
            <a:ext cx="261518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MAUI Hosting</a:t>
            </a:r>
            <a:endParaRPr lang="en-US" sz="1350" dirty="0"/>
          </a:p>
        </p:txBody>
      </p:sp>
      <p:sp>
        <p:nvSpPr>
          <p:cNvPr id="15" name="Text 10"/>
          <p:cNvSpPr txBox="1"/>
          <p:nvPr/>
        </p:nvSpPr>
        <p:spPr>
          <a:xfrm>
            <a:off x="4681728" y="2999232"/>
            <a:ext cx="3145536" cy="98755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Modular app configuration with IMauiModule, static service access and platform lifecycle dispatch.</a:t>
            </a:r>
            <a:endParaRPr lang="en-US" sz="1100" dirty="0"/>
          </a:p>
        </p:txBody>
      </p:sp>
      <p:sp>
        <p:nvSpPr>
          <p:cNvPr id="16" name="Shape 11"/>
          <p:cNvSpPr/>
          <p:nvPr/>
        </p:nvSpPr>
        <p:spPr>
          <a:xfrm>
            <a:off x="566928" y="4389120"/>
            <a:ext cx="3621024" cy="1920240"/>
          </a:xfrm>
          <a:prstGeom prst="roundRect">
            <a:avLst>
              <a:gd name="adj" fmla="val 3333"/>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804672" y="4608576"/>
            <a:ext cx="420624" cy="420624"/>
          </a:xfrm>
          <a:prstGeom prst="roundRect">
            <a:avLst>
              <a:gd name="adj" fmla="val 60870"/>
            </a:avLst>
          </a:prstGeom>
          <a:solidFill>
            <a:srgbClr val="9B7BFF"/>
          </a:solidFill>
          <a:ln w="12700">
            <a:solidFill>
              <a:srgbClr val="9B7BFF"/>
            </a:solidFill>
            <a:prstDash val="solid"/>
          </a:ln>
        </p:spPr>
      </p:sp>
      <p:pic>
        <p:nvPicPr>
          <p:cNvPr id="18" name="Image 3" descr="preencoded.png">    </p:cNvPr>
          <p:cNvPicPr>
            <a:picLocks noChangeAspect="1"/>
          </p:cNvPicPr>
          <p:nvPr/>
        </p:nvPicPr>
        <p:blipFill>
          <a:blip r:embed="rId4"/>
          <a:stretch>
            <a:fillRect/>
          </a:stretch>
        </p:blipFill>
        <p:spPr>
          <a:xfrm>
            <a:off x="914034" y="4717938"/>
            <a:ext cx="201900" cy="201900"/>
          </a:xfrm>
          <a:prstGeom prst="rect">
            <a:avLst/>
          </a:prstGeom>
        </p:spPr>
      </p:pic>
      <p:sp>
        <p:nvSpPr>
          <p:cNvPr id="19" name="Text 13"/>
          <p:cNvSpPr txBox="1"/>
          <p:nvPr/>
        </p:nvSpPr>
        <p:spPr>
          <a:xfrm>
            <a:off x="1389888" y="4700016"/>
            <a:ext cx="261518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Configuration</a:t>
            </a:r>
            <a:endParaRPr lang="en-US" sz="1350" dirty="0"/>
          </a:p>
        </p:txBody>
      </p:sp>
      <p:sp>
        <p:nvSpPr>
          <p:cNvPr id="20" name="Text 14"/>
          <p:cNvSpPr txBox="1"/>
          <p:nvPr/>
        </p:nvSpPr>
        <p:spPr>
          <a:xfrm>
            <a:off x="804672" y="5175504"/>
            <a:ext cx="3145536" cy="98755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Platform preference bundles, JSON configuration and remote configuration built for mobile apps.</a:t>
            </a:r>
            <a:endParaRPr lang="en-US" sz="1100" dirty="0"/>
          </a:p>
        </p:txBody>
      </p:sp>
      <p:sp>
        <p:nvSpPr>
          <p:cNvPr id="21" name="Shape 15"/>
          <p:cNvSpPr/>
          <p:nvPr/>
        </p:nvSpPr>
        <p:spPr>
          <a:xfrm>
            <a:off x="4443984" y="4389120"/>
            <a:ext cx="3621024" cy="1920240"/>
          </a:xfrm>
          <a:prstGeom prst="roundRect">
            <a:avLst>
              <a:gd name="adj" fmla="val 3333"/>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Shape 16"/>
          <p:cNvSpPr/>
          <p:nvPr/>
        </p:nvSpPr>
        <p:spPr>
          <a:xfrm>
            <a:off x="4681728" y="4608576"/>
            <a:ext cx="420624" cy="420624"/>
          </a:xfrm>
          <a:prstGeom prst="roundRect">
            <a:avLst>
              <a:gd name="adj" fmla="val 60870"/>
            </a:avLst>
          </a:prstGeom>
          <a:solidFill>
            <a:srgbClr val="CFFA12"/>
          </a:solidFill>
          <a:ln w="12700">
            <a:solidFill>
              <a:srgbClr val="CFFA12"/>
            </a:solidFill>
            <a:prstDash val="solid"/>
          </a:ln>
        </p:spPr>
      </p:sp>
      <p:pic>
        <p:nvPicPr>
          <p:cNvPr id="23" name="Image 4" descr="preencoded.png">    </p:cNvPr>
          <p:cNvPicPr>
            <a:picLocks noChangeAspect="1"/>
          </p:cNvPicPr>
          <p:nvPr/>
        </p:nvPicPr>
        <p:blipFill>
          <a:blip r:embed="rId5"/>
          <a:stretch>
            <a:fillRect/>
          </a:stretch>
        </p:blipFill>
        <p:spPr>
          <a:xfrm>
            <a:off x="4791090" y="4717938"/>
            <a:ext cx="201900" cy="201900"/>
          </a:xfrm>
          <a:prstGeom prst="rect">
            <a:avLst/>
          </a:prstGeom>
        </p:spPr>
      </p:pic>
      <p:sp>
        <p:nvSpPr>
          <p:cNvPr id="24" name="Text 17"/>
          <p:cNvSpPr txBox="1"/>
          <p:nvPr/>
        </p:nvSpPr>
        <p:spPr>
          <a:xfrm>
            <a:off x="5266944" y="4700016"/>
            <a:ext cx="2615184"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MSBuild Permissions</a:t>
            </a:r>
            <a:endParaRPr lang="en-US" sz="1350" dirty="0"/>
          </a:p>
        </p:txBody>
      </p:sp>
      <p:sp>
        <p:nvSpPr>
          <p:cNvPr id="25" name="Text 18"/>
          <p:cNvSpPr txBox="1"/>
          <p:nvPr/>
        </p:nvSpPr>
        <p:spPr>
          <a:xfrm>
            <a:off x="4681728" y="5175504"/>
            <a:ext cx="3145536" cy="98755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Declare permissions once in your project file; MSBuild generates the Android manifest and iOS Info.plist entries.</a:t>
            </a:r>
            <a:endParaRPr lang="en-US" sz="1100" dirty="0"/>
          </a:p>
        </p:txBody>
      </p:sp>
      <p:sp>
        <p:nvSpPr>
          <p:cNvPr id="26" name="Shape 19"/>
          <p:cNvSpPr/>
          <p:nvPr/>
        </p:nvSpPr>
        <p:spPr>
          <a:xfrm>
            <a:off x="8366760" y="2212848"/>
            <a:ext cx="3258007" cy="4096512"/>
          </a:xfrm>
          <a:prstGeom prst="roundRect">
            <a:avLst>
              <a:gd name="adj" fmla="val 1965"/>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7" name="Text 20"/>
          <p:cNvSpPr txBox="1"/>
          <p:nvPr/>
        </p:nvSpPr>
        <p:spPr>
          <a:xfrm>
            <a:off x="8641080" y="2468880"/>
            <a:ext cx="274320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 more magic strings</a:t>
            </a:r>
            <a:endParaRPr lang="en-US" sz="1500" dirty="0"/>
          </a:p>
        </p:txBody>
      </p:sp>
      <p:sp>
        <p:nvSpPr>
          <p:cNvPr id="28" name="Text 21"/>
          <p:cNvSpPr txBox="1"/>
          <p:nvPr/>
        </p:nvSpPr>
        <p:spPr>
          <a:xfrm>
            <a:off x="8641080" y="2871216"/>
            <a:ext cx="2788920" cy="1371600"/>
          </a:xfrm>
          <a:prstGeom prst="rect">
            <a:avLst/>
          </a:prstGeom>
          <a:noFill/>
          <a:ln/>
        </p:spPr>
        <p:txBody>
          <a:bodyPr wrap="square" lIns="0" tIns="0" rIns="0" bIns="0" rtlCol="0" anchor="ctr"/>
          <a:lstStyle/>
          <a:p>
            <a:pPr indent="0" marL="0">
              <a:lnSpc>
                <a:spcPts val="1500"/>
              </a:lnSpc>
              <a:buNone/>
            </a:pPr>
            <a:r>
              <a:rPr lang="en-US" sz="1150" dirty="0">
                <a:solidFill>
                  <a:srgbClr val="AFA8CE"/>
                </a:solidFill>
                <a:latin typeface="Calibri" pitchFamily="34" charset="0"/>
                <a:ea typeface="Calibri" pitchFamily="34" charset="-122"/>
                <a:cs typeface="Calibri" pitchFamily="34" charset="-120"/>
              </a:rPr>
              <a:t>Routes, parameters and permissions are all generated at build time from what you declared. A renamed page or a missing manifest entry becomes a compiler error, not a crash report from a customer.</a:t>
            </a:r>
            <a:endParaRPr lang="en-US" sz="1150" dirty="0"/>
          </a:p>
        </p:txBody>
      </p:sp>
      <p:sp>
        <p:nvSpPr>
          <p:cNvPr id="29" name="Text 22"/>
          <p:cNvSpPr txBox="1"/>
          <p:nvPr/>
        </p:nvSpPr>
        <p:spPr>
          <a:xfrm>
            <a:off x="8641080" y="4846320"/>
            <a:ext cx="2788920" cy="274320"/>
          </a:xfrm>
          <a:prstGeom prst="rect">
            <a:avLst/>
          </a:prstGeom>
          <a:noFill/>
          <a:ln/>
        </p:spPr>
        <p:txBody>
          <a:bodyPr wrap="square" lIns="0" tIns="0" rIns="0" bIns="0" rtlCol="0" anchor="ctr"/>
          <a:lstStyle/>
          <a:p>
            <a:pPr indent="0" marL="0">
              <a:buNone/>
            </a:pPr>
            <a:r>
              <a:rPr lang="en-US" sz="1200" b="1" dirty="0">
                <a:solidFill>
                  <a:srgbClr val="2BE5A0"/>
                </a:solidFill>
                <a:latin typeface="Calibri" pitchFamily="34" charset="0"/>
                <a:ea typeface="Calibri" pitchFamily="34" charset="-122"/>
                <a:cs typeface="Calibri" pitchFamily="34" charset="-120"/>
              </a:rPr>
              <a:t>Already have a project?</a:t>
            </a:r>
            <a:endParaRPr lang="en-US" sz="1200" dirty="0"/>
          </a:p>
        </p:txBody>
      </p:sp>
      <p:sp>
        <p:nvSpPr>
          <p:cNvPr id="30" name="Text 23"/>
          <p:cNvSpPr txBox="1"/>
          <p:nvPr/>
        </p:nvSpPr>
        <p:spPr>
          <a:xfrm>
            <a:off x="8641080" y="5157216"/>
            <a:ext cx="2788920" cy="914400"/>
          </a:xfrm>
          <a:prstGeom prst="rect">
            <a:avLst/>
          </a:prstGeom>
          <a:noFill/>
          <a:ln/>
        </p:spPr>
        <p:txBody>
          <a:bodyPr wrap="square" lIns="0" tIns="0" rIns="0" bIns="0" rtlCol="0" anchor="ctr"/>
          <a:lstStyle/>
          <a:p>
            <a:pPr indent="0" marL="0">
              <a:lnSpc>
                <a:spcPts val="1400"/>
              </a:lnSpc>
              <a:buNone/>
            </a:pPr>
            <a:r>
              <a:rPr lang="en-US" sz="1100" dirty="0">
                <a:solidFill>
                  <a:srgbClr val="AFA8CE"/>
                </a:solidFill>
                <a:latin typeface="Calibri" pitchFamily="34" charset="0"/>
                <a:ea typeface="Calibri" pitchFamily="34" charset="-122"/>
                <a:cs typeface="Calibri" pitchFamily="34" charset="-120"/>
              </a:rPr>
              <a:t>The App Builder generates the packages, hosting call and registrations for what you pick — paste it into an existing app.</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A15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pic>
        <p:nvPicPr>
          <p:cNvPr id="3" name="Image 1" descr="preencoded.png">    </p:cNvPr>
          <p:cNvPicPr>
            <a:picLocks noChangeAspect="1"/>
          </p:cNvPicPr>
          <p:nvPr/>
        </p:nvPicPr>
        <p:blipFill>
          <a:blip r:embed="rId2"/>
          <a:stretch>
            <a:fillRect/>
          </a:stretch>
        </p:blipFill>
        <p:spPr>
          <a:xfrm>
            <a:off x="566928" y="1737360"/>
            <a:ext cx="841248" cy="841248"/>
          </a:xfrm>
          <a:prstGeom prst="rect">
            <a:avLst/>
          </a:prstGeom>
        </p:spPr>
      </p:pic>
      <p:pic>
        <p:nvPicPr>
          <p:cNvPr id="4" name="Image 2" descr="preencoded.png">    </p:cNvPr>
          <p:cNvPicPr>
            <a:picLocks noChangeAspect="1"/>
          </p:cNvPicPr>
          <p:nvPr/>
        </p:nvPicPr>
        <p:blipFill>
          <a:blip r:embed="rId3"/>
          <a:stretch>
            <a:fillRect/>
          </a:stretch>
        </p:blipFill>
        <p:spPr>
          <a:xfrm>
            <a:off x="786384" y="1956816"/>
            <a:ext cx="402336" cy="402336"/>
          </a:xfrm>
          <a:prstGeom prst="rect">
            <a:avLst/>
          </a:prstGeom>
        </p:spPr>
      </p:pic>
      <p:sp>
        <p:nvSpPr>
          <p:cNvPr id="5" name="Text 0"/>
          <p:cNvSpPr txBox="1"/>
          <p:nvPr/>
        </p:nvSpPr>
        <p:spPr>
          <a:xfrm>
            <a:off x="566928" y="2852928"/>
            <a:ext cx="4572000" cy="237744"/>
          </a:xfrm>
          <a:prstGeom prst="rect">
            <a:avLst/>
          </a:prstGeom>
          <a:noFill/>
          <a:ln/>
        </p:spPr>
        <p:txBody>
          <a:bodyPr wrap="square" lIns="0" tIns="0" rIns="0" bIns="0" rtlCol="0" anchor="ctr"/>
          <a:lstStyle/>
          <a:p>
            <a:pPr indent="0" marL="0">
              <a:buNone/>
            </a:pPr>
            <a:r>
              <a:rPr lang="en-US" sz="1100" b="1" spc="260" kern="0" dirty="0">
                <a:solidFill>
                  <a:srgbClr val="CFFA12"/>
                </a:solidFill>
                <a:latin typeface="Calibri" pitchFamily="34" charset="0"/>
                <a:ea typeface="Calibri" pitchFamily="34" charset="-122"/>
                <a:cs typeface="Calibri" pitchFamily="34" charset="-120"/>
              </a:rPr>
              <a:t>SECTION 05</a:t>
            </a:r>
            <a:endParaRPr lang="en-US" sz="1100" dirty="0"/>
          </a:p>
        </p:txBody>
      </p:sp>
      <p:sp>
        <p:nvSpPr>
          <p:cNvPr id="6" name="Text 1"/>
          <p:cNvSpPr txBox="1"/>
          <p:nvPr/>
        </p:nvSpPr>
        <p:spPr>
          <a:xfrm>
            <a:off x="566928" y="3127248"/>
            <a:ext cx="603504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UI Controls</a:t>
            </a:r>
            <a:endParaRPr lang="en-US" sz="4000" dirty="0"/>
          </a:p>
        </p:txBody>
      </p:sp>
      <p:pic>
        <p:nvPicPr>
          <p:cNvPr id="7" name="Image 3" descr="preencoded.png">    </p:cNvPr>
          <p:cNvPicPr>
            <a:picLocks noChangeAspect="1"/>
          </p:cNvPicPr>
          <p:nvPr/>
        </p:nvPicPr>
        <p:blipFill>
          <a:blip r:embed="rId4"/>
          <a:stretch>
            <a:fillRect/>
          </a:stretch>
        </p:blipFill>
        <p:spPr>
          <a:xfrm>
            <a:off x="566928" y="3986784"/>
            <a:ext cx="2194560" cy="45720"/>
          </a:xfrm>
          <a:prstGeom prst="rect">
            <a:avLst/>
          </a:prstGeom>
        </p:spPr>
      </p:pic>
      <p:sp>
        <p:nvSpPr>
          <p:cNvPr id="8" name="Text 2"/>
          <p:cNvSpPr txBox="1"/>
          <p:nvPr/>
        </p:nvSpPr>
        <p:spPr>
          <a:xfrm>
            <a:off x="566928" y="4169664"/>
            <a:ext cx="5669280" cy="822960"/>
          </a:xfrm>
          <a:prstGeom prst="rect">
            <a:avLst/>
          </a:prstGeom>
          <a:noFill/>
          <a:ln/>
        </p:spPr>
        <p:txBody>
          <a:bodyPr wrap="square" lIns="0" tIns="0" rIns="0" bIns="0" rtlCol="0" anchor="ctr"/>
          <a:lstStyle/>
          <a:p>
            <a:pPr indent="0" marL="0">
              <a:lnSpc>
                <a:spcPts val="2000"/>
              </a:lnSpc>
              <a:buNone/>
            </a:pPr>
            <a:r>
              <a:rPr lang="en-US" sz="1400" dirty="0">
                <a:solidFill>
                  <a:srgbClr val="D6CCFF"/>
                </a:solidFill>
                <a:latin typeface="Calibri" pitchFamily="34" charset="0"/>
                <a:ea typeface="Calibri" pitchFamily="34" charset="-122"/>
                <a:cs typeface="Calibri" pitchFamily="34" charset="-120"/>
              </a:rPr>
              <a:t>85+ native controls for .NET MAUI and Blazor out of one design system — no WebViews, no per-platform forks.</a:t>
            </a:r>
            <a:endParaRPr lang="en-US" sz="1400" dirty="0"/>
          </a:p>
        </p:txBody>
      </p:sp>
      <p:sp>
        <p:nvSpPr>
          <p:cNvPr id="9" name="Shape 3"/>
          <p:cNvSpPr/>
          <p:nvPr/>
        </p:nvSpPr>
        <p:spPr>
          <a:xfrm>
            <a:off x="6903720" y="1737360"/>
            <a:ext cx="4721047" cy="475488"/>
          </a:xfrm>
          <a:prstGeom prst="roundRect">
            <a:avLst>
              <a:gd name="adj" fmla="val 26923"/>
            </a:avLst>
          </a:prstGeom>
          <a:solidFill>
            <a:srgbClr val="3C22A6"/>
          </a:solidFill>
          <a:ln w="12700">
            <a:solidFill>
              <a:srgbClr val="5335C9"/>
            </a:solidFill>
            <a:prstDash val="solid"/>
          </a:ln>
        </p:spPr>
      </p:sp>
      <p:sp>
        <p:nvSpPr>
          <p:cNvPr id="10" name="Text 4"/>
          <p:cNvSpPr txBox="1"/>
          <p:nvPr/>
        </p:nvSpPr>
        <p:spPr>
          <a:xfrm>
            <a:off x="7214616" y="1737360"/>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Flagship: TableView, Scheduler, ChatView, DataGrid</a:t>
            </a:r>
            <a:endParaRPr lang="en-US" sz="1250" dirty="0"/>
          </a:p>
        </p:txBody>
      </p:sp>
      <p:sp>
        <p:nvSpPr>
          <p:cNvPr id="11" name="Shape 5"/>
          <p:cNvSpPr/>
          <p:nvPr/>
        </p:nvSpPr>
        <p:spPr>
          <a:xfrm>
            <a:off x="6903720" y="2340864"/>
            <a:ext cx="4721047" cy="475488"/>
          </a:xfrm>
          <a:prstGeom prst="roundRect">
            <a:avLst>
              <a:gd name="adj" fmla="val 26923"/>
            </a:avLst>
          </a:prstGeom>
          <a:solidFill>
            <a:srgbClr val="3C22A6"/>
          </a:solidFill>
          <a:ln w="12700">
            <a:solidFill>
              <a:srgbClr val="5335C9"/>
            </a:solidFill>
            <a:prstDash val="solid"/>
          </a:ln>
        </p:spPr>
      </p:sp>
      <p:sp>
        <p:nvSpPr>
          <p:cNvPr id="12" name="Text 6"/>
          <p:cNvSpPr txBox="1"/>
          <p:nvPr/>
        </p:nvSpPr>
        <p:spPr>
          <a:xfrm>
            <a:off x="7214616" y="2340864"/>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Office: real .xlsx, .docx and .pptx editing</a:t>
            </a:r>
            <a:endParaRPr lang="en-US" sz="1250" dirty="0"/>
          </a:p>
        </p:txBody>
      </p:sp>
      <p:sp>
        <p:nvSpPr>
          <p:cNvPr id="13" name="Shape 7"/>
          <p:cNvSpPr/>
          <p:nvPr/>
        </p:nvSpPr>
        <p:spPr>
          <a:xfrm>
            <a:off x="6903720" y="2944368"/>
            <a:ext cx="4721047" cy="475488"/>
          </a:xfrm>
          <a:prstGeom prst="roundRect">
            <a:avLst>
              <a:gd name="adj" fmla="val 26923"/>
            </a:avLst>
          </a:prstGeom>
          <a:solidFill>
            <a:srgbClr val="3C22A6"/>
          </a:solidFill>
          <a:ln w="12700">
            <a:solidFill>
              <a:srgbClr val="5335C9"/>
            </a:solidFill>
            <a:prstDash val="solid"/>
          </a:ln>
        </p:spPr>
      </p:sp>
      <p:sp>
        <p:nvSpPr>
          <p:cNvPr id="14" name="Text 8"/>
          <p:cNvSpPr txBox="1"/>
          <p:nvPr/>
        </p:nvSpPr>
        <p:spPr>
          <a:xfrm>
            <a:off x="7214616" y="2944368"/>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Collections, layout, input and media</a:t>
            </a:r>
            <a:endParaRPr lang="en-US" sz="1250" dirty="0"/>
          </a:p>
        </p:txBody>
      </p:sp>
      <p:sp>
        <p:nvSpPr>
          <p:cNvPr id="15" name="Shape 9"/>
          <p:cNvSpPr/>
          <p:nvPr/>
        </p:nvSpPr>
        <p:spPr>
          <a:xfrm>
            <a:off x="6903720" y="3547872"/>
            <a:ext cx="4721047" cy="475488"/>
          </a:xfrm>
          <a:prstGeom prst="roundRect">
            <a:avLst>
              <a:gd name="adj" fmla="val 26923"/>
            </a:avLst>
          </a:prstGeom>
          <a:solidFill>
            <a:srgbClr val="3C22A6"/>
          </a:solidFill>
          <a:ln w="12700">
            <a:solidFill>
              <a:srgbClr val="5335C9"/>
            </a:solidFill>
            <a:prstDash val="solid"/>
          </a:ln>
        </p:spPr>
      </p:sp>
      <p:sp>
        <p:nvSpPr>
          <p:cNvPr id="16" name="Text 10"/>
          <p:cNvSpPr txBox="1"/>
          <p:nvPr/>
        </p:nvSpPr>
        <p:spPr>
          <a:xfrm>
            <a:off x="7214616" y="3547872"/>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Status, feedback and desktop controls</a:t>
            </a:r>
            <a:endParaRPr lang="en-US" sz="1250" dirty="0"/>
          </a:p>
        </p:txBody>
      </p:sp>
      <p:sp>
        <p:nvSpPr>
          <p:cNvPr id="17" name="Shape 11"/>
          <p:cNvSpPr/>
          <p:nvPr/>
        </p:nvSpPr>
        <p:spPr>
          <a:xfrm>
            <a:off x="6903720" y="4151376"/>
            <a:ext cx="4721047" cy="475488"/>
          </a:xfrm>
          <a:prstGeom prst="roundRect">
            <a:avLst>
              <a:gd name="adj" fmla="val 26923"/>
            </a:avLst>
          </a:prstGeom>
          <a:solidFill>
            <a:srgbClr val="3C22A6"/>
          </a:solidFill>
          <a:ln w="12700">
            <a:solidFill>
              <a:srgbClr val="5335C9"/>
            </a:solidFill>
            <a:prstDash val="solid"/>
          </a:ln>
        </p:spPr>
      </p:sp>
      <p:sp>
        <p:nvSpPr>
          <p:cNvPr id="18" name="Text 12"/>
          <p:cNvSpPr txBox="1"/>
          <p:nvPr/>
        </p:nvSpPr>
        <p:spPr>
          <a:xfrm>
            <a:off x="7214616" y="4151376"/>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One shared theme token contract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05 · UI CONTROLS</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85+ controls, two hosts, one theme contract</a:t>
            </a:r>
            <a:endParaRPr lang="en-US" sz="3200" dirty="0"/>
          </a:p>
        </p:txBody>
      </p:sp>
      <p:sp>
        <p:nvSpPr>
          <p:cNvPr id="5" name="Text 2"/>
          <p:cNvSpPr txBox="1"/>
          <p:nvPr/>
        </p:nvSpPr>
        <p:spPr>
          <a:xfrm>
            <a:off x="566928" y="1207008"/>
            <a:ext cx="7315200"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Native .NET MAUI and Blazor components out of the same design system.</a:t>
            </a:r>
            <a:endParaRPr lang="en-US" sz="1350" dirty="0"/>
          </a:p>
        </p:txBody>
      </p:sp>
      <p:sp>
        <p:nvSpPr>
          <p:cNvPr id="6" name="Shape 3"/>
          <p:cNvSpPr/>
          <p:nvPr/>
        </p:nvSpPr>
        <p:spPr>
          <a:xfrm>
            <a:off x="566928" y="2139696"/>
            <a:ext cx="7452360" cy="457200"/>
          </a:xfrm>
          <a:prstGeom prst="roundRect">
            <a:avLst>
              <a:gd name="adj" fmla="val 14000"/>
            </a:avLst>
          </a:prstGeom>
          <a:solidFill>
            <a:srgbClr val="221A52"/>
          </a:solidFill>
          <a:ln w="12700">
            <a:solidFill>
              <a:srgbClr val="2E2665"/>
            </a:solidFill>
            <a:prstDash val="solid"/>
          </a:ln>
        </p:spPr>
      </p:sp>
      <p:sp>
        <p:nvSpPr>
          <p:cNvPr id="7" name="Shape 4"/>
          <p:cNvSpPr/>
          <p:nvPr/>
        </p:nvSpPr>
        <p:spPr>
          <a:xfrm>
            <a:off x="713232" y="2203704"/>
            <a:ext cx="329184" cy="329184"/>
          </a:xfrm>
          <a:prstGeom prst="roundRect">
            <a:avLst>
              <a:gd name="adj" fmla="val 77778"/>
            </a:avLst>
          </a:prstGeom>
          <a:solidFill>
            <a:srgbClr val="CFFA12"/>
          </a:solidFill>
          <a:ln w="12700">
            <a:solidFill>
              <a:srgbClr val="CFFA12"/>
            </a:solidFill>
            <a:prstDash val="solid"/>
          </a:ln>
        </p:spPr>
      </p:sp>
      <p:pic>
        <p:nvPicPr>
          <p:cNvPr id="8" name="Image 1" descr="preencoded.png">    </p:cNvPr>
          <p:cNvPicPr>
            <a:picLocks noChangeAspect="1"/>
          </p:cNvPicPr>
          <p:nvPr/>
        </p:nvPicPr>
        <p:blipFill>
          <a:blip r:embed="rId2"/>
          <a:stretch>
            <a:fillRect/>
          </a:stretch>
        </p:blipFill>
        <p:spPr>
          <a:xfrm>
            <a:off x="798820" y="2289292"/>
            <a:ext cx="158008" cy="158008"/>
          </a:xfrm>
          <a:prstGeom prst="rect">
            <a:avLst/>
          </a:prstGeom>
        </p:spPr>
      </p:pic>
      <p:sp>
        <p:nvSpPr>
          <p:cNvPr id="9" name="Text 5"/>
          <p:cNvSpPr txBox="1"/>
          <p:nvPr/>
        </p:nvSpPr>
        <p:spPr>
          <a:xfrm>
            <a:off x="1152144" y="2139696"/>
            <a:ext cx="18745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Flagship</a:t>
            </a:r>
            <a:endParaRPr lang="en-US" sz="1200" dirty="0"/>
          </a:p>
        </p:txBody>
      </p:sp>
      <p:sp>
        <p:nvSpPr>
          <p:cNvPr id="10" name="Text 6"/>
          <p:cNvSpPr txBox="1"/>
          <p:nvPr/>
        </p:nvSpPr>
        <p:spPr>
          <a:xfrm>
            <a:off x="3054096" y="2139696"/>
            <a:ext cx="4846320" cy="457200"/>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TableView · Scheduler · ChatView · DataGrid · ImageEditor · CameraView</a:t>
            </a:r>
            <a:endParaRPr lang="en-US" sz="1000" dirty="0"/>
          </a:p>
        </p:txBody>
      </p:sp>
      <p:sp>
        <p:nvSpPr>
          <p:cNvPr id="11" name="Shape 7"/>
          <p:cNvSpPr/>
          <p:nvPr/>
        </p:nvSpPr>
        <p:spPr>
          <a:xfrm>
            <a:off x="566928" y="2665476"/>
            <a:ext cx="7452360" cy="457200"/>
          </a:xfrm>
          <a:prstGeom prst="roundRect">
            <a:avLst>
              <a:gd name="adj" fmla="val 14000"/>
            </a:avLst>
          </a:prstGeom>
          <a:solidFill>
            <a:srgbClr val="19143C"/>
          </a:solidFill>
          <a:ln w="12700">
            <a:solidFill>
              <a:srgbClr val="2E2665"/>
            </a:solidFill>
            <a:prstDash val="solid"/>
          </a:ln>
        </p:spPr>
      </p:sp>
      <p:sp>
        <p:nvSpPr>
          <p:cNvPr id="12" name="Shape 8"/>
          <p:cNvSpPr/>
          <p:nvPr/>
        </p:nvSpPr>
        <p:spPr>
          <a:xfrm>
            <a:off x="713232" y="2729484"/>
            <a:ext cx="329184" cy="329184"/>
          </a:xfrm>
          <a:prstGeom prst="roundRect">
            <a:avLst>
              <a:gd name="adj" fmla="val 77778"/>
            </a:avLst>
          </a:prstGeom>
          <a:solidFill>
            <a:srgbClr val="2BE5A0"/>
          </a:solidFill>
          <a:ln w="12700">
            <a:solidFill>
              <a:srgbClr val="2BE5A0"/>
            </a:solidFill>
            <a:prstDash val="solid"/>
          </a:ln>
        </p:spPr>
      </p:sp>
      <p:pic>
        <p:nvPicPr>
          <p:cNvPr id="13" name="Image 2" descr="preencoded.png">    </p:cNvPr>
          <p:cNvPicPr>
            <a:picLocks noChangeAspect="1"/>
          </p:cNvPicPr>
          <p:nvPr/>
        </p:nvPicPr>
        <p:blipFill>
          <a:blip r:embed="rId3"/>
          <a:stretch>
            <a:fillRect/>
          </a:stretch>
        </p:blipFill>
        <p:spPr>
          <a:xfrm>
            <a:off x="798820" y="2815072"/>
            <a:ext cx="158008" cy="158008"/>
          </a:xfrm>
          <a:prstGeom prst="rect">
            <a:avLst/>
          </a:prstGeom>
        </p:spPr>
      </p:pic>
      <p:sp>
        <p:nvSpPr>
          <p:cNvPr id="14" name="Text 9"/>
          <p:cNvSpPr txBox="1"/>
          <p:nvPr/>
        </p:nvSpPr>
        <p:spPr>
          <a:xfrm>
            <a:off x="1152144" y="2665476"/>
            <a:ext cx="18745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Office</a:t>
            </a:r>
            <a:endParaRPr lang="en-US" sz="1200" dirty="0"/>
          </a:p>
        </p:txBody>
      </p:sp>
      <p:sp>
        <p:nvSpPr>
          <p:cNvPr id="15" name="Text 10"/>
          <p:cNvSpPr txBox="1"/>
          <p:nvPr/>
        </p:nvSpPr>
        <p:spPr>
          <a:xfrm>
            <a:off x="3054096" y="2665476"/>
            <a:ext cx="4846320" cy="457200"/>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Spreadsheet · Document &amp; Slide viewers and editors · Notebook</a:t>
            </a:r>
            <a:endParaRPr lang="en-US" sz="1000" dirty="0"/>
          </a:p>
        </p:txBody>
      </p:sp>
      <p:sp>
        <p:nvSpPr>
          <p:cNvPr id="16" name="Shape 11"/>
          <p:cNvSpPr/>
          <p:nvPr/>
        </p:nvSpPr>
        <p:spPr>
          <a:xfrm>
            <a:off x="566928" y="3191256"/>
            <a:ext cx="7452360" cy="457200"/>
          </a:xfrm>
          <a:prstGeom prst="roundRect">
            <a:avLst>
              <a:gd name="adj" fmla="val 14000"/>
            </a:avLst>
          </a:prstGeom>
          <a:solidFill>
            <a:srgbClr val="221A52"/>
          </a:solidFill>
          <a:ln w="12700">
            <a:solidFill>
              <a:srgbClr val="2E2665"/>
            </a:solidFill>
            <a:prstDash val="solid"/>
          </a:ln>
        </p:spPr>
      </p:sp>
      <p:sp>
        <p:nvSpPr>
          <p:cNvPr id="17" name="Shape 12"/>
          <p:cNvSpPr/>
          <p:nvPr/>
        </p:nvSpPr>
        <p:spPr>
          <a:xfrm>
            <a:off x="713232" y="3255264"/>
            <a:ext cx="329184" cy="329184"/>
          </a:xfrm>
          <a:prstGeom prst="roundRect">
            <a:avLst>
              <a:gd name="adj" fmla="val 77778"/>
            </a:avLst>
          </a:prstGeom>
          <a:solidFill>
            <a:srgbClr val="9B7BFF"/>
          </a:solidFill>
          <a:ln w="12700">
            <a:solidFill>
              <a:srgbClr val="9B7BFF"/>
            </a:solidFill>
            <a:prstDash val="solid"/>
          </a:ln>
        </p:spPr>
      </p:sp>
      <p:pic>
        <p:nvPicPr>
          <p:cNvPr id="18" name="Image 3" descr="preencoded.png">    </p:cNvPr>
          <p:cNvPicPr>
            <a:picLocks noChangeAspect="1"/>
          </p:cNvPicPr>
          <p:nvPr/>
        </p:nvPicPr>
        <p:blipFill>
          <a:blip r:embed="rId4"/>
          <a:stretch>
            <a:fillRect/>
          </a:stretch>
        </p:blipFill>
        <p:spPr>
          <a:xfrm>
            <a:off x="798820" y="3340852"/>
            <a:ext cx="158008" cy="158008"/>
          </a:xfrm>
          <a:prstGeom prst="rect">
            <a:avLst/>
          </a:prstGeom>
        </p:spPr>
      </p:pic>
      <p:sp>
        <p:nvSpPr>
          <p:cNvPr id="19" name="Text 13"/>
          <p:cNvSpPr txBox="1"/>
          <p:nvPr/>
        </p:nvSpPr>
        <p:spPr>
          <a:xfrm>
            <a:off x="1152144" y="3191256"/>
            <a:ext cx="18745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Collections &amp; Grids</a:t>
            </a:r>
            <a:endParaRPr lang="en-US" sz="1200" dirty="0"/>
          </a:p>
        </p:txBody>
      </p:sp>
      <p:sp>
        <p:nvSpPr>
          <p:cNvPr id="20" name="Text 14"/>
          <p:cNvSpPr txBox="1"/>
          <p:nvPr/>
        </p:nvSpPr>
        <p:spPr>
          <a:xfrm>
            <a:off x="3054096" y="3191256"/>
            <a:ext cx="4846320" cy="457200"/>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DataGrid · TreeDataGrid · VirtualizedGrid · StaggeredGrid · Carousel</a:t>
            </a:r>
            <a:endParaRPr lang="en-US" sz="1000" dirty="0"/>
          </a:p>
        </p:txBody>
      </p:sp>
      <p:sp>
        <p:nvSpPr>
          <p:cNvPr id="21" name="Shape 15"/>
          <p:cNvSpPr/>
          <p:nvPr/>
        </p:nvSpPr>
        <p:spPr>
          <a:xfrm>
            <a:off x="566928" y="3717036"/>
            <a:ext cx="7452360" cy="457200"/>
          </a:xfrm>
          <a:prstGeom prst="roundRect">
            <a:avLst>
              <a:gd name="adj" fmla="val 14000"/>
            </a:avLst>
          </a:prstGeom>
          <a:solidFill>
            <a:srgbClr val="19143C"/>
          </a:solidFill>
          <a:ln w="12700">
            <a:solidFill>
              <a:srgbClr val="2E2665"/>
            </a:solidFill>
            <a:prstDash val="solid"/>
          </a:ln>
        </p:spPr>
      </p:sp>
      <p:sp>
        <p:nvSpPr>
          <p:cNvPr id="22" name="Shape 16"/>
          <p:cNvSpPr/>
          <p:nvPr/>
        </p:nvSpPr>
        <p:spPr>
          <a:xfrm>
            <a:off x="713232" y="3781044"/>
            <a:ext cx="329184" cy="329184"/>
          </a:xfrm>
          <a:prstGeom prst="roundRect">
            <a:avLst>
              <a:gd name="adj" fmla="val 77778"/>
            </a:avLst>
          </a:prstGeom>
          <a:solidFill>
            <a:srgbClr val="9B7BFF"/>
          </a:solidFill>
          <a:ln w="12700">
            <a:solidFill>
              <a:srgbClr val="9B7BFF"/>
            </a:solidFill>
            <a:prstDash val="solid"/>
          </a:ln>
        </p:spPr>
      </p:sp>
      <p:pic>
        <p:nvPicPr>
          <p:cNvPr id="23" name="Image 4" descr="preencoded.png">    </p:cNvPr>
          <p:cNvPicPr>
            <a:picLocks noChangeAspect="1"/>
          </p:cNvPicPr>
          <p:nvPr/>
        </p:nvPicPr>
        <p:blipFill>
          <a:blip r:embed="rId5"/>
          <a:stretch>
            <a:fillRect/>
          </a:stretch>
        </p:blipFill>
        <p:spPr>
          <a:xfrm>
            <a:off x="798820" y="3866632"/>
            <a:ext cx="158008" cy="158008"/>
          </a:xfrm>
          <a:prstGeom prst="rect">
            <a:avLst/>
          </a:prstGeom>
        </p:spPr>
      </p:pic>
      <p:sp>
        <p:nvSpPr>
          <p:cNvPr id="24" name="Text 17"/>
          <p:cNvSpPr txBox="1"/>
          <p:nvPr/>
        </p:nvSpPr>
        <p:spPr>
          <a:xfrm>
            <a:off x="1152144" y="3717036"/>
            <a:ext cx="18745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Layout &amp; Overlays</a:t>
            </a:r>
            <a:endParaRPr lang="en-US" sz="1200" dirty="0"/>
          </a:p>
        </p:txBody>
      </p:sp>
      <p:sp>
        <p:nvSpPr>
          <p:cNvPr id="25" name="Text 18"/>
          <p:cNvSpPr txBox="1"/>
          <p:nvPr/>
        </p:nvSpPr>
        <p:spPr>
          <a:xfrm>
            <a:off x="3054096" y="3717036"/>
            <a:ext cx="4846320" cy="457200"/>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AppLayout · Flyout · Modal · Sheet · Wizard · Timeline · Ribbon · FAB</a:t>
            </a:r>
            <a:endParaRPr lang="en-US" sz="1000" dirty="0"/>
          </a:p>
        </p:txBody>
      </p:sp>
      <p:sp>
        <p:nvSpPr>
          <p:cNvPr id="26" name="Shape 19"/>
          <p:cNvSpPr/>
          <p:nvPr/>
        </p:nvSpPr>
        <p:spPr>
          <a:xfrm>
            <a:off x="566928" y="4242816"/>
            <a:ext cx="7452360" cy="457200"/>
          </a:xfrm>
          <a:prstGeom prst="roundRect">
            <a:avLst>
              <a:gd name="adj" fmla="val 14000"/>
            </a:avLst>
          </a:prstGeom>
          <a:solidFill>
            <a:srgbClr val="221A52"/>
          </a:solidFill>
          <a:ln w="12700">
            <a:solidFill>
              <a:srgbClr val="2E2665"/>
            </a:solidFill>
            <a:prstDash val="solid"/>
          </a:ln>
        </p:spPr>
      </p:sp>
      <p:sp>
        <p:nvSpPr>
          <p:cNvPr id="27" name="Shape 20"/>
          <p:cNvSpPr/>
          <p:nvPr/>
        </p:nvSpPr>
        <p:spPr>
          <a:xfrm>
            <a:off x="713232" y="4306824"/>
            <a:ext cx="329184" cy="329184"/>
          </a:xfrm>
          <a:prstGeom prst="roundRect">
            <a:avLst>
              <a:gd name="adj" fmla="val 77778"/>
            </a:avLst>
          </a:prstGeom>
          <a:solidFill>
            <a:srgbClr val="2BE5A0"/>
          </a:solidFill>
          <a:ln w="12700">
            <a:solidFill>
              <a:srgbClr val="2BE5A0"/>
            </a:solidFill>
            <a:prstDash val="solid"/>
          </a:ln>
        </p:spPr>
      </p:sp>
      <p:pic>
        <p:nvPicPr>
          <p:cNvPr id="28" name="Image 5" descr="preencoded.png">    </p:cNvPr>
          <p:cNvPicPr>
            <a:picLocks noChangeAspect="1"/>
          </p:cNvPicPr>
          <p:nvPr/>
        </p:nvPicPr>
        <p:blipFill>
          <a:blip r:embed="rId6"/>
          <a:stretch>
            <a:fillRect/>
          </a:stretch>
        </p:blipFill>
        <p:spPr>
          <a:xfrm>
            <a:off x="798820" y="4392412"/>
            <a:ext cx="158008" cy="158008"/>
          </a:xfrm>
          <a:prstGeom prst="rect">
            <a:avLst/>
          </a:prstGeom>
        </p:spPr>
      </p:pic>
      <p:sp>
        <p:nvSpPr>
          <p:cNvPr id="29" name="Text 21"/>
          <p:cNvSpPr txBox="1"/>
          <p:nvPr/>
        </p:nvSpPr>
        <p:spPr>
          <a:xfrm>
            <a:off x="1152144" y="4242816"/>
            <a:ext cx="18745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p>
        </p:txBody>
      </p:sp>
      <p:sp>
        <p:nvSpPr>
          <p:cNvPr id="30" name="Text 22"/>
          <p:cNvSpPr txBox="1"/>
          <p:nvPr/>
        </p:nvSpPr>
        <p:spPr>
          <a:xfrm>
            <a:off x="3054096" y="4242816"/>
            <a:ext cx="4846320" cy="457200"/>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TextEntry · AutoComplete · Pickers · Sliders · SecurityPin · SignaturePad</a:t>
            </a:r>
            <a:endParaRPr lang="en-US" sz="1000" dirty="0"/>
          </a:p>
        </p:txBody>
      </p:sp>
      <p:sp>
        <p:nvSpPr>
          <p:cNvPr id="31" name="Shape 23"/>
          <p:cNvSpPr/>
          <p:nvPr/>
        </p:nvSpPr>
        <p:spPr>
          <a:xfrm>
            <a:off x="566928" y="4768596"/>
            <a:ext cx="7452360" cy="457200"/>
          </a:xfrm>
          <a:prstGeom prst="roundRect">
            <a:avLst>
              <a:gd name="adj" fmla="val 14000"/>
            </a:avLst>
          </a:prstGeom>
          <a:solidFill>
            <a:srgbClr val="19143C"/>
          </a:solidFill>
          <a:ln w="12700">
            <a:solidFill>
              <a:srgbClr val="2E2665"/>
            </a:solidFill>
            <a:prstDash val="solid"/>
          </a:ln>
        </p:spPr>
      </p:sp>
      <p:sp>
        <p:nvSpPr>
          <p:cNvPr id="32" name="Shape 24"/>
          <p:cNvSpPr/>
          <p:nvPr/>
        </p:nvSpPr>
        <p:spPr>
          <a:xfrm>
            <a:off x="713232" y="4832604"/>
            <a:ext cx="329184" cy="329184"/>
          </a:xfrm>
          <a:prstGeom prst="roundRect">
            <a:avLst>
              <a:gd name="adj" fmla="val 77778"/>
            </a:avLst>
          </a:prstGeom>
          <a:solidFill>
            <a:srgbClr val="9B7BFF"/>
          </a:solidFill>
          <a:ln w="12700">
            <a:solidFill>
              <a:srgbClr val="9B7BFF"/>
            </a:solidFill>
            <a:prstDash val="solid"/>
          </a:ln>
        </p:spPr>
      </p:sp>
      <p:pic>
        <p:nvPicPr>
          <p:cNvPr id="33" name="Image 6" descr="preencoded.png">    </p:cNvPr>
          <p:cNvPicPr>
            <a:picLocks noChangeAspect="1"/>
          </p:cNvPicPr>
          <p:nvPr/>
        </p:nvPicPr>
        <p:blipFill>
          <a:blip r:embed="rId7"/>
          <a:stretch>
            <a:fillRect/>
          </a:stretch>
        </p:blipFill>
        <p:spPr>
          <a:xfrm>
            <a:off x="798820" y="4918192"/>
            <a:ext cx="158008" cy="158008"/>
          </a:xfrm>
          <a:prstGeom prst="rect">
            <a:avLst/>
          </a:prstGeom>
        </p:spPr>
      </p:pic>
      <p:sp>
        <p:nvSpPr>
          <p:cNvPr id="34" name="Text 25"/>
          <p:cNvSpPr txBox="1"/>
          <p:nvPr/>
        </p:nvSpPr>
        <p:spPr>
          <a:xfrm>
            <a:off x="1152144" y="4768596"/>
            <a:ext cx="18745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Display &amp; Media</a:t>
            </a:r>
            <a:endParaRPr lang="en-US" sz="1200" dirty="0"/>
          </a:p>
        </p:txBody>
      </p:sp>
      <p:sp>
        <p:nvSpPr>
          <p:cNvPr id="35" name="Text 26"/>
          <p:cNvSpPr txBox="1"/>
          <p:nvPr/>
        </p:nvSpPr>
        <p:spPr>
          <a:xfrm>
            <a:off x="3054096" y="4768596"/>
            <a:ext cx="4846320" cy="457200"/>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CameraView · MediaElement · Markdown · Mermaid · Barcodes · Keyframe</a:t>
            </a:r>
            <a:endParaRPr lang="en-US" sz="1000" dirty="0"/>
          </a:p>
        </p:txBody>
      </p:sp>
      <p:sp>
        <p:nvSpPr>
          <p:cNvPr id="36" name="Shape 27"/>
          <p:cNvSpPr/>
          <p:nvPr/>
        </p:nvSpPr>
        <p:spPr>
          <a:xfrm>
            <a:off x="566928" y="5294376"/>
            <a:ext cx="7452360" cy="457200"/>
          </a:xfrm>
          <a:prstGeom prst="roundRect">
            <a:avLst>
              <a:gd name="adj" fmla="val 14000"/>
            </a:avLst>
          </a:prstGeom>
          <a:solidFill>
            <a:srgbClr val="221A52"/>
          </a:solidFill>
          <a:ln w="12700">
            <a:solidFill>
              <a:srgbClr val="2E2665"/>
            </a:solidFill>
            <a:prstDash val="solid"/>
          </a:ln>
        </p:spPr>
      </p:sp>
      <p:sp>
        <p:nvSpPr>
          <p:cNvPr id="37" name="Shape 28"/>
          <p:cNvSpPr/>
          <p:nvPr/>
        </p:nvSpPr>
        <p:spPr>
          <a:xfrm>
            <a:off x="713232" y="5358384"/>
            <a:ext cx="329184" cy="329184"/>
          </a:xfrm>
          <a:prstGeom prst="roundRect">
            <a:avLst>
              <a:gd name="adj" fmla="val 77778"/>
            </a:avLst>
          </a:prstGeom>
          <a:solidFill>
            <a:srgbClr val="9B7BFF"/>
          </a:solidFill>
          <a:ln w="12700">
            <a:solidFill>
              <a:srgbClr val="9B7BFF"/>
            </a:solidFill>
            <a:prstDash val="solid"/>
          </a:ln>
        </p:spPr>
      </p:sp>
      <p:pic>
        <p:nvPicPr>
          <p:cNvPr id="38" name="Image 7" descr="preencoded.png">    </p:cNvPr>
          <p:cNvPicPr>
            <a:picLocks noChangeAspect="1"/>
          </p:cNvPicPr>
          <p:nvPr/>
        </p:nvPicPr>
        <p:blipFill>
          <a:blip r:embed="rId8"/>
          <a:stretch>
            <a:fillRect/>
          </a:stretch>
        </p:blipFill>
        <p:spPr>
          <a:xfrm>
            <a:off x="798820" y="5443972"/>
            <a:ext cx="158008" cy="158008"/>
          </a:xfrm>
          <a:prstGeom prst="rect">
            <a:avLst/>
          </a:prstGeom>
        </p:spPr>
      </p:pic>
      <p:sp>
        <p:nvSpPr>
          <p:cNvPr id="39" name="Text 29"/>
          <p:cNvSpPr txBox="1"/>
          <p:nvPr/>
        </p:nvSpPr>
        <p:spPr>
          <a:xfrm>
            <a:off x="1152144" y="5294376"/>
            <a:ext cx="18745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Status &amp; Feedback</a:t>
            </a:r>
            <a:endParaRPr lang="en-US" sz="1200" dirty="0"/>
          </a:p>
        </p:txBody>
      </p:sp>
      <p:sp>
        <p:nvSpPr>
          <p:cNvPr id="40" name="Text 30"/>
          <p:cNvSpPr txBox="1"/>
          <p:nvPr/>
        </p:nvSpPr>
        <p:spPr>
          <a:xfrm>
            <a:off x="3054096" y="5294376"/>
            <a:ext cx="4846320" cy="457200"/>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Toast · Dialogs · Progress · Skeleton · Splash · Badge · Feedback</a:t>
            </a:r>
            <a:endParaRPr lang="en-US" sz="1000" dirty="0"/>
          </a:p>
        </p:txBody>
      </p:sp>
      <p:sp>
        <p:nvSpPr>
          <p:cNvPr id="41" name="Shape 31"/>
          <p:cNvSpPr/>
          <p:nvPr/>
        </p:nvSpPr>
        <p:spPr>
          <a:xfrm>
            <a:off x="566928" y="5820156"/>
            <a:ext cx="7452360" cy="457200"/>
          </a:xfrm>
          <a:prstGeom prst="roundRect">
            <a:avLst>
              <a:gd name="adj" fmla="val 14000"/>
            </a:avLst>
          </a:prstGeom>
          <a:solidFill>
            <a:srgbClr val="19143C"/>
          </a:solidFill>
          <a:ln w="12700">
            <a:solidFill>
              <a:srgbClr val="2E2665"/>
            </a:solidFill>
            <a:prstDash val="solid"/>
          </a:ln>
        </p:spPr>
      </p:sp>
      <p:sp>
        <p:nvSpPr>
          <p:cNvPr id="42" name="Shape 32"/>
          <p:cNvSpPr/>
          <p:nvPr/>
        </p:nvSpPr>
        <p:spPr>
          <a:xfrm>
            <a:off x="713232" y="5884164"/>
            <a:ext cx="329184" cy="329184"/>
          </a:xfrm>
          <a:prstGeom prst="roundRect">
            <a:avLst>
              <a:gd name="adj" fmla="val 77778"/>
            </a:avLst>
          </a:prstGeom>
          <a:solidFill>
            <a:srgbClr val="2BE5A0"/>
          </a:solidFill>
          <a:ln w="12700">
            <a:solidFill>
              <a:srgbClr val="2BE5A0"/>
            </a:solidFill>
            <a:prstDash val="solid"/>
          </a:ln>
        </p:spPr>
      </p:sp>
      <p:pic>
        <p:nvPicPr>
          <p:cNvPr id="43" name="Image 8" descr="preencoded.png">    </p:cNvPr>
          <p:cNvPicPr>
            <a:picLocks noChangeAspect="1"/>
          </p:cNvPicPr>
          <p:nvPr/>
        </p:nvPicPr>
        <p:blipFill>
          <a:blip r:embed="rId9"/>
          <a:stretch>
            <a:fillRect/>
          </a:stretch>
        </p:blipFill>
        <p:spPr>
          <a:xfrm>
            <a:off x="798820" y="5969752"/>
            <a:ext cx="158008" cy="158008"/>
          </a:xfrm>
          <a:prstGeom prst="rect">
            <a:avLst/>
          </a:prstGeom>
        </p:spPr>
      </p:pic>
      <p:sp>
        <p:nvSpPr>
          <p:cNvPr id="44" name="Text 33"/>
          <p:cNvSpPr txBox="1"/>
          <p:nvPr/>
        </p:nvSpPr>
        <p:spPr>
          <a:xfrm>
            <a:off x="1152144" y="5820156"/>
            <a:ext cx="18745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Desktop</a:t>
            </a:r>
            <a:endParaRPr lang="en-US" sz="1200" dirty="0"/>
          </a:p>
        </p:txBody>
      </p:sp>
      <p:sp>
        <p:nvSpPr>
          <p:cNvPr id="45" name="Text 34"/>
          <p:cNvSpPr txBox="1"/>
          <p:nvPr/>
        </p:nvSpPr>
        <p:spPr>
          <a:xfrm>
            <a:off x="3054096" y="5820156"/>
            <a:ext cx="4846320" cy="457200"/>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Tray icon · Docking · File drop · On-screen keyboard</a:t>
            </a:r>
            <a:endParaRPr lang="en-US" sz="1000" dirty="0"/>
          </a:p>
        </p:txBody>
      </p:sp>
      <p:pic>
        <p:nvPicPr>
          <p:cNvPr id="46" name="Image 9" descr="/Users/aritchie/Desktop/dev/documentation/public/images/scheduler/s1.png">    </p:cNvPr>
          <p:cNvPicPr>
            <a:picLocks noChangeAspect="1"/>
          </p:cNvPicPr>
          <p:nvPr/>
        </p:nvPicPr>
        <p:blipFill>
          <a:blip r:embed="rId10"/>
          <a:stretch>
            <a:fillRect/>
          </a:stretch>
        </p:blipFill>
        <p:spPr>
          <a:xfrm>
            <a:off x="8275320" y="1417320"/>
            <a:ext cx="1691640" cy="3673275"/>
          </a:xfrm>
          <a:prstGeom prst="rect">
            <a:avLst/>
          </a:prstGeom>
          <a:effectLst>
            <a:outerShdw sx="100000" sy="100000" kx="0" ky="0" algn="bl" rotWithShape="0" blurRad="279400" dist="88900" dir="5400000">
              <a:srgbClr val="000000">
                <a:alpha val="55000"/>
              </a:srgbClr>
            </a:outerShdw>
          </a:effectLst>
        </p:spPr>
      </p:pic>
      <p:pic>
        <p:nvPicPr>
          <p:cNvPr id="47" name="Image 10" descr="/Users/aritchie/Desktop/dev/documentation/public/images/datagrid/s1.png">    </p:cNvPr>
          <p:cNvPicPr>
            <a:picLocks noChangeAspect="1"/>
          </p:cNvPicPr>
          <p:nvPr/>
        </p:nvPicPr>
        <p:blipFill>
          <a:blip r:embed="rId11"/>
          <a:stretch>
            <a:fillRect/>
          </a:stretch>
        </p:blipFill>
        <p:spPr>
          <a:xfrm>
            <a:off x="10104120" y="2148840"/>
            <a:ext cx="1536192" cy="3335731"/>
          </a:xfrm>
          <a:prstGeom prst="rect">
            <a:avLst/>
          </a:prstGeom>
          <a:effectLst>
            <a:outerShdw sx="100000" sy="100000" kx="0" ky="0" algn="bl" rotWithShape="0" blurRad="279400" dist="88900" dir="5400000">
              <a:srgbClr val="000000">
                <a:alpha val="55000"/>
              </a:srgbClr>
            </a:outerShdw>
          </a:effectLst>
        </p:spPr>
      </p:pic>
      <p:sp>
        <p:nvSpPr>
          <p:cNvPr id="48" name="Text 35"/>
          <p:cNvSpPr txBox="1"/>
          <p:nvPr/>
        </p:nvSpPr>
        <p:spPr>
          <a:xfrm>
            <a:off x="8275320" y="5760720"/>
            <a:ext cx="3364992" cy="822960"/>
          </a:xfrm>
          <a:prstGeom prst="rect">
            <a:avLst/>
          </a:prstGeom>
          <a:noFill/>
          <a:ln/>
        </p:spPr>
        <p:txBody>
          <a:bodyPr wrap="square" lIns="0" tIns="0" rIns="0" bIns="0" rtlCol="0" anchor="ctr"/>
          <a:lstStyle/>
          <a:p>
            <a:pPr indent="0" marL="0">
              <a:lnSpc>
                <a:spcPts val="1400"/>
              </a:lnSpc>
              <a:buNone/>
            </a:pPr>
            <a:r>
              <a:rPr lang="en-US" sz="1050" dirty="0">
                <a:solidFill>
                  <a:srgbClr val="AFA8CE"/>
                </a:solidFill>
                <a:latin typeface="Calibri" pitchFamily="34" charset="0"/>
                <a:ea typeface="Calibri" pitchFamily="34" charset="-122"/>
                <a:cs typeface="Calibri" pitchFamily="34" charset="-120"/>
              </a:rPr>
              <a:t>Theming — a shared token contract with Basic, Ocean, Material, Terminal and Aurora packs, plus a Theme Creator.</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05 · OFFICE DOCUMENTS</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Open, render and edit real Office files</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A virtualized SkiaSharp surface shared verbatim by both hosts, over a document kernel with a transactional undo stack and a formula engine. Edits are surgical on the OOXML — an untouched file saves byte-identical.</a:t>
            </a:r>
            <a:endParaRPr lang="en-US" sz="1350" dirty="0"/>
          </a:p>
        </p:txBody>
      </p:sp>
      <p:sp>
        <p:nvSpPr>
          <p:cNvPr id="6" name="Shape 3"/>
          <p:cNvSpPr/>
          <p:nvPr/>
        </p:nvSpPr>
        <p:spPr>
          <a:xfrm>
            <a:off x="566928" y="2487168"/>
            <a:ext cx="3515258" cy="1783080"/>
          </a:xfrm>
          <a:prstGeom prst="roundRect">
            <a:avLst>
              <a:gd name="adj" fmla="val 359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04672" y="2706624"/>
            <a:ext cx="420624" cy="420624"/>
          </a:xfrm>
          <a:prstGeom prst="roundRect">
            <a:avLst>
              <a:gd name="adj" fmla="val 60870"/>
            </a:avLst>
          </a:prstGeom>
          <a:solidFill>
            <a:srgbClr val="2BE5A0"/>
          </a:solidFill>
          <a:ln w="12700">
            <a:solidFill>
              <a:srgbClr val="2BE5A0"/>
            </a:solidFill>
            <a:prstDash val="solid"/>
          </a:ln>
        </p:spPr>
      </p:sp>
      <p:pic>
        <p:nvPicPr>
          <p:cNvPr id="8" name="Image 1" descr="preencoded.png">    </p:cNvPr>
          <p:cNvPicPr>
            <a:picLocks noChangeAspect="1"/>
          </p:cNvPicPr>
          <p:nvPr/>
        </p:nvPicPr>
        <p:blipFill>
          <a:blip r:embed="rId2"/>
          <a:stretch>
            <a:fillRect/>
          </a:stretch>
        </p:blipFill>
        <p:spPr>
          <a:xfrm>
            <a:off x="914034" y="2815986"/>
            <a:ext cx="201900" cy="201900"/>
          </a:xfrm>
          <a:prstGeom prst="rect">
            <a:avLst/>
          </a:prstGeom>
        </p:spPr>
      </p:pic>
      <p:sp>
        <p:nvSpPr>
          <p:cNvPr id="9" name="Text 5"/>
          <p:cNvSpPr txBox="1"/>
          <p:nvPr/>
        </p:nvSpPr>
        <p:spPr>
          <a:xfrm>
            <a:off x="1389888" y="2798064"/>
            <a:ext cx="2509418"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Spreadsheet</a:t>
            </a:r>
            <a:endParaRPr lang="en-US" sz="1400" dirty="0"/>
          </a:p>
        </p:txBody>
      </p:sp>
      <p:sp>
        <p:nvSpPr>
          <p:cNvPr id="10" name="Text 6"/>
          <p:cNvSpPr txBox="1"/>
          <p:nvPr/>
        </p:nvSpPr>
        <p:spPr>
          <a:xfrm>
            <a:off x="804672" y="3273552"/>
            <a:ext cx="3039770" cy="85039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Real .xlsx with a formula engine, virtualized rendering and cell-level editing.</a:t>
            </a:r>
            <a:endParaRPr lang="en-US" sz="1100" dirty="0"/>
          </a:p>
        </p:txBody>
      </p:sp>
      <p:sp>
        <p:nvSpPr>
          <p:cNvPr id="11" name="Shape 7"/>
          <p:cNvSpPr/>
          <p:nvPr/>
        </p:nvSpPr>
        <p:spPr>
          <a:xfrm>
            <a:off x="4338218" y="2487168"/>
            <a:ext cx="3515258" cy="1783080"/>
          </a:xfrm>
          <a:prstGeom prst="roundRect">
            <a:avLst>
              <a:gd name="adj" fmla="val 359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2" name="Shape 8"/>
          <p:cNvSpPr/>
          <p:nvPr/>
        </p:nvSpPr>
        <p:spPr>
          <a:xfrm>
            <a:off x="4575962" y="2706624"/>
            <a:ext cx="420624" cy="420624"/>
          </a:xfrm>
          <a:prstGeom prst="roundRect">
            <a:avLst>
              <a:gd name="adj" fmla="val 60870"/>
            </a:avLst>
          </a:prstGeom>
          <a:solidFill>
            <a:srgbClr val="9B7BFF"/>
          </a:solidFill>
          <a:ln w="12700">
            <a:solidFill>
              <a:srgbClr val="9B7BFF"/>
            </a:solidFill>
            <a:prstDash val="solid"/>
          </a:ln>
        </p:spPr>
      </p:sp>
      <p:pic>
        <p:nvPicPr>
          <p:cNvPr id="13" name="Image 2" descr="preencoded.png">    </p:cNvPr>
          <p:cNvPicPr>
            <a:picLocks noChangeAspect="1"/>
          </p:cNvPicPr>
          <p:nvPr/>
        </p:nvPicPr>
        <p:blipFill>
          <a:blip r:embed="rId3"/>
          <a:stretch>
            <a:fillRect/>
          </a:stretch>
        </p:blipFill>
        <p:spPr>
          <a:xfrm>
            <a:off x="4685325" y="2815986"/>
            <a:ext cx="201900" cy="201900"/>
          </a:xfrm>
          <a:prstGeom prst="rect">
            <a:avLst/>
          </a:prstGeom>
        </p:spPr>
      </p:pic>
      <p:sp>
        <p:nvSpPr>
          <p:cNvPr id="14" name="Text 9"/>
          <p:cNvSpPr txBox="1"/>
          <p:nvPr/>
        </p:nvSpPr>
        <p:spPr>
          <a:xfrm>
            <a:off x="5161178" y="2798064"/>
            <a:ext cx="2509418"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Document Viewer</a:t>
            </a:r>
            <a:endParaRPr lang="en-US" sz="1400" dirty="0"/>
          </a:p>
        </p:txBody>
      </p:sp>
      <p:sp>
        <p:nvSpPr>
          <p:cNvPr id="15" name="Text 10"/>
          <p:cNvSpPr txBox="1"/>
          <p:nvPr/>
        </p:nvSpPr>
        <p:spPr>
          <a:xfrm>
            <a:off x="4575962" y="3273552"/>
            <a:ext cx="3039770" cy="85039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Render .docx faithfully on MAUI and Blazor from the same kernel.</a:t>
            </a:r>
            <a:endParaRPr lang="en-US" sz="1100" dirty="0"/>
          </a:p>
        </p:txBody>
      </p:sp>
      <p:sp>
        <p:nvSpPr>
          <p:cNvPr id="16" name="Shape 11"/>
          <p:cNvSpPr/>
          <p:nvPr/>
        </p:nvSpPr>
        <p:spPr>
          <a:xfrm>
            <a:off x="8109509" y="2487168"/>
            <a:ext cx="3515258" cy="1783080"/>
          </a:xfrm>
          <a:prstGeom prst="roundRect">
            <a:avLst>
              <a:gd name="adj" fmla="val 359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8347253" y="2706624"/>
            <a:ext cx="420624" cy="420624"/>
          </a:xfrm>
          <a:prstGeom prst="roundRect">
            <a:avLst>
              <a:gd name="adj" fmla="val 60870"/>
            </a:avLst>
          </a:prstGeom>
          <a:solidFill>
            <a:srgbClr val="9B7BFF"/>
          </a:solidFill>
          <a:ln w="12700">
            <a:solidFill>
              <a:srgbClr val="9B7BFF"/>
            </a:solidFill>
            <a:prstDash val="solid"/>
          </a:ln>
        </p:spPr>
      </p:sp>
      <p:pic>
        <p:nvPicPr>
          <p:cNvPr id="18" name="Image 3" descr="preencoded.png">    </p:cNvPr>
          <p:cNvPicPr>
            <a:picLocks noChangeAspect="1"/>
          </p:cNvPicPr>
          <p:nvPr/>
        </p:nvPicPr>
        <p:blipFill>
          <a:blip r:embed="rId4"/>
          <a:stretch>
            <a:fillRect/>
          </a:stretch>
        </p:blipFill>
        <p:spPr>
          <a:xfrm>
            <a:off x="8456615" y="2815986"/>
            <a:ext cx="201900" cy="201900"/>
          </a:xfrm>
          <a:prstGeom prst="rect">
            <a:avLst/>
          </a:prstGeom>
        </p:spPr>
      </p:pic>
      <p:sp>
        <p:nvSpPr>
          <p:cNvPr id="19" name="Text 13"/>
          <p:cNvSpPr txBox="1"/>
          <p:nvPr/>
        </p:nvSpPr>
        <p:spPr>
          <a:xfrm>
            <a:off x="8932469" y="2798064"/>
            <a:ext cx="2509418"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Slide Viewer</a:t>
            </a:r>
            <a:endParaRPr lang="en-US" sz="1400" dirty="0"/>
          </a:p>
        </p:txBody>
      </p:sp>
      <p:sp>
        <p:nvSpPr>
          <p:cNvPr id="20" name="Text 14"/>
          <p:cNvSpPr txBox="1"/>
          <p:nvPr/>
        </p:nvSpPr>
        <p:spPr>
          <a:xfrm>
            <a:off x="8347253" y="3273552"/>
            <a:ext cx="3039770" cy="85039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Render .pptx decks, slide by slide, with the shared drawing surface.</a:t>
            </a:r>
            <a:endParaRPr lang="en-US" sz="1100" dirty="0"/>
          </a:p>
        </p:txBody>
      </p:sp>
      <p:sp>
        <p:nvSpPr>
          <p:cNvPr id="21" name="Shape 15"/>
          <p:cNvSpPr/>
          <p:nvPr/>
        </p:nvSpPr>
        <p:spPr>
          <a:xfrm>
            <a:off x="566928" y="4544568"/>
            <a:ext cx="3515258" cy="1783080"/>
          </a:xfrm>
          <a:prstGeom prst="roundRect">
            <a:avLst>
              <a:gd name="adj" fmla="val 359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Shape 16"/>
          <p:cNvSpPr/>
          <p:nvPr/>
        </p:nvSpPr>
        <p:spPr>
          <a:xfrm>
            <a:off x="804672" y="4764024"/>
            <a:ext cx="420624" cy="420624"/>
          </a:xfrm>
          <a:prstGeom prst="roundRect">
            <a:avLst>
              <a:gd name="adj" fmla="val 60870"/>
            </a:avLst>
          </a:prstGeom>
          <a:solidFill>
            <a:srgbClr val="CFFA12"/>
          </a:solidFill>
          <a:ln w="12700">
            <a:solidFill>
              <a:srgbClr val="CFFA12"/>
            </a:solidFill>
            <a:prstDash val="solid"/>
          </a:ln>
        </p:spPr>
      </p:sp>
      <p:pic>
        <p:nvPicPr>
          <p:cNvPr id="23" name="Image 4" descr="preencoded.png">    </p:cNvPr>
          <p:cNvPicPr>
            <a:picLocks noChangeAspect="1"/>
          </p:cNvPicPr>
          <p:nvPr/>
        </p:nvPicPr>
        <p:blipFill>
          <a:blip r:embed="rId5"/>
          <a:stretch>
            <a:fillRect/>
          </a:stretch>
        </p:blipFill>
        <p:spPr>
          <a:xfrm>
            <a:off x="914034" y="4873386"/>
            <a:ext cx="201900" cy="201900"/>
          </a:xfrm>
          <a:prstGeom prst="rect">
            <a:avLst/>
          </a:prstGeom>
        </p:spPr>
      </p:pic>
      <p:sp>
        <p:nvSpPr>
          <p:cNvPr id="24" name="Text 17"/>
          <p:cNvSpPr txBox="1"/>
          <p:nvPr/>
        </p:nvSpPr>
        <p:spPr>
          <a:xfrm>
            <a:off x="1389888" y="4855464"/>
            <a:ext cx="2509418"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Document Editor</a:t>
            </a:r>
            <a:endParaRPr lang="en-US" sz="1400" dirty="0"/>
          </a:p>
        </p:txBody>
      </p:sp>
      <p:sp>
        <p:nvSpPr>
          <p:cNvPr id="25" name="Text 18"/>
          <p:cNvSpPr txBox="1"/>
          <p:nvPr/>
        </p:nvSpPr>
        <p:spPr>
          <a:xfrm>
            <a:off x="804672" y="5330952"/>
            <a:ext cx="3039770" cy="85039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Edit .docx with a transactional undo stack and surgical OOXML writes.</a:t>
            </a:r>
            <a:endParaRPr lang="en-US" sz="1100" dirty="0"/>
          </a:p>
        </p:txBody>
      </p:sp>
      <p:sp>
        <p:nvSpPr>
          <p:cNvPr id="26" name="Shape 19"/>
          <p:cNvSpPr/>
          <p:nvPr/>
        </p:nvSpPr>
        <p:spPr>
          <a:xfrm>
            <a:off x="4338218" y="4544568"/>
            <a:ext cx="3515258" cy="1783080"/>
          </a:xfrm>
          <a:prstGeom prst="roundRect">
            <a:avLst>
              <a:gd name="adj" fmla="val 359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7" name="Shape 20"/>
          <p:cNvSpPr/>
          <p:nvPr/>
        </p:nvSpPr>
        <p:spPr>
          <a:xfrm>
            <a:off x="4575962" y="4764024"/>
            <a:ext cx="420624" cy="420624"/>
          </a:xfrm>
          <a:prstGeom prst="roundRect">
            <a:avLst>
              <a:gd name="adj" fmla="val 60870"/>
            </a:avLst>
          </a:prstGeom>
          <a:solidFill>
            <a:srgbClr val="9B7BFF"/>
          </a:solidFill>
          <a:ln w="12700">
            <a:solidFill>
              <a:srgbClr val="9B7BFF"/>
            </a:solidFill>
            <a:prstDash val="solid"/>
          </a:ln>
        </p:spPr>
      </p:sp>
      <p:pic>
        <p:nvPicPr>
          <p:cNvPr id="28" name="Image 5" descr="preencoded.png">    </p:cNvPr>
          <p:cNvPicPr>
            <a:picLocks noChangeAspect="1"/>
          </p:cNvPicPr>
          <p:nvPr/>
        </p:nvPicPr>
        <p:blipFill>
          <a:blip r:embed="rId6"/>
          <a:stretch>
            <a:fillRect/>
          </a:stretch>
        </p:blipFill>
        <p:spPr>
          <a:xfrm>
            <a:off x="4685325" y="4873386"/>
            <a:ext cx="201900" cy="201900"/>
          </a:xfrm>
          <a:prstGeom prst="rect">
            <a:avLst/>
          </a:prstGeom>
        </p:spPr>
      </p:pic>
      <p:sp>
        <p:nvSpPr>
          <p:cNvPr id="29" name="Text 21"/>
          <p:cNvSpPr txBox="1"/>
          <p:nvPr/>
        </p:nvSpPr>
        <p:spPr>
          <a:xfrm>
            <a:off x="5161178" y="4855464"/>
            <a:ext cx="2509418"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Slide Editor</a:t>
            </a:r>
            <a:endParaRPr lang="en-US" sz="1400" dirty="0"/>
          </a:p>
        </p:txBody>
      </p:sp>
      <p:sp>
        <p:nvSpPr>
          <p:cNvPr id="30" name="Text 22"/>
          <p:cNvSpPr txBox="1"/>
          <p:nvPr/>
        </p:nvSpPr>
        <p:spPr>
          <a:xfrm>
            <a:off x="4575962" y="5330952"/>
            <a:ext cx="3039770" cy="85039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Author and edit .pptx slides on the same document kernel.</a:t>
            </a:r>
            <a:endParaRPr lang="en-US" sz="1100" dirty="0"/>
          </a:p>
        </p:txBody>
      </p:sp>
      <p:sp>
        <p:nvSpPr>
          <p:cNvPr id="31" name="Shape 23"/>
          <p:cNvSpPr/>
          <p:nvPr/>
        </p:nvSpPr>
        <p:spPr>
          <a:xfrm>
            <a:off x="8109509" y="4544568"/>
            <a:ext cx="3515258" cy="1783080"/>
          </a:xfrm>
          <a:prstGeom prst="roundRect">
            <a:avLst>
              <a:gd name="adj" fmla="val 359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2" name="Shape 24"/>
          <p:cNvSpPr/>
          <p:nvPr/>
        </p:nvSpPr>
        <p:spPr>
          <a:xfrm>
            <a:off x="8347253" y="4764024"/>
            <a:ext cx="420624" cy="420624"/>
          </a:xfrm>
          <a:prstGeom prst="roundRect">
            <a:avLst>
              <a:gd name="adj" fmla="val 60870"/>
            </a:avLst>
          </a:prstGeom>
          <a:solidFill>
            <a:srgbClr val="2BE5A0"/>
          </a:solidFill>
          <a:ln w="12700">
            <a:solidFill>
              <a:srgbClr val="2BE5A0"/>
            </a:solidFill>
            <a:prstDash val="solid"/>
          </a:ln>
        </p:spPr>
      </p:sp>
      <p:pic>
        <p:nvPicPr>
          <p:cNvPr id="33" name="Image 6" descr="preencoded.png">    </p:cNvPr>
          <p:cNvPicPr>
            <a:picLocks noChangeAspect="1"/>
          </p:cNvPicPr>
          <p:nvPr/>
        </p:nvPicPr>
        <p:blipFill>
          <a:blip r:embed="rId7"/>
          <a:stretch>
            <a:fillRect/>
          </a:stretch>
        </p:blipFill>
        <p:spPr>
          <a:xfrm>
            <a:off x="8456615" y="4873386"/>
            <a:ext cx="201900" cy="201900"/>
          </a:xfrm>
          <a:prstGeom prst="rect">
            <a:avLst/>
          </a:prstGeom>
        </p:spPr>
      </p:pic>
      <p:sp>
        <p:nvSpPr>
          <p:cNvPr id="34" name="Text 25"/>
          <p:cNvSpPr txBox="1"/>
          <p:nvPr/>
        </p:nvSpPr>
        <p:spPr>
          <a:xfrm>
            <a:off x="8932469" y="4855464"/>
            <a:ext cx="2509418"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Notebook</a:t>
            </a:r>
            <a:endParaRPr lang="en-US" sz="1400" dirty="0"/>
          </a:p>
        </p:txBody>
      </p:sp>
      <p:sp>
        <p:nvSpPr>
          <p:cNvPr id="35" name="Text 26"/>
          <p:cNvSpPr txBox="1"/>
          <p:nvPr/>
        </p:nvSpPr>
        <p:spPr>
          <a:xfrm>
            <a:off x="8347253" y="5330952"/>
            <a:ext cx="3039770" cy="850392"/>
          </a:xfrm>
          <a:prstGeom prst="rect">
            <a:avLst/>
          </a:prstGeom>
          <a:noFill/>
          <a:ln/>
        </p:spPr>
        <p:txBody>
          <a:bodyPr wrap="square" lIns="0" tIns="0" rIns="0" bIns="0" rtlCol="0" anchor="t"/>
          <a:lstStyle/>
          <a:p>
            <a:pPr indent="0" marL="0">
              <a:lnSpc>
                <a:spcPts val="1450"/>
              </a:lnSpc>
              <a:buNone/>
            </a:pPr>
            <a:r>
              <a:rPr lang="en-US" sz="1100" dirty="0">
                <a:solidFill>
                  <a:srgbClr val="AFA8CE"/>
                </a:solidFill>
                <a:latin typeface="Calibri" pitchFamily="34" charset="0"/>
                <a:ea typeface="Calibri" pitchFamily="34" charset="-122"/>
                <a:cs typeface="Calibri" pitchFamily="34" charset="-120"/>
              </a:rPr>
              <a:t>A OneNote-style unbounded page you write anywhere on, with a pressure-sensitive pen.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A15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pic>
        <p:nvPicPr>
          <p:cNvPr id="3" name="Image 1" descr="preencoded.png">    </p:cNvPr>
          <p:cNvPicPr>
            <a:picLocks noChangeAspect="1"/>
          </p:cNvPicPr>
          <p:nvPr/>
        </p:nvPicPr>
        <p:blipFill>
          <a:blip r:embed="rId2"/>
          <a:stretch>
            <a:fillRect/>
          </a:stretch>
        </p:blipFill>
        <p:spPr>
          <a:xfrm>
            <a:off x="566928" y="1737360"/>
            <a:ext cx="841248" cy="841248"/>
          </a:xfrm>
          <a:prstGeom prst="rect">
            <a:avLst/>
          </a:prstGeom>
        </p:spPr>
      </p:pic>
      <p:pic>
        <p:nvPicPr>
          <p:cNvPr id="4" name="Image 2" descr="preencoded.png">    </p:cNvPr>
          <p:cNvPicPr>
            <a:picLocks noChangeAspect="1"/>
          </p:cNvPicPr>
          <p:nvPr/>
        </p:nvPicPr>
        <p:blipFill>
          <a:blip r:embed="rId3"/>
          <a:stretch>
            <a:fillRect/>
          </a:stretch>
        </p:blipFill>
        <p:spPr>
          <a:xfrm>
            <a:off x="786384" y="1956816"/>
            <a:ext cx="402336" cy="402336"/>
          </a:xfrm>
          <a:prstGeom prst="rect">
            <a:avLst/>
          </a:prstGeom>
        </p:spPr>
      </p:pic>
      <p:sp>
        <p:nvSpPr>
          <p:cNvPr id="5" name="Text 0"/>
          <p:cNvSpPr txBox="1"/>
          <p:nvPr/>
        </p:nvSpPr>
        <p:spPr>
          <a:xfrm>
            <a:off x="566928" y="2852928"/>
            <a:ext cx="4572000" cy="237744"/>
          </a:xfrm>
          <a:prstGeom prst="rect">
            <a:avLst/>
          </a:prstGeom>
          <a:noFill/>
          <a:ln/>
        </p:spPr>
        <p:txBody>
          <a:bodyPr wrap="square" lIns="0" tIns="0" rIns="0" bIns="0" rtlCol="0" anchor="ctr"/>
          <a:lstStyle/>
          <a:p>
            <a:pPr indent="0" marL="0">
              <a:buNone/>
            </a:pPr>
            <a:r>
              <a:rPr lang="en-US" sz="1100" b="1" spc="260" kern="0" dirty="0">
                <a:solidFill>
                  <a:srgbClr val="CFFA12"/>
                </a:solidFill>
                <a:latin typeface="Calibri" pitchFamily="34" charset="0"/>
                <a:ea typeface="Calibri" pitchFamily="34" charset="-122"/>
                <a:cs typeface="Calibri" pitchFamily="34" charset="-120"/>
              </a:rPr>
              <a:t>SECTION 06</a:t>
            </a:r>
            <a:endParaRPr lang="en-US" sz="1100" dirty="0"/>
          </a:p>
        </p:txBody>
      </p:sp>
      <p:sp>
        <p:nvSpPr>
          <p:cNvPr id="6" name="Text 1"/>
          <p:cNvSpPr txBox="1"/>
          <p:nvPr/>
        </p:nvSpPr>
        <p:spPr>
          <a:xfrm>
            <a:off x="566928" y="3127248"/>
            <a:ext cx="603504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Data, Server &amp; Cloud</a:t>
            </a:r>
            <a:endParaRPr lang="en-US" sz="4000" dirty="0"/>
          </a:p>
        </p:txBody>
      </p:sp>
      <p:pic>
        <p:nvPicPr>
          <p:cNvPr id="7" name="Image 3" descr="preencoded.png">    </p:cNvPr>
          <p:cNvPicPr>
            <a:picLocks noChangeAspect="1"/>
          </p:cNvPicPr>
          <p:nvPr/>
        </p:nvPicPr>
        <p:blipFill>
          <a:blip r:embed="rId4"/>
          <a:stretch>
            <a:fillRect/>
          </a:stretch>
        </p:blipFill>
        <p:spPr>
          <a:xfrm>
            <a:off x="566928" y="3986784"/>
            <a:ext cx="2194560" cy="45720"/>
          </a:xfrm>
          <a:prstGeom prst="rect">
            <a:avLst/>
          </a:prstGeom>
        </p:spPr>
      </p:pic>
      <p:sp>
        <p:nvSpPr>
          <p:cNvPr id="8" name="Text 2"/>
          <p:cNvSpPr txBox="1"/>
          <p:nvPr/>
        </p:nvSpPr>
        <p:spPr>
          <a:xfrm>
            <a:off x="566928" y="4169664"/>
            <a:ext cx="5669280" cy="822960"/>
          </a:xfrm>
          <a:prstGeom prst="rect">
            <a:avLst/>
          </a:prstGeom>
          <a:noFill/>
          <a:ln/>
        </p:spPr>
        <p:txBody>
          <a:bodyPr wrap="square" lIns="0" tIns="0" rIns="0" bIns="0" rtlCol="0" anchor="ctr"/>
          <a:lstStyle/>
          <a:p>
            <a:pPr indent="0" marL="0">
              <a:lnSpc>
                <a:spcPts val="2000"/>
              </a:lnSpc>
              <a:buNone/>
            </a:pPr>
            <a:r>
              <a:rPr lang="en-US" sz="1400" dirty="0">
                <a:solidFill>
                  <a:srgbClr val="D6CCFF"/>
                </a:solidFill>
                <a:latin typeface="Calibri" pitchFamily="34" charset="0"/>
                <a:ea typeface="Calibri" pitchFamily="34" charset="-122"/>
                <a:cs typeface="Calibri" pitchFamily="34" charset="-120"/>
              </a:rPr>
              <a:t>Lightweight data libraries that run everywhere .NET does — and server-side .NET that runs inside a phone.</a:t>
            </a:r>
            <a:endParaRPr lang="en-US" sz="1400" dirty="0"/>
          </a:p>
        </p:txBody>
      </p:sp>
      <p:sp>
        <p:nvSpPr>
          <p:cNvPr id="9" name="Shape 3"/>
          <p:cNvSpPr/>
          <p:nvPr/>
        </p:nvSpPr>
        <p:spPr>
          <a:xfrm>
            <a:off x="6903720" y="1737360"/>
            <a:ext cx="4721047" cy="475488"/>
          </a:xfrm>
          <a:prstGeom prst="roundRect">
            <a:avLst>
              <a:gd name="adj" fmla="val 26923"/>
            </a:avLst>
          </a:prstGeom>
          <a:solidFill>
            <a:srgbClr val="3C22A6"/>
          </a:solidFill>
          <a:ln w="12700">
            <a:solidFill>
              <a:srgbClr val="5335C9"/>
            </a:solidFill>
            <a:prstDash val="solid"/>
          </a:ln>
        </p:spPr>
      </p:sp>
      <p:sp>
        <p:nvSpPr>
          <p:cNvPr id="10" name="Text 4"/>
          <p:cNvSpPr txBox="1"/>
          <p:nvPr/>
        </p:nvSpPr>
        <p:spPr>
          <a:xfrm>
            <a:off x="7214616" y="1737360"/>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Document DB across 11 backends</a:t>
            </a:r>
            <a:endParaRPr lang="en-US" sz="1250" dirty="0"/>
          </a:p>
        </p:txBody>
      </p:sp>
      <p:sp>
        <p:nvSpPr>
          <p:cNvPr id="11" name="Shape 5"/>
          <p:cNvSpPr/>
          <p:nvPr/>
        </p:nvSpPr>
        <p:spPr>
          <a:xfrm>
            <a:off x="6903720" y="2340864"/>
            <a:ext cx="4721047" cy="475488"/>
          </a:xfrm>
          <a:prstGeom prst="roundRect">
            <a:avLst>
              <a:gd name="adj" fmla="val 26923"/>
            </a:avLst>
          </a:prstGeom>
          <a:solidFill>
            <a:srgbClr val="3C22A6"/>
          </a:solidFill>
          <a:ln w="12700">
            <a:solidFill>
              <a:srgbClr val="5335C9"/>
            </a:solidFill>
            <a:prstDash val="solid"/>
          </a:ln>
        </p:spPr>
      </p:sp>
      <p:sp>
        <p:nvSpPr>
          <p:cNvPr id="12" name="Text 6"/>
          <p:cNvSpPr txBox="1"/>
          <p:nvPr/>
        </p:nvSpPr>
        <p:spPr>
          <a:xfrm>
            <a:off x="7214616" y="2340864"/>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Spatial queries and bidirectional sync</a:t>
            </a:r>
            <a:endParaRPr lang="en-US" sz="1250" dirty="0"/>
          </a:p>
        </p:txBody>
      </p:sp>
      <p:sp>
        <p:nvSpPr>
          <p:cNvPr id="13" name="Shape 7"/>
          <p:cNvSpPr/>
          <p:nvPr/>
        </p:nvSpPr>
        <p:spPr>
          <a:xfrm>
            <a:off x="6903720" y="2944368"/>
            <a:ext cx="4721047" cy="475488"/>
          </a:xfrm>
          <a:prstGeom prst="roundRect">
            <a:avLst>
              <a:gd name="adj" fmla="val 26923"/>
            </a:avLst>
          </a:prstGeom>
          <a:solidFill>
            <a:srgbClr val="3C22A6"/>
          </a:solidFill>
          <a:ln w="12700">
            <a:solidFill>
              <a:srgbClr val="5335C9"/>
            </a:solidFill>
            <a:prstDash val="solid"/>
          </a:ln>
        </p:spPr>
      </p:sp>
      <p:sp>
        <p:nvSpPr>
          <p:cNvPr id="14" name="Text 8"/>
          <p:cNvSpPr txBox="1"/>
          <p:nvPr/>
        </p:nvSpPr>
        <p:spPr>
          <a:xfrm>
            <a:off x="7214616" y="2944368"/>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An embeddable HTTP/1.1, 2 &amp; 3 server</a:t>
            </a:r>
            <a:endParaRPr lang="en-US" sz="1250" dirty="0"/>
          </a:p>
        </p:txBody>
      </p:sp>
      <p:sp>
        <p:nvSpPr>
          <p:cNvPr id="15" name="Shape 9"/>
          <p:cNvSpPr/>
          <p:nvPr/>
        </p:nvSpPr>
        <p:spPr>
          <a:xfrm>
            <a:off x="6903720" y="3547872"/>
            <a:ext cx="4721047" cy="475488"/>
          </a:xfrm>
          <a:prstGeom prst="roundRect">
            <a:avLst>
              <a:gd name="adj" fmla="val 26923"/>
            </a:avLst>
          </a:prstGeom>
          <a:solidFill>
            <a:srgbClr val="3C22A6"/>
          </a:solidFill>
          <a:ln w="12700">
            <a:solidFill>
              <a:srgbClr val="5335C9"/>
            </a:solidFill>
            <a:prstDash val="solid"/>
          </a:ln>
        </p:spPr>
      </p:sp>
      <p:sp>
        <p:nvSpPr>
          <p:cNvPr id="16" name="Text 10"/>
          <p:cNvSpPr txBox="1"/>
          <p:nvPr/>
        </p:nvSpPr>
        <p:spPr>
          <a:xfrm>
            <a:off x="7214616" y="3547872"/>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Tunnelling, gRPC, MCP and WebDAV</a:t>
            </a:r>
            <a:endParaRPr lang="en-US" sz="1250" dirty="0"/>
          </a:p>
        </p:txBody>
      </p:sp>
      <p:sp>
        <p:nvSpPr>
          <p:cNvPr id="17" name="Shape 11"/>
          <p:cNvSpPr/>
          <p:nvPr/>
        </p:nvSpPr>
        <p:spPr>
          <a:xfrm>
            <a:off x="6903720" y="4151376"/>
            <a:ext cx="4721047" cy="475488"/>
          </a:xfrm>
          <a:prstGeom prst="roundRect">
            <a:avLst>
              <a:gd name="adj" fmla="val 26923"/>
            </a:avLst>
          </a:prstGeom>
          <a:solidFill>
            <a:srgbClr val="3C22A6"/>
          </a:solidFill>
          <a:ln w="12700">
            <a:solidFill>
              <a:srgbClr val="5335C9"/>
            </a:solidFill>
            <a:prstDash val="solid"/>
          </a:ln>
        </p:spPr>
      </p:sp>
      <p:sp>
        <p:nvSpPr>
          <p:cNvPr id="18" name="Text 12"/>
          <p:cNvSpPr txBox="1"/>
          <p:nvPr/>
        </p:nvSpPr>
        <p:spPr>
          <a:xfrm>
            <a:off x="7214616" y="4151376"/>
            <a:ext cx="4172407"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Backend push and .NET Aspire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06 · DATA &amp; STORAGE</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No ORM, no overhead</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AOT-compatible data libraries that run everywhere .NET does.</a:t>
            </a:r>
            <a:endParaRPr lang="en-US" sz="1350" dirty="0"/>
          </a:p>
        </p:txBody>
      </p:sp>
      <p:sp>
        <p:nvSpPr>
          <p:cNvPr id="6" name="Shape 3"/>
          <p:cNvSpPr/>
          <p:nvPr/>
        </p:nvSpPr>
        <p:spPr>
          <a:xfrm>
            <a:off x="566928" y="2148840"/>
            <a:ext cx="5760720" cy="4023360"/>
          </a:xfrm>
          <a:prstGeom prst="roundRect">
            <a:avLst>
              <a:gd name="adj" fmla="val 1591"/>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77824" y="2395728"/>
            <a:ext cx="475488" cy="475488"/>
          </a:xfrm>
          <a:prstGeom prst="roundRect">
            <a:avLst>
              <a:gd name="adj" fmla="val 53846"/>
            </a:avLst>
          </a:prstGeom>
          <a:solidFill>
            <a:srgbClr val="CFFA12"/>
          </a:solidFill>
          <a:ln w="12700">
            <a:solidFill>
              <a:srgbClr val="CFFA12"/>
            </a:solidFill>
            <a:prstDash val="solid"/>
          </a:ln>
        </p:spPr>
      </p:sp>
      <p:pic>
        <p:nvPicPr>
          <p:cNvPr id="8" name="Image 1" descr="preencoded.png">    </p:cNvPr>
          <p:cNvPicPr>
            <a:picLocks noChangeAspect="1"/>
          </p:cNvPicPr>
          <p:nvPr/>
        </p:nvPicPr>
        <p:blipFill>
          <a:blip r:embed="rId2"/>
          <a:stretch>
            <a:fillRect/>
          </a:stretch>
        </p:blipFill>
        <p:spPr>
          <a:xfrm>
            <a:off x="1001451" y="2519355"/>
            <a:ext cx="228234" cy="228234"/>
          </a:xfrm>
          <a:prstGeom prst="rect">
            <a:avLst/>
          </a:prstGeom>
        </p:spPr>
      </p:pic>
      <p:sp>
        <p:nvSpPr>
          <p:cNvPr id="9" name="Text 5"/>
          <p:cNvSpPr txBox="1"/>
          <p:nvPr/>
        </p:nvSpPr>
        <p:spPr>
          <a:xfrm>
            <a:off x="1499616" y="2432304"/>
            <a:ext cx="4023360" cy="38404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Document DB</a:t>
            </a:r>
            <a:endParaRPr lang="en-US" sz="1900" dirty="0"/>
          </a:p>
        </p:txBody>
      </p:sp>
      <p:sp>
        <p:nvSpPr>
          <p:cNvPr id="10" name="Text 6"/>
          <p:cNvSpPr txBox="1"/>
          <p:nvPr/>
        </p:nvSpPr>
        <p:spPr>
          <a:xfrm>
            <a:off x="877824" y="2999232"/>
            <a:ext cx="5120640" cy="777240"/>
          </a:xfrm>
          <a:prstGeom prst="rect">
            <a:avLst/>
          </a:prstGeom>
          <a:noFill/>
          <a:ln/>
        </p:spPr>
        <p:txBody>
          <a:bodyPr wrap="square" lIns="0" tIns="0" rIns="0" bIns="0" rtlCol="0" anchor="ctr"/>
          <a:lstStyle/>
          <a:p>
            <a:pPr indent="0" marL="0">
              <a:lnSpc>
                <a:spcPts val="1600"/>
              </a:lnSpc>
              <a:buNone/>
            </a:pPr>
            <a:r>
              <a:rPr lang="en-US" sz="1200" dirty="0">
                <a:solidFill>
                  <a:srgbClr val="AFA8CE"/>
                </a:solidFill>
                <a:latin typeface="Calibri" pitchFamily="34" charset="0"/>
                <a:ea typeface="Calibri" pitchFamily="34" charset="-122"/>
                <a:cs typeface="Calibri" pitchFamily="34" charset="-120"/>
              </a:rPr>
              <a:t>Store and query .NET objects as JSON documents — full CRUD, LINQ-style querying, projections, aggregates, composite JSON indexes and transactions.</a:t>
            </a:r>
            <a:endParaRPr lang="en-US" sz="1200" dirty="0"/>
          </a:p>
        </p:txBody>
      </p:sp>
      <p:sp>
        <p:nvSpPr>
          <p:cNvPr id="11" name="Shape 7"/>
          <p:cNvSpPr/>
          <p:nvPr/>
        </p:nvSpPr>
        <p:spPr>
          <a:xfrm>
            <a:off x="877824" y="3877056"/>
            <a:ext cx="2487168" cy="310896"/>
          </a:xfrm>
          <a:prstGeom prst="roundRect">
            <a:avLst>
              <a:gd name="adj" fmla="val 47059"/>
            </a:avLst>
          </a:prstGeom>
          <a:solidFill>
            <a:srgbClr val="19143C"/>
          </a:solidFill>
          <a:ln w="12700">
            <a:solidFill>
              <a:srgbClr val="2E2665"/>
            </a:solidFill>
            <a:prstDash val="solid"/>
          </a:ln>
        </p:spPr>
      </p:sp>
      <p:sp>
        <p:nvSpPr>
          <p:cNvPr id="12" name="Text 8"/>
          <p:cNvSpPr txBox="1"/>
          <p:nvPr/>
        </p:nvSpPr>
        <p:spPr>
          <a:xfrm>
            <a:off x="877824" y="3877056"/>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Vector / ANN search with auto-embed</a:t>
            </a:r>
            <a:endParaRPr lang="en-US" sz="950" dirty="0"/>
          </a:p>
        </p:txBody>
      </p:sp>
      <p:sp>
        <p:nvSpPr>
          <p:cNvPr id="13" name="Shape 9"/>
          <p:cNvSpPr/>
          <p:nvPr/>
        </p:nvSpPr>
        <p:spPr>
          <a:xfrm>
            <a:off x="3502152" y="3877056"/>
            <a:ext cx="2487168" cy="310896"/>
          </a:xfrm>
          <a:prstGeom prst="roundRect">
            <a:avLst>
              <a:gd name="adj" fmla="val 47059"/>
            </a:avLst>
          </a:prstGeom>
          <a:solidFill>
            <a:srgbClr val="19143C"/>
          </a:solidFill>
          <a:ln w="12700">
            <a:solidFill>
              <a:srgbClr val="2E2665"/>
            </a:solidFill>
            <a:prstDash val="solid"/>
          </a:ln>
        </p:spPr>
      </p:sp>
      <p:sp>
        <p:nvSpPr>
          <p:cNvPr id="14" name="Text 10"/>
          <p:cNvSpPr txBox="1"/>
          <p:nvPr/>
        </p:nvSpPr>
        <p:spPr>
          <a:xfrm>
            <a:off x="3502152" y="3877056"/>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Temporal history &amp; point-in-time reads</a:t>
            </a:r>
            <a:endParaRPr lang="en-US" sz="950" dirty="0"/>
          </a:p>
        </p:txBody>
      </p:sp>
      <p:sp>
        <p:nvSpPr>
          <p:cNvPr id="15" name="Shape 11"/>
          <p:cNvSpPr/>
          <p:nvPr/>
        </p:nvSpPr>
        <p:spPr>
          <a:xfrm>
            <a:off x="877824" y="4334256"/>
            <a:ext cx="2487168" cy="310896"/>
          </a:xfrm>
          <a:prstGeom prst="roundRect">
            <a:avLst>
              <a:gd name="adj" fmla="val 47059"/>
            </a:avLst>
          </a:prstGeom>
          <a:solidFill>
            <a:srgbClr val="19143C"/>
          </a:solidFill>
          <a:ln w="12700">
            <a:solidFill>
              <a:srgbClr val="2E2665"/>
            </a:solidFill>
            <a:prstDash val="solid"/>
          </a:ln>
        </p:spPr>
      </p:sp>
      <p:sp>
        <p:nvSpPr>
          <p:cNvPr id="16" name="Text 12"/>
          <p:cNvSpPr txBox="1"/>
          <p:nvPr/>
        </p:nvSpPr>
        <p:spPr>
          <a:xfrm>
            <a:off x="877824" y="4334256"/>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Orleans grain persistence &amp; reminders</a:t>
            </a:r>
            <a:endParaRPr lang="en-US" sz="950" dirty="0"/>
          </a:p>
        </p:txBody>
      </p:sp>
      <p:sp>
        <p:nvSpPr>
          <p:cNvPr id="17" name="Shape 13"/>
          <p:cNvSpPr/>
          <p:nvPr/>
        </p:nvSpPr>
        <p:spPr>
          <a:xfrm>
            <a:off x="3502152" y="4334256"/>
            <a:ext cx="2487168" cy="310896"/>
          </a:xfrm>
          <a:prstGeom prst="roundRect">
            <a:avLst>
              <a:gd name="adj" fmla="val 47059"/>
            </a:avLst>
          </a:prstGeom>
          <a:solidFill>
            <a:srgbClr val="19143C"/>
          </a:solidFill>
          <a:ln w="12700">
            <a:solidFill>
              <a:srgbClr val="2E2665"/>
            </a:solidFill>
            <a:prstDash val="solid"/>
          </a:ln>
        </p:spPr>
      </p:sp>
      <p:sp>
        <p:nvSpPr>
          <p:cNvPr id="18" name="Text 14"/>
          <p:cNvSpPr txBox="1"/>
          <p:nvPr/>
        </p:nvSpPr>
        <p:spPr>
          <a:xfrm>
            <a:off x="3502152" y="4334256"/>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Spatial and geo queries</a:t>
            </a:r>
            <a:endParaRPr lang="en-US" sz="950" dirty="0"/>
          </a:p>
        </p:txBody>
      </p:sp>
      <p:sp>
        <p:nvSpPr>
          <p:cNvPr id="19" name="Shape 15"/>
          <p:cNvSpPr/>
          <p:nvPr/>
        </p:nvSpPr>
        <p:spPr>
          <a:xfrm>
            <a:off x="877824" y="4791456"/>
            <a:ext cx="2487168" cy="310896"/>
          </a:xfrm>
          <a:prstGeom prst="roundRect">
            <a:avLst>
              <a:gd name="adj" fmla="val 47059"/>
            </a:avLst>
          </a:prstGeom>
          <a:solidFill>
            <a:srgbClr val="19143C"/>
          </a:solidFill>
          <a:ln w="12700">
            <a:solidFill>
              <a:srgbClr val="2E2665"/>
            </a:solidFill>
            <a:prstDash val="solid"/>
          </a:ln>
        </p:spPr>
      </p:sp>
      <p:sp>
        <p:nvSpPr>
          <p:cNvPr id="20" name="Text 16"/>
          <p:cNvSpPr txBox="1"/>
          <p:nvPr/>
        </p:nvSpPr>
        <p:spPr>
          <a:xfrm>
            <a:off x="877824" y="4791456"/>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Multi-tenancy &amp; global query filters</a:t>
            </a:r>
            <a:endParaRPr lang="en-US" sz="950" dirty="0"/>
          </a:p>
        </p:txBody>
      </p:sp>
      <p:sp>
        <p:nvSpPr>
          <p:cNvPr id="21" name="Shape 17"/>
          <p:cNvSpPr/>
          <p:nvPr/>
        </p:nvSpPr>
        <p:spPr>
          <a:xfrm>
            <a:off x="3502152" y="4791456"/>
            <a:ext cx="2487168" cy="310896"/>
          </a:xfrm>
          <a:prstGeom prst="roundRect">
            <a:avLst>
              <a:gd name="adj" fmla="val 47059"/>
            </a:avLst>
          </a:prstGeom>
          <a:solidFill>
            <a:srgbClr val="19143C"/>
          </a:solidFill>
          <a:ln w="12700">
            <a:solidFill>
              <a:srgbClr val="2E2665"/>
            </a:solidFill>
            <a:prstDash val="solid"/>
          </a:ln>
        </p:spPr>
      </p:sp>
      <p:sp>
        <p:nvSpPr>
          <p:cNvPr id="22" name="Text 18"/>
          <p:cNvSpPr txBox="1"/>
          <p:nvPr/>
        </p:nvSpPr>
        <p:spPr>
          <a:xfrm>
            <a:off x="3502152" y="4791456"/>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Change feeds and AI tool integration</a:t>
            </a:r>
            <a:endParaRPr lang="en-US" sz="950" dirty="0"/>
          </a:p>
        </p:txBody>
      </p:sp>
      <p:sp>
        <p:nvSpPr>
          <p:cNvPr id="23" name="Text 19"/>
          <p:cNvSpPr txBox="1"/>
          <p:nvPr/>
        </p:nvSpPr>
        <p:spPr>
          <a:xfrm>
            <a:off x="877824" y="5394960"/>
            <a:ext cx="5120640" cy="274320"/>
          </a:xfrm>
          <a:prstGeom prst="rect">
            <a:avLst/>
          </a:prstGeom>
          <a:noFill/>
          <a:ln/>
        </p:spPr>
        <p:txBody>
          <a:bodyPr wrap="square" lIns="0" tIns="0" rIns="0" bIns="0" rtlCol="0" anchor="ctr"/>
          <a:lstStyle/>
          <a:p>
            <a:pPr indent="0" marL="0">
              <a:buNone/>
            </a:pPr>
            <a:r>
              <a:rPr lang="en-US" sz="1100" i="1" dirty="0">
                <a:solidFill>
                  <a:srgbClr val="2BE5A0"/>
                </a:solidFill>
                <a:latin typeface="Calibri" pitchFamily="34" charset="0"/>
                <a:ea typeface="Calibri" pitchFamily="34" charset="-122"/>
                <a:cs typeface="Calibri" pitchFamily="34" charset="-120"/>
              </a:rPr>
              <a:t>Full AOT and trimming support.</a:t>
            </a:r>
            <a:endParaRPr lang="en-US" sz="1100" dirty="0"/>
          </a:p>
        </p:txBody>
      </p:sp>
      <p:sp>
        <p:nvSpPr>
          <p:cNvPr id="24" name="Shape 20"/>
          <p:cNvSpPr/>
          <p:nvPr/>
        </p:nvSpPr>
        <p:spPr>
          <a:xfrm>
            <a:off x="6583680" y="2148840"/>
            <a:ext cx="5041087" cy="1280160"/>
          </a:xfrm>
          <a:prstGeom prst="roundRect">
            <a:avLst>
              <a:gd name="adj" fmla="val 500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5" name="Shape 21"/>
          <p:cNvSpPr/>
          <p:nvPr/>
        </p:nvSpPr>
        <p:spPr>
          <a:xfrm>
            <a:off x="6821424" y="2368296"/>
            <a:ext cx="365760" cy="365760"/>
          </a:xfrm>
          <a:prstGeom prst="roundRect">
            <a:avLst>
              <a:gd name="adj" fmla="val 70000"/>
            </a:avLst>
          </a:prstGeom>
          <a:solidFill>
            <a:srgbClr val="9B7BFF"/>
          </a:solidFill>
          <a:ln w="12700">
            <a:solidFill>
              <a:srgbClr val="9B7BFF"/>
            </a:solidFill>
            <a:prstDash val="solid"/>
          </a:ln>
        </p:spPr>
      </p:sp>
      <p:pic>
        <p:nvPicPr>
          <p:cNvPr id="26" name="Image 2" descr="preencoded.png">    </p:cNvPr>
          <p:cNvPicPr>
            <a:picLocks noChangeAspect="1"/>
          </p:cNvPicPr>
          <p:nvPr/>
        </p:nvPicPr>
        <p:blipFill>
          <a:blip r:embed="rId3"/>
          <a:stretch>
            <a:fillRect/>
          </a:stretch>
        </p:blipFill>
        <p:spPr>
          <a:xfrm>
            <a:off x="6916522" y="2463394"/>
            <a:ext cx="175565" cy="175565"/>
          </a:xfrm>
          <a:prstGeom prst="rect">
            <a:avLst/>
          </a:prstGeom>
        </p:spPr>
      </p:pic>
      <p:sp>
        <p:nvSpPr>
          <p:cNvPr id="27" name="Text 22"/>
          <p:cNvSpPr txBox="1"/>
          <p:nvPr/>
        </p:nvSpPr>
        <p:spPr>
          <a:xfrm>
            <a:off x="7351776" y="2432304"/>
            <a:ext cx="4090111"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Spatial</a:t>
            </a:r>
            <a:endParaRPr lang="en-US" sz="1350" dirty="0"/>
          </a:p>
        </p:txBody>
      </p:sp>
      <p:sp>
        <p:nvSpPr>
          <p:cNvPr id="28" name="Text 23"/>
          <p:cNvSpPr txBox="1"/>
          <p:nvPr/>
        </p:nvSpPr>
        <p:spPr>
          <a:xfrm>
            <a:off x="6821424" y="2880360"/>
            <a:ext cx="4565599" cy="402336"/>
          </a:xfrm>
          <a:prstGeom prst="rect">
            <a:avLst/>
          </a:prstGeom>
          <a:noFill/>
          <a:ln/>
        </p:spPr>
        <p:txBody>
          <a:bodyPr wrap="square" lIns="0" tIns="0" rIns="0" bIns="0" rtlCol="0" anchor="t"/>
          <a:lstStyle/>
          <a:p>
            <a:pPr indent="0" marL="0">
              <a:lnSpc>
                <a:spcPts val="1350"/>
              </a:lnSpc>
              <a:buNone/>
            </a:pPr>
            <a:r>
              <a:rPr lang="en-US" sz="1050" dirty="0">
                <a:solidFill>
                  <a:srgbClr val="AFA8CE"/>
                </a:solidFill>
                <a:latin typeface="Calibri" pitchFamily="34" charset="0"/>
                <a:ea typeface="Calibri" pitchFamily="34" charset="-122"/>
                <a:cs typeface="Calibri" pitchFamily="34" charset="-120"/>
              </a:rPr>
              <a:t>A dependency-free spatial database on SQLite R*Tree indexing with custom geometry algorithms. Ship pre-built datasets or build your own geospatial queries.</a:t>
            </a:r>
            <a:endParaRPr lang="en-US" sz="1050" dirty="0"/>
          </a:p>
        </p:txBody>
      </p:sp>
      <p:sp>
        <p:nvSpPr>
          <p:cNvPr id="29" name="Shape 24"/>
          <p:cNvSpPr/>
          <p:nvPr/>
        </p:nvSpPr>
        <p:spPr>
          <a:xfrm>
            <a:off x="6583680" y="3657600"/>
            <a:ext cx="5041087" cy="1280160"/>
          </a:xfrm>
          <a:prstGeom prst="roundRect">
            <a:avLst>
              <a:gd name="adj" fmla="val 500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0" name="Shape 25"/>
          <p:cNvSpPr/>
          <p:nvPr/>
        </p:nvSpPr>
        <p:spPr>
          <a:xfrm>
            <a:off x="6821424" y="3877056"/>
            <a:ext cx="365760" cy="365760"/>
          </a:xfrm>
          <a:prstGeom prst="roundRect">
            <a:avLst>
              <a:gd name="adj" fmla="val 70000"/>
            </a:avLst>
          </a:prstGeom>
          <a:solidFill>
            <a:srgbClr val="2BE5A0"/>
          </a:solidFill>
          <a:ln w="12700">
            <a:solidFill>
              <a:srgbClr val="2BE5A0"/>
            </a:solidFill>
            <a:prstDash val="solid"/>
          </a:ln>
        </p:spPr>
      </p:sp>
      <p:pic>
        <p:nvPicPr>
          <p:cNvPr id="31" name="Image 3" descr="preencoded.png">    </p:cNvPr>
          <p:cNvPicPr>
            <a:picLocks noChangeAspect="1"/>
          </p:cNvPicPr>
          <p:nvPr/>
        </p:nvPicPr>
        <p:blipFill>
          <a:blip r:embed="rId4"/>
          <a:stretch>
            <a:fillRect/>
          </a:stretch>
        </p:blipFill>
        <p:spPr>
          <a:xfrm>
            <a:off x="6916522" y="3972154"/>
            <a:ext cx="175565" cy="175565"/>
          </a:xfrm>
          <a:prstGeom prst="rect">
            <a:avLst/>
          </a:prstGeom>
        </p:spPr>
      </p:pic>
      <p:sp>
        <p:nvSpPr>
          <p:cNvPr id="32" name="Text 26"/>
          <p:cNvSpPr txBox="1"/>
          <p:nvPr/>
        </p:nvSpPr>
        <p:spPr>
          <a:xfrm>
            <a:off x="7351776" y="3941064"/>
            <a:ext cx="4090111"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Data Sync</a:t>
            </a:r>
            <a:endParaRPr lang="en-US" sz="1350" dirty="0"/>
          </a:p>
        </p:txBody>
      </p:sp>
      <p:sp>
        <p:nvSpPr>
          <p:cNvPr id="33" name="Text 27"/>
          <p:cNvSpPr txBox="1"/>
          <p:nvPr/>
        </p:nvSpPr>
        <p:spPr>
          <a:xfrm>
            <a:off x="6821424" y="4389120"/>
            <a:ext cx="4565599" cy="402336"/>
          </a:xfrm>
          <a:prstGeom prst="rect">
            <a:avLst/>
          </a:prstGeom>
          <a:noFill/>
          <a:ln/>
        </p:spPr>
        <p:txBody>
          <a:bodyPr wrap="square" lIns="0" tIns="0" rIns="0" bIns="0" rtlCol="0" anchor="t"/>
          <a:lstStyle/>
          <a:p>
            <a:pPr indent="0" marL="0">
              <a:lnSpc>
                <a:spcPts val="1350"/>
              </a:lnSpc>
              <a:buNone/>
            </a:pPr>
            <a:r>
              <a:rPr lang="en-US" sz="1050" dirty="0">
                <a:solidFill>
                  <a:srgbClr val="AFA8CE"/>
                </a:solidFill>
                <a:latin typeface="Calibri" pitchFamily="34" charset="0"/>
                <a:ea typeface="Calibri" pitchFamily="34" charset="-122"/>
                <a:cs typeface="Calibri" pitchFamily="34" charset="-120"/>
              </a:rPr>
              <a:t>Bidirectional JSON record sync — a persistent outbox, cursor-based inbox deltas, coalesced batching, tombstones, conflict resolution and platform-tier transports.</a:t>
            </a:r>
            <a:endParaRPr lang="en-US" sz="1050" dirty="0"/>
          </a:p>
        </p:txBody>
      </p:sp>
      <p:sp>
        <p:nvSpPr>
          <p:cNvPr id="34" name="Shape 28"/>
          <p:cNvSpPr/>
          <p:nvPr/>
        </p:nvSpPr>
        <p:spPr>
          <a:xfrm>
            <a:off x="6583680" y="5166360"/>
            <a:ext cx="5041087" cy="1280160"/>
          </a:xfrm>
          <a:prstGeom prst="roundRect">
            <a:avLst>
              <a:gd name="adj" fmla="val 500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5" name="Shape 29"/>
          <p:cNvSpPr/>
          <p:nvPr/>
        </p:nvSpPr>
        <p:spPr>
          <a:xfrm>
            <a:off x="6821424" y="5385816"/>
            <a:ext cx="365760" cy="365760"/>
          </a:xfrm>
          <a:prstGeom prst="roundRect">
            <a:avLst>
              <a:gd name="adj" fmla="val 70000"/>
            </a:avLst>
          </a:prstGeom>
          <a:solidFill>
            <a:srgbClr val="9B7BFF"/>
          </a:solidFill>
          <a:ln w="12700">
            <a:solidFill>
              <a:srgbClr val="9B7BFF"/>
            </a:solidFill>
            <a:prstDash val="solid"/>
          </a:ln>
        </p:spPr>
      </p:sp>
      <p:pic>
        <p:nvPicPr>
          <p:cNvPr id="36" name="Image 4" descr="preencoded.png">    </p:cNvPr>
          <p:cNvPicPr>
            <a:picLocks noChangeAspect="1"/>
          </p:cNvPicPr>
          <p:nvPr/>
        </p:nvPicPr>
        <p:blipFill>
          <a:blip r:embed="rId5"/>
          <a:stretch>
            <a:fillRect/>
          </a:stretch>
        </p:blipFill>
        <p:spPr>
          <a:xfrm>
            <a:off x="6916522" y="5480914"/>
            <a:ext cx="175565" cy="175565"/>
          </a:xfrm>
          <a:prstGeom prst="rect">
            <a:avLst/>
          </a:prstGeom>
        </p:spPr>
      </p:pic>
      <p:sp>
        <p:nvSpPr>
          <p:cNvPr id="37" name="Text 30"/>
          <p:cNvSpPr txBox="1"/>
          <p:nvPr/>
        </p:nvSpPr>
        <p:spPr>
          <a:xfrm>
            <a:off x="7351776" y="5449824"/>
            <a:ext cx="4090111"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Stores</a:t>
            </a:r>
            <a:endParaRPr lang="en-US" sz="1350" dirty="0"/>
          </a:p>
        </p:txBody>
      </p:sp>
      <p:sp>
        <p:nvSpPr>
          <p:cNvPr id="38" name="Text 31"/>
          <p:cNvSpPr txBox="1"/>
          <p:nvPr/>
        </p:nvSpPr>
        <p:spPr>
          <a:xfrm>
            <a:off x="6821424" y="5897880"/>
            <a:ext cx="4565599" cy="402336"/>
          </a:xfrm>
          <a:prstGeom prst="rect">
            <a:avLst/>
          </a:prstGeom>
          <a:noFill/>
          <a:ln/>
        </p:spPr>
        <p:txBody>
          <a:bodyPr wrap="square" lIns="0" tIns="0" rIns="0" bIns="0" rtlCol="0" anchor="t"/>
          <a:lstStyle/>
          <a:p>
            <a:pPr indent="0" marL="0">
              <a:lnSpc>
                <a:spcPts val="1350"/>
              </a:lnSpc>
              <a:buNone/>
            </a:pPr>
            <a:r>
              <a:rPr lang="en-US" sz="1050" dirty="0">
                <a:solidFill>
                  <a:srgbClr val="AFA8CE"/>
                </a:solidFill>
                <a:latin typeface="Calibri" pitchFamily="34" charset="0"/>
                <a:ea typeface="Calibri" pitchFamily="34" charset="-122"/>
                <a:cs typeface="Calibri" pitchFamily="34" charset="-120"/>
              </a:rPr>
              <a:t>A cross-platform key/value abstraction over Preferences, Secure Storage and Local/Session Storage.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06 · DOCUMENT DB</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One API, eleven backends</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The same documents, queries and indexes whether they live on a phone, in a browser tab or in a managed cluster.</a:t>
            </a:r>
            <a:endParaRPr lang="en-US" sz="1350" dirty="0"/>
          </a:p>
        </p:txBody>
      </p:sp>
      <p:sp>
        <p:nvSpPr>
          <p:cNvPr id="6" name="Shape 3"/>
          <p:cNvSpPr/>
          <p:nvPr/>
        </p:nvSpPr>
        <p:spPr>
          <a:xfrm>
            <a:off x="566928" y="2194560"/>
            <a:ext cx="2586152" cy="786384"/>
          </a:xfrm>
          <a:prstGeom prst="roundRect">
            <a:avLst>
              <a:gd name="adj" fmla="val 8140"/>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Text 4"/>
          <p:cNvSpPr txBox="1"/>
          <p:nvPr/>
        </p:nvSpPr>
        <p:spPr>
          <a:xfrm>
            <a:off x="804672" y="2322576"/>
            <a:ext cx="212895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SQLite</a:t>
            </a:r>
            <a:endParaRPr lang="en-US" sz="1400" dirty="0"/>
          </a:p>
        </p:txBody>
      </p:sp>
      <p:sp>
        <p:nvSpPr>
          <p:cNvPr id="8" name="Text 5"/>
          <p:cNvSpPr txBox="1"/>
          <p:nvPr/>
        </p:nvSpPr>
        <p:spPr>
          <a:xfrm>
            <a:off x="804672" y="2615184"/>
            <a:ext cx="2128952" cy="237744"/>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Embedded, everywhere</a:t>
            </a:r>
            <a:endParaRPr lang="en-US" sz="1000" dirty="0"/>
          </a:p>
        </p:txBody>
      </p:sp>
      <p:sp>
        <p:nvSpPr>
          <p:cNvPr id="9" name="Shape 6"/>
          <p:cNvSpPr/>
          <p:nvPr/>
        </p:nvSpPr>
        <p:spPr>
          <a:xfrm>
            <a:off x="3390824" y="2194560"/>
            <a:ext cx="2586152" cy="786384"/>
          </a:xfrm>
          <a:prstGeom prst="roundRect">
            <a:avLst>
              <a:gd name="adj" fmla="val 814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0" name="Text 7"/>
          <p:cNvSpPr txBox="1"/>
          <p:nvPr/>
        </p:nvSpPr>
        <p:spPr>
          <a:xfrm>
            <a:off x="3628568" y="2322576"/>
            <a:ext cx="212895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SQLCipher</a:t>
            </a:r>
            <a:endParaRPr lang="en-US" sz="1400" dirty="0"/>
          </a:p>
        </p:txBody>
      </p:sp>
      <p:sp>
        <p:nvSpPr>
          <p:cNvPr id="11" name="Text 8"/>
          <p:cNvSpPr txBox="1"/>
          <p:nvPr/>
        </p:nvSpPr>
        <p:spPr>
          <a:xfrm>
            <a:off x="3628568" y="2615184"/>
            <a:ext cx="2128952" cy="237744"/>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Encrypted at rest</a:t>
            </a:r>
            <a:endParaRPr lang="en-US" sz="1000" dirty="0"/>
          </a:p>
        </p:txBody>
      </p:sp>
      <p:sp>
        <p:nvSpPr>
          <p:cNvPr id="12" name="Shape 9"/>
          <p:cNvSpPr/>
          <p:nvPr/>
        </p:nvSpPr>
        <p:spPr>
          <a:xfrm>
            <a:off x="6214720" y="2194560"/>
            <a:ext cx="2586152" cy="786384"/>
          </a:xfrm>
          <a:prstGeom prst="roundRect">
            <a:avLst>
              <a:gd name="adj" fmla="val 8140"/>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3" name="Text 10"/>
          <p:cNvSpPr txBox="1"/>
          <p:nvPr/>
        </p:nvSpPr>
        <p:spPr>
          <a:xfrm>
            <a:off x="6452464" y="2322576"/>
            <a:ext cx="212895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LiteDB</a:t>
            </a:r>
            <a:endParaRPr lang="en-US" sz="1400" dirty="0"/>
          </a:p>
        </p:txBody>
      </p:sp>
      <p:sp>
        <p:nvSpPr>
          <p:cNvPr id="14" name="Text 11"/>
          <p:cNvSpPr txBox="1"/>
          <p:nvPr/>
        </p:nvSpPr>
        <p:spPr>
          <a:xfrm>
            <a:off x="6452464" y="2615184"/>
            <a:ext cx="2128952" cy="237744"/>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Pure .NET, embedded</a:t>
            </a:r>
            <a:endParaRPr lang="en-US" sz="1000" dirty="0"/>
          </a:p>
        </p:txBody>
      </p:sp>
      <p:sp>
        <p:nvSpPr>
          <p:cNvPr id="15" name="Shape 12"/>
          <p:cNvSpPr/>
          <p:nvPr/>
        </p:nvSpPr>
        <p:spPr>
          <a:xfrm>
            <a:off x="9038615" y="2194560"/>
            <a:ext cx="2586152" cy="786384"/>
          </a:xfrm>
          <a:prstGeom prst="roundRect">
            <a:avLst>
              <a:gd name="adj" fmla="val 814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6" name="Text 13"/>
          <p:cNvSpPr txBox="1"/>
          <p:nvPr/>
        </p:nvSpPr>
        <p:spPr>
          <a:xfrm>
            <a:off x="9276359" y="2322576"/>
            <a:ext cx="212895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IndexedDB</a:t>
            </a:r>
            <a:endParaRPr lang="en-US" sz="1400" dirty="0"/>
          </a:p>
        </p:txBody>
      </p:sp>
      <p:sp>
        <p:nvSpPr>
          <p:cNvPr id="17" name="Text 14"/>
          <p:cNvSpPr txBox="1"/>
          <p:nvPr/>
        </p:nvSpPr>
        <p:spPr>
          <a:xfrm>
            <a:off x="9276359" y="2615184"/>
            <a:ext cx="2128952" cy="237744"/>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Blazor WebAssembly</a:t>
            </a:r>
            <a:endParaRPr lang="en-US" sz="1000" dirty="0"/>
          </a:p>
        </p:txBody>
      </p:sp>
      <p:sp>
        <p:nvSpPr>
          <p:cNvPr id="18" name="Shape 15"/>
          <p:cNvSpPr/>
          <p:nvPr/>
        </p:nvSpPr>
        <p:spPr>
          <a:xfrm>
            <a:off x="566928" y="3200400"/>
            <a:ext cx="2586152" cy="786384"/>
          </a:xfrm>
          <a:prstGeom prst="roundRect">
            <a:avLst>
              <a:gd name="adj" fmla="val 8140"/>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9" name="Text 16"/>
          <p:cNvSpPr txBox="1"/>
          <p:nvPr/>
        </p:nvSpPr>
        <p:spPr>
          <a:xfrm>
            <a:off x="804672" y="3328416"/>
            <a:ext cx="212895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DuckDB</a:t>
            </a:r>
            <a:endParaRPr lang="en-US" sz="1400" dirty="0"/>
          </a:p>
        </p:txBody>
      </p:sp>
      <p:sp>
        <p:nvSpPr>
          <p:cNvPr id="20" name="Text 17"/>
          <p:cNvSpPr txBox="1"/>
          <p:nvPr/>
        </p:nvSpPr>
        <p:spPr>
          <a:xfrm>
            <a:off x="804672" y="3621024"/>
            <a:ext cx="2128952" cy="237744"/>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Analytics &amp; vss vectors</a:t>
            </a:r>
            <a:endParaRPr lang="en-US" sz="1000" dirty="0"/>
          </a:p>
        </p:txBody>
      </p:sp>
      <p:sp>
        <p:nvSpPr>
          <p:cNvPr id="21" name="Shape 18"/>
          <p:cNvSpPr/>
          <p:nvPr/>
        </p:nvSpPr>
        <p:spPr>
          <a:xfrm>
            <a:off x="3390824" y="3200400"/>
            <a:ext cx="2586152" cy="786384"/>
          </a:xfrm>
          <a:prstGeom prst="roundRect">
            <a:avLst>
              <a:gd name="adj" fmla="val 814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Text 19"/>
          <p:cNvSpPr txBox="1"/>
          <p:nvPr/>
        </p:nvSpPr>
        <p:spPr>
          <a:xfrm>
            <a:off x="3628568" y="3328416"/>
            <a:ext cx="212895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CosmosDB</a:t>
            </a:r>
            <a:endParaRPr lang="en-US" sz="1400" dirty="0"/>
          </a:p>
        </p:txBody>
      </p:sp>
      <p:sp>
        <p:nvSpPr>
          <p:cNvPr id="23" name="Text 20"/>
          <p:cNvSpPr txBox="1"/>
          <p:nvPr/>
        </p:nvSpPr>
        <p:spPr>
          <a:xfrm>
            <a:off x="3628568" y="3621024"/>
            <a:ext cx="2128952" cy="237744"/>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Azure, DiskANN vectors</a:t>
            </a:r>
            <a:endParaRPr lang="en-US" sz="1000" dirty="0"/>
          </a:p>
        </p:txBody>
      </p:sp>
      <p:sp>
        <p:nvSpPr>
          <p:cNvPr id="24" name="Shape 21"/>
          <p:cNvSpPr/>
          <p:nvPr/>
        </p:nvSpPr>
        <p:spPr>
          <a:xfrm>
            <a:off x="6214720" y="3200400"/>
            <a:ext cx="2586152" cy="786384"/>
          </a:xfrm>
          <a:prstGeom prst="roundRect">
            <a:avLst>
              <a:gd name="adj" fmla="val 8140"/>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5" name="Text 22"/>
          <p:cNvSpPr txBox="1"/>
          <p:nvPr/>
        </p:nvSpPr>
        <p:spPr>
          <a:xfrm>
            <a:off x="6452464" y="3328416"/>
            <a:ext cx="212895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MongoDB</a:t>
            </a:r>
            <a:endParaRPr lang="en-US" sz="1400" dirty="0"/>
          </a:p>
        </p:txBody>
      </p:sp>
      <p:sp>
        <p:nvSpPr>
          <p:cNvPr id="26" name="Text 23"/>
          <p:cNvSpPr txBox="1"/>
          <p:nvPr/>
        </p:nvSpPr>
        <p:spPr>
          <a:xfrm>
            <a:off x="6452464" y="3621024"/>
            <a:ext cx="2128952" cy="237744"/>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Atlas vector search</a:t>
            </a:r>
            <a:endParaRPr lang="en-US" sz="1000" dirty="0"/>
          </a:p>
        </p:txBody>
      </p:sp>
      <p:sp>
        <p:nvSpPr>
          <p:cNvPr id="27" name="Shape 24"/>
          <p:cNvSpPr/>
          <p:nvPr/>
        </p:nvSpPr>
        <p:spPr>
          <a:xfrm>
            <a:off x="9038615" y="3200400"/>
            <a:ext cx="2586152" cy="786384"/>
          </a:xfrm>
          <a:prstGeom prst="roundRect">
            <a:avLst>
              <a:gd name="adj" fmla="val 814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8" name="Text 25"/>
          <p:cNvSpPr txBox="1"/>
          <p:nvPr/>
        </p:nvSpPr>
        <p:spPr>
          <a:xfrm>
            <a:off x="9276359" y="3328416"/>
            <a:ext cx="212895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SQL Server</a:t>
            </a:r>
            <a:endParaRPr lang="en-US" sz="1400" dirty="0"/>
          </a:p>
        </p:txBody>
      </p:sp>
      <p:sp>
        <p:nvSpPr>
          <p:cNvPr id="29" name="Text 26"/>
          <p:cNvSpPr txBox="1"/>
          <p:nvPr/>
        </p:nvSpPr>
        <p:spPr>
          <a:xfrm>
            <a:off x="9276359" y="3621024"/>
            <a:ext cx="2128952" cy="237744"/>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2025 native vectors</a:t>
            </a:r>
            <a:endParaRPr lang="en-US" sz="1000" dirty="0"/>
          </a:p>
        </p:txBody>
      </p:sp>
      <p:sp>
        <p:nvSpPr>
          <p:cNvPr id="30" name="Shape 27"/>
          <p:cNvSpPr/>
          <p:nvPr/>
        </p:nvSpPr>
        <p:spPr>
          <a:xfrm>
            <a:off x="566928" y="4206240"/>
            <a:ext cx="2586152" cy="786384"/>
          </a:xfrm>
          <a:prstGeom prst="roundRect">
            <a:avLst>
              <a:gd name="adj" fmla="val 8140"/>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1" name="Text 28"/>
          <p:cNvSpPr txBox="1"/>
          <p:nvPr/>
        </p:nvSpPr>
        <p:spPr>
          <a:xfrm>
            <a:off x="804672" y="4334256"/>
            <a:ext cx="212895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PostgreSQL</a:t>
            </a:r>
            <a:endParaRPr lang="en-US" sz="1400" dirty="0"/>
          </a:p>
        </p:txBody>
      </p:sp>
      <p:sp>
        <p:nvSpPr>
          <p:cNvPr id="32" name="Text 29"/>
          <p:cNvSpPr txBox="1"/>
          <p:nvPr/>
        </p:nvSpPr>
        <p:spPr>
          <a:xfrm>
            <a:off x="804672" y="4626864"/>
            <a:ext cx="2128952" cy="237744"/>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pgvector</a:t>
            </a:r>
            <a:endParaRPr lang="en-US" sz="1000" dirty="0"/>
          </a:p>
        </p:txBody>
      </p:sp>
      <p:sp>
        <p:nvSpPr>
          <p:cNvPr id="33" name="Shape 30"/>
          <p:cNvSpPr/>
          <p:nvPr/>
        </p:nvSpPr>
        <p:spPr>
          <a:xfrm>
            <a:off x="3390824" y="4206240"/>
            <a:ext cx="2586152" cy="786384"/>
          </a:xfrm>
          <a:prstGeom prst="roundRect">
            <a:avLst>
              <a:gd name="adj" fmla="val 814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4" name="Text 31"/>
          <p:cNvSpPr txBox="1"/>
          <p:nvPr/>
        </p:nvSpPr>
        <p:spPr>
          <a:xfrm>
            <a:off x="3628568" y="4334256"/>
            <a:ext cx="212895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MySQL</a:t>
            </a:r>
            <a:endParaRPr lang="en-US" sz="1400" dirty="0"/>
          </a:p>
        </p:txBody>
      </p:sp>
      <p:sp>
        <p:nvSpPr>
          <p:cNvPr id="35" name="Text 32"/>
          <p:cNvSpPr txBox="1"/>
          <p:nvPr/>
        </p:nvSpPr>
        <p:spPr>
          <a:xfrm>
            <a:off x="3628568" y="4626864"/>
            <a:ext cx="2128952" cy="237744"/>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Managed or self-hosted</a:t>
            </a:r>
            <a:endParaRPr lang="en-US" sz="1000" dirty="0"/>
          </a:p>
        </p:txBody>
      </p:sp>
      <p:sp>
        <p:nvSpPr>
          <p:cNvPr id="36" name="Shape 33"/>
          <p:cNvSpPr/>
          <p:nvPr/>
        </p:nvSpPr>
        <p:spPr>
          <a:xfrm>
            <a:off x="6214720" y="4206240"/>
            <a:ext cx="2586152" cy="786384"/>
          </a:xfrm>
          <a:prstGeom prst="roundRect">
            <a:avLst>
              <a:gd name="adj" fmla="val 8140"/>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7" name="Text 34"/>
          <p:cNvSpPr txBox="1"/>
          <p:nvPr/>
        </p:nvSpPr>
        <p:spPr>
          <a:xfrm>
            <a:off x="6452464" y="4334256"/>
            <a:ext cx="212895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Oracle</a:t>
            </a:r>
            <a:endParaRPr lang="en-US" sz="1400" dirty="0"/>
          </a:p>
        </p:txBody>
      </p:sp>
      <p:sp>
        <p:nvSpPr>
          <p:cNvPr id="38" name="Text 35"/>
          <p:cNvSpPr txBox="1"/>
          <p:nvPr/>
        </p:nvSpPr>
        <p:spPr>
          <a:xfrm>
            <a:off x="6452464" y="4626864"/>
            <a:ext cx="2128952" cy="237744"/>
          </a:xfrm>
          <a:prstGeom prst="rect">
            <a:avLst/>
          </a:prstGeom>
          <a:noFill/>
          <a:ln/>
        </p:spPr>
        <p:txBody>
          <a:bodyPr wrap="square" lIns="0" tIns="0" rIns="0" bIns="0" rtlCol="0" anchor="ctr"/>
          <a:lstStyle/>
          <a:p>
            <a:pPr indent="0" marL="0">
              <a:buNone/>
            </a:pPr>
            <a:r>
              <a:rPr lang="en-US" sz="1000" dirty="0">
                <a:solidFill>
                  <a:srgbClr val="AFA8CE"/>
                </a:solidFill>
                <a:latin typeface="Calibri" pitchFamily="34" charset="0"/>
                <a:ea typeface="Calibri" pitchFamily="34" charset="-122"/>
                <a:cs typeface="Calibri" pitchFamily="34" charset="-120"/>
              </a:rPr>
              <a:t>Enterprise estates</a:t>
            </a:r>
            <a:endParaRPr lang="en-US" sz="1000" dirty="0"/>
          </a:p>
        </p:txBody>
      </p:sp>
      <p:sp>
        <p:nvSpPr>
          <p:cNvPr id="39" name="Shape 36"/>
          <p:cNvSpPr/>
          <p:nvPr/>
        </p:nvSpPr>
        <p:spPr>
          <a:xfrm>
            <a:off x="9038615" y="4206240"/>
            <a:ext cx="2586152" cy="786384"/>
          </a:xfrm>
          <a:prstGeom prst="roundRect">
            <a:avLst>
              <a:gd name="adj" fmla="val 8140"/>
            </a:avLst>
          </a:prstGeom>
          <a:solidFill>
            <a:srgbClr val="3C22A6"/>
          </a:solidFill>
          <a:ln w="12700">
            <a:solidFill>
              <a:srgbClr val="5335C9"/>
            </a:solidFill>
            <a:prstDash val="solid"/>
          </a:ln>
          <a:effectLst>
            <a:outerShdw sx="100000" sy="100000" kx="0" ky="0" algn="bl" rotWithShape="0" blurRad="152400" dist="38100" dir="5400000">
              <a:srgbClr val="000000">
                <a:alpha val="35000"/>
              </a:srgbClr>
            </a:outerShdw>
          </a:effectLst>
        </p:spPr>
      </p:sp>
      <p:sp>
        <p:nvSpPr>
          <p:cNvPr id="40" name="Text 37"/>
          <p:cNvSpPr txBox="1"/>
          <p:nvPr/>
        </p:nvSpPr>
        <p:spPr>
          <a:xfrm>
            <a:off x="9276359" y="4206240"/>
            <a:ext cx="2128952" cy="786384"/>
          </a:xfrm>
          <a:prstGeom prst="rect">
            <a:avLst/>
          </a:prstGeom>
          <a:noFill/>
          <a:ln/>
        </p:spPr>
        <p:txBody>
          <a:bodyPr wrap="square" lIns="0" tIns="0" rIns="0" bIns="0" rtlCol="0" anchor="ctr"/>
          <a:lstStyle/>
          <a:p>
            <a:pPr indent="0" marL="0">
              <a:buNone/>
            </a:pPr>
            <a:r>
              <a:rPr lang="en-US" sz="1150" b="1" dirty="0">
                <a:solidFill>
                  <a:srgbClr val="CFFA12"/>
                </a:solidFill>
                <a:latin typeface="Calibri" pitchFamily="34" charset="0"/>
                <a:ea typeface="Calibri" pitchFamily="34" charset="-122"/>
                <a:cs typeface="Calibri" pitchFamily="34" charset="-120"/>
              </a:rPr>
              <a:t>Same code on all of them</a:t>
            </a:r>
            <a:endParaRPr lang="en-US" sz="1150" dirty="0"/>
          </a:p>
        </p:txBody>
      </p:sp>
      <p:sp>
        <p:nvSpPr>
          <p:cNvPr id="41" name="Shape 38"/>
          <p:cNvSpPr/>
          <p:nvPr/>
        </p:nvSpPr>
        <p:spPr>
          <a:xfrm>
            <a:off x="566928" y="5230368"/>
            <a:ext cx="11057839" cy="1051560"/>
          </a:xfrm>
          <a:prstGeom prst="roundRect">
            <a:avLst>
              <a:gd name="adj" fmla="val 6087"/>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42" name="Text 39"/>
          <p:cNvSpPr txBox="1"/>
          <p:nvPr/>
        </p:nvSpPr>
        <p:spPr>
          <a:xfrm>
            <a:off x="932688" y="5230368"/>
            <a:ext cx="10326319" cy="1051560"/>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Vector / ANN search across pgvector, SQL Server 2025, Cosmos DiskANN, Mongo Atlas, DuckDB vss and sqlite-vec — with LLM-callable tool functions, structured filters and auto-embed on insert through Microsoft.Extensions.AI.</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06 · SERVER &amp; CLOUD</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A web server that fits inside a phone app</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ASP.NET Core is heavyweight and does not run on .NET MAUI. This does.</a:t>
            </a:r>
            <a:endParaRPr lang="en-US" sz="1350" dirty="0"/>
          </a:p>
        </p:txBody>
      </p:sp>
      <p:sp>
        <p:nvSpPr>
          <p:cNvPr id="6" name="Shape 3"/>
          <p:cNvSpPr/>
          <p:nvPr/>
        </p:nvSpPr>
        <p:spPr>
          <a:xfrm>
            <a:off x="566928" y="2148840"/>
            <a:ext cx="5760720" cy="4023360"/>
          </a:xfrm>
          <a:prstGeom prst="roundRect">
            <a:avLst>
              <a:gd name="adj" fmla="val 1591"/>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77824" y="2395728"/>
            <a:ext cx="475488" cy="475488"/>
          </a:xfrm>
          <a:prstGeom prst="roundRect">
            <a:avLst>
              <a:gd name="adj" fmla="val 53846"/>
            </a:avLst>
          </a:prstGeom>
          <a:solidFill>
            <a:srgbClr val="2BE5A0"/>
          </a:solidFill>
          <a:ln w="12700">
            <a:solidFill>
              <a:srgbClr val="2BE5A0"/>
            </a:solidFill>
            <a:prstDash val="solid"/>
          </a:ln>
        </p:spPr>
      </p:sp>
      <p:pic>
        <p:nvPicPr>
          <p:cNvPr id="8" name="Image 1" descr="preencoded.png">    </p:cNvPr>
          <p:cNvPicPr>
            <a:picLocks noChangeAspect="1"/>
          </p:cNvPicPr>
          <p:nvPr/>
        </p:nvPicPr>
        <p:blipFill>
          <a:blip r:embed="rId2"/>
          <a:stretch>
            <a:fillRect/>
          </a:stretch>
        </p:blipFill>
        <p:spPr>
          <a:xfrm>
            <a:off x="1001451" y="2519355"/>
            <a:ext cx="228234" cy="228234"/>
          </a:xfrm>
          <a:prstGeom prst="rect">
            <a:avLst/>
          </a:prstGeom>
        </p:spPr>
      </p:pic>
      <p:sp>
        <p:nvSpPr>
          <p:cNvPr id="9" name="Text 5"/>
          <p:cNvSpPr txBox="1"/>
          <p:nvPr/>
        </p:nvSpPr>
        <p:spPr>
          <a:xfrm>
            <a:off x="1499616" y="2432304"/>
            <a:ext cx="4023360" cy="38404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HTTP Server</a:t>
            </a:r>
            <a:endParaRPr lang="en-US" sz="1900" dirty="0"/>
          </a:p>
        </p:txBody>
      </p:sp>
      <p:sp>
        <p:nvSpPr>
          <p:cNvPr id="10" name="Text 6"/>
          <p:cNvSpPr txBox="1"/>
          <p:nvPr/>
        </p:nvSpPr>
        <p:spPr>
          <a:xfrm>
            <a:off x="877824" y="2999232"/>
            <a:ext cx="5120640" cy="822960"/>
          </a:xfrm>
          <a:prstGeom prst="rect">
            <a:avLst/>
          </a:prstGeom>
          <a:noFill/>
          <a:ln/>
        </p:spPr>
        <p:txBody>
          <a:bodyPr wrap="square" lIns="0" tIns="0" rIns="0" bIns="0" rtlCol="0" anchor="ctr"/>
          <a:lstStyle/>
          <a:p>
            <a:pPr indent="0" marL="0">
              <a:lnSpc>
                <a:spcPts val="1600"/>
              </a:lnSpc>
              <a:buNone/>
            </a:pPr>
            <a:r>
              <a:rPr lang="en-US" sz="1200" dirty="0">
                <a:solidFill>
                  <a:srgbClr val="AFA8CE"/>
                </a:solidFill>
                <a:latin typeface="Calibri" pitchFamily="34" charset="0"/>
                <a:ea typeface="Calibri" pitchFamily="34" charset="-122"/>
                <a:cs typeface="Calibri" pitchFamily="34" charset="-120"/>
              </a:rPr>
              <a:t>A dependency-light, fully AOT/trim-clean HTTP/1.1, HTTP/2 and HTTP/3 server. Nothing is discovered by reflection, so a route that cannot bind fails your build rather than your deployment.</a:t>
            </a:r>
            <a:endParaRPr lang="en-US" sz="1200" dirty="0"/>
          </a:p>
        </p:txBody>
      </p:sp>
      <p:sp>
        <p:nvSpPr>
          <p:cNvPr id="11" name="Shape 7"/>
          <p:cNvSpPr/>
          <p:nvPr/>
        </p:nvSpPr>
        <p:spPr>
          <a:xfrm>
            <a:off x="877824" y="3931920"/>
            <a:ext cx="2487168" cy="310896"/>
          </a:xfrm>
          <a:prstGeom prst="roundRect">
            <a:avLst>
              <a:gd name="adj" fmla="val 47059"/>
            </a:avLst>
          </a:prstGeom>
          <a:solidFill>
            <a:srgbClr val="19143C"/>
          </a:solidFill>
          <a:ln w="12700">
            <a:solidFill>
              <a:srgbClr val="2E2665"/>
            </a:solidFill>
            <a:prstDash val="solid"/>
          </a:ln>
        </p:spPr>
      </p:sp>
      <p:sp>
        <p:nvSpPr>
          <p:cNvPr id="12" name="Text 8"/>
          <p:cNvSpPr txBox="1"/>
          <p:nvPr/>
        </p:nvSpPr>
        <p:spPr>
          <a:xfrm>
            <a:off x="877824" y="3931920"/>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Routing &amp; middleware</a:t>
            </a:r>
            <a:endParaRPr lang="en-US" sz="950" dirty="0"/>
          </a:p>
        </p:txBody>
      </p:sp>
      <p:sp>
        <p:nvSpPr>
          <p:cNvPr id="13" name="Shape 9"/>
          <p:cNvSpPr/>
          <p:nvPr/>
        </p:nvSpPr>
        <p:spPr>
          <a:xfrm>
            <a:off x="3502152" y="3931920"/>
            <a:ext cx="2487168" cy="310896"/>
          </a:xfrm>
          <a:prstGeom prst="roundRect">
            <a:avLst>
              <a:gd name="adj" fmla="val 47059"/>
            </a:avLst>
          </a:prstGeom>
          <a:solidFill>
            <a:srgbClr val="19143C"/>
          </a:solidFill>
          <a:ln w="12700">
            <a:solidFill>
              <a:srgbClr val="2E2665"/>
            </a:solidFill>
            <a:prstDash val="solid"/>
          </a:ln>
        </p:spPr>
      </p:sp>
      <p:sp>
        <p:nvSpPr>
          <p:cNvPr id="14" name="Text 10"/>
          <p:cNvSpPr txBox="1"/>
          <p:nvPr/>
        </p:nvSpPr>
        <p:spPr>
          <a:xfrm>
            <a:off x="3502152" y="3931920"/>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DI scopes</a:t>
            </a:r>
            <a:endParaRPr lang="en-US" sz="950" dirty="0"/>
          </a:p>
        </p:txBody>
      </p:sp>
      <p:sp>
        <p:nvSpPr>
          <p:cNvPr id="15" name="Shape 11"/>
          <p:cNvSpPr/>
          <p:nvPr/>
        </p:nvSpPr>
        <p:spPr>
          <a:xfrm>
            <a:off x="877824" y="4389120"/>
            <a:ext cx="2487168" cy="310896"/>
          </a:xfrm>
          <a:prstGeom prst="roundRect">
            <a:avLst>
              <a:gd name="adj" fmla="val 47059"/>
            </a:avLst>
          </a:prstGeom>
          <a:solidFill>
            <a:srgbClr val="19143C"/>
          </a:solidFill>
          <a:ln w="12700">
            <a:solidFill>
              <a:srgbClr val="2E2665"/>
            </a:solidFill>
            <a:prstDash val="solid"/>
          </a:ln>
        </p:spPr>
      </p:sp>
      <p:sp>
        <p:nvSpPr>
          <p:cNvPr id="16" name="Text 12"/>
          <p:cNvSpPr txBox="1"/>
          <p:nvPr/>
        </p:nvSpPr>
        <p:spPr>
          <a:xfrm>
            <a:off x="877824" y="4389120"/>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Typed endpoints</a:t>
            </a:r>
            <a:endParaRPr lang="en-US" sz="950" dirty="0"/>
          </a:p>
        </p:txBody>
      </p:sp>
      <p:sp>
        <p:nvSpPr>
          <p:cNvPr id="17" name="Shape 13"/>
          <p:cNvSpPr/>
          <p:nvPr/>
        </p:nvSpPr>
        <p:spPr>
          <a:xfrm>
            <a:off x="3502152" y="4389120"/>
            <a:ext cx="2487168" cy="310896"/>
          </a:xfrm>
          <a:prstGeom prst="roundRect">
            <a:avLst>
              <a:gd name="adj" fmla="val 47059"/>
            </a:avLst>
          </a:prstGeom>
          <a:solidFill>
            <a:srgbClr val="19143C"/>
          </a:solidFill>
          <a:ln w="12700">
            <a:solidFill>
              <a:srgbClr val="2E2665"/>
            </a:solidFill>
            <a:prstDash val="solid"/>
          </a:ln>
        </p:spPr>
      </p:sp>
      <p:sp>
        <p:nvSpPr>
          <p:cNvPr id="18" name="Text 14"/>
          <p:cNvSpPr txBox="1"/>
          <p:nvPr/>
        </p:nvSpPr>
        <p:spPr>
          <a:xfrm>
            <a:off x="3502152" y="4389120"/>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Static files</a:t>
            </a:r>
            <a:endParaRPr lang="en-US" sz="950" dirty="0"/>
          </a:p>
        </p:txBody>
      </p:sp>
      <p:sp>
        <p:nvSpPr>
          <p:cNvPr id="19" name="Shape 15"/>
          <p:cNvSpPr/>
          <p:nvPr/>
        </p:nvSpPr>
        <p:spPr>
          <a:xfrm>
            <a:off x="877824" y="4846320"/>
            <a:ext cx="2487168" cy="310896"/>
          </a:xfrm>
          <a:prstGeom prst="roundRect">
            <a:avLst>
              <a:gd name="adj" fmla="val 47059"/>
            </a:avLst>
          </a:prstGeom>
          <a:solidFill>
            <a:srgbClr val="19143C"/>
          </a:solidFill>
          <a:ln w="12700">
            <a:solidFill>
              <a:srgbClr val="2E2665"/>
            </a:solidFill>
            <a:prstDash val="solid"/>
          </a:ln>
        </p:spPr>
      </p:sp>
      <p:sp>
        <p:nvSpPr>
          <p:cNvPr id="20" name="Text 16"/>
          <p:cNvSpPr txBox="1"/>
          <p:nvPr/>
        </p:nvSpPr>
        <p:spPr>
          <a:xfrm>
            <a:off x="877824" y="4846320"/>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WebSockets</a:t>
            </a:r>
            <a:endParaRPr lang="en-US" sz="950" dirty="0"/>
          </a:p>
        </p:txBody>
      </p:sp>
      <p:sp>
        <p:nvSpPr>
          <p:cNvPr id="21" name="Shape 17"/>
          <p:cNvSpPr/>
          <p:nvPr/>
        </p:nvSpPr>
        <p:spPr>
          <a:xfrm>
            <a:off x="3502152" y="4846320"/>
            <a:ext cx="2487168" cy="310896"/>
          </a:xfrm>
          <a:prstGeom prst="roundRect">
            <a:avLst>
              <a:gd name="adj" fmla="val 47059"/>
            </a:avLst>
          </a:prstGeom>
          <a:solidFill>
            <a:srgbClr val="19143C"/>
          </a:solidFill>
          <a:ln w="12700">
            <a:solidFill>
              <a:srgbClr val="2E2665"/>
            </a:solidFill>
            <a:prstDash val="solid"/>
          </a:ln>
        </p:spPr>
      </p:sp>
      <p:sp>
        <p:nvSpPr>
          <p:cNvPr id="22" name="Text 18"/>
          <p:cNvSpPr txBox="1"/>
          <p:nvPr/>
        </p:nvSpPr>
        <p:spPr>
          <a:xfrm>
            <a:off x="3502152" y="4846320"/>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Server-Sent Events</a:t>
            </a:r>
            <a:endParaRPr lang="en-US" sz="950" dirty="0"/>
          </a:p>
        </p:txBody>
      </p:sp>
      <p:sp>
        <p:nvSpPr>
          <p:cNvPr id="23" name="Shape 19"/>
          <p:cNvSpPr/>
          <p:nvPr/>
        </p:nvSpPr>
        <p:spPr>
          <a:xfrm>
            <a:off x="877824" y="5303520"/>
            <a:ext cx="2487168" cy="310896"/>
          </a:xfrm>
          <a:prstGeom prst="roundRect">
            <a:avLst>
              <a:gd name="adj" fmla="val 47059"/>
            </a:avLst>
          </a:prstGeom>
          <a:solidFill>
            <a:srgbClr val="19143C"/>
          </a:solidFill>
          <a:ln w="12700">
            <a:solidFill>
              <a:srgbClr val="2E2665"/>
            </a:solidFill>
            <a:prstDash val="solid"/>
          </a:ln>
        </p:spPr>
      </p:sp>
      <p:sp>
        <p:nvSpPr>
          <p:cNvPr id="24" name="Text 20"/>
          <p:cNvSpPr txBox="1"/>
          <p:nvPr/>
        </p:nvSpPr>
        <p:spPr>
          <a:xfrm>
            <a:off x="877824" y="5303520"/>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Sessions &amp; OpenAPI</a:t>
            </a:r>
            <a:endParaRPr lang="en-US" sz="950" dirty="0"/>
          </a:p>
        </p:txBody>
      </p:sp>
      <p:sp>
        <p:nvSpPr>
          <p:cNvPr id="25" name="Shape 21"/>
          <p:cNvSpPr/>
          <p:nvPr/>
        </p:nvSpPr>
        <p:spPr>
          <a:xfrm>
            <a:off x="3502152" y="5303520"/>
            <a:ext cx="2487168" cy="310896"/>
          </a:xfrm>
          <a:prstGeom prst="roundRect">
            <a:avLst>
              <a:gd name="adj" fmla="val 47059"/>
            </a:avLst>
          </a:prstGeom>
          <a:solidFill>
            <a:srgbClr val="19143C"/>
          </a:solidFill>
          <a:ln w="12700">
            <a:solidFill>
              <a:srgbClr val="2E2665"/>
            </a:solidFill>
            <a:prstDash val="solid"/>
          </a:ln>
        </p:spPr>
      </p:sp>
      <p:sp>
        <p:nvSpPr>
          <p:cNvPr id="26" name="Text 22"/>
          <p:cNvSpPr txBox="1"/>
          <p:nvPr/>
        </p:nvSpPr>
        <p:spPr>
          <a:xfrm>
            <a:off x="3502152" y="5303520"/>
            <a:ext cx="2487168"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CORS, rate limiting, IP filters</a:t>
            </a:r>
            <a:endParaRPr lang="en-US" sz="950" dirty="0"/>
          </a:p>
        </p:txBody>
      </p:sp>
      <p:sp>
        <p:nvSpPr>
          <p:cNvPr id="27" name="Text 23"/>
          <p:cNvSpPr txBox="1"/>
          <p:nvPr/>
        </p:nvSpPr>
        <p:spPr>
          <a:xfrm>
            <a:off x="877824" y="5760720"/>
            <a:ext cx="5120640" cy="274320"/>
          </a:xfrm>
          <a:prstGeom prst="rect">
            <a:avLst/>
          </a:prstGeom>
          <a:noFill/>
          <a:ln/>
        </p:spPr>
        <p:txBody>
          <a:bodyPr wrap="square" lIns="0" tIns="0" rIns="0" bIns="0" rtlCol="0" anchor="ctr"/>
          <a:lstStyle/>
          <a:p>
            <a:pPr indent="0" marL="0">
              <a:buNone/>
            </a:pPr>
            <a:r>
              <a:rPr lang="en-US" sz="1100" i="1" dirty="0">
                <a:solidFill>
                  <a:srgbClr val="2BE5A0"/>
                </a:solidFill>
                <a:latin typeface="Calibri" pitchFamily="34" charset="0"/>
                <a:ea typeface="Calibri" pitchFamily="34" charset="-122"/>
                <a:cs typeface="Calibri" pitchFamily="34" charset="-120"/>
              </a:rPr>
              <a:t>Runs on MAUI, desktop, server and container alike.</a:t>
            </a:r>
            <a:endParaRPr lang="en-US" sz="1100" dirty="0"/>
          </a:p>
        </p:txBody>
      </p:sp>
      <p:sp>
        <p:nvSpPr>
          <p:cNvPr id="28" name="Shape 24"/>
          <p:cNvSpPr/>
          <p:nvPr/>
        </p:nvSpPr>
        <p:spPr>
          <a:xfrm>
            <a:off x="6583680" y="2121408"/>
            <a:ext cx="5041087" cy="1024128"/>
          </a:xfrm>
          <a:prstGeom prst="roundRect">
            <a:avLst>
              <a:gd name="adj" fmla="val 625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9" name="Shape 25"/>
          <p:cNvSpPr/>
          <p:nvPr/>
        </p:nvSpPr>
        <p:spPr>
          <a:xfrm>
            <a:off x="6821424" y="2340864"/>
            <a:ext cx="329184" cy="329184"/>
          </a:xfrm>
          <a:prstGeom prst="roundRect">
            <a:avLst>
              <a:gd name="adj" fmla="val 77778"/>
            </a:avLst>
          </a:prstGeom>
          <a:solidFill>
            <a:srgbClr val="9B7BFF"/>
          </a:solidFill>
          <a:ln w="12700">
            <a:solidFill>
              <a:srgbClr val="9B7BFF"/>
            </a:solidFill>
            <a:prstDash val="solid"/>
          </a:ln>
        </p:spPr>
      </p:sp>
      <p:pic>
        <p:nvPicPr>
          <p:cNvPr id="30" name="Image 2" descr="preencoded.png">    </p:cNvPr>
          <p:cNvPicPr>
            <a:picLocks noChangeAspect="1"/>
          </p:cNvPicPr>
          <p:nvPr/>
        </p:nvPicPr>
        <p:blipFill>
          <a:blip r:embed="rId3"/>
          <a:stretch>
            <a:fillRect/>
          </a:stretch>
        </p:blipFill>
        <p:spPr>
          <a:xfrm>
            <a:off x="6907012" y="2426452"/>
            <a:ext cx="158008" cy="158008"/>
          </a:xfrm>
          <a:prstGeom prst="rect">
            <a:avLst/>
          </a:prstGeom>
        </p:spPr>
      </p:pic>
      <p:sp>
        <p:nvSpPr>
          <p:cNvPr id="31" name="Text 26"/>
          <p:cNvSpPr txBox="1"/>
          <p:nvPr/>
        </p:nvSpPr>
        <p:spPr>
          <a:xfrm>
            <a:off x="7315200" y="2386584"/>
            <a:ext cx="4126687"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Tunnelling</a:t>
            </a:r>
            <a:endParaRPr lang="en-US" sz="1250" dirty="0"/>
          </a:p>
        </p:txBody>
      </p:sp>
      <p:sp>
        <p:nvSpPr>
          <p:cNvPr id="32" name="Text 27"/>
          <p:cNvSpPr txBox="1"/>
          <p:nvPr/>
        </p:nvSpPr>
        <p:spPr>
          <a:xfrm>
            <a:off x="6821424" y="2816352"/>
            <a:ext cx="4565599" cy="182880"/>
          </a:xfrm>
          <a:prstGeom prst="rect">
            <a:avLst/>
          </a:prstGeom>
          <a:noFill/>
          <a:ln/>
        </p:spPr>
        <p:txBody>
          <a:bodyPr wrap="square" lIns="0" tIns="0" rIns="0" bIns="0" rtlCol="0" anchor="t"/>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Reach a server embedded in a phone app from the internet — SSH remote forwarding, zero-account quick tunnels, or Azure Relay.</a:t>
            </a:r>
            <a:endParaRPr lang="en-US" sz="950" dirty="0"/>
          </a:p>
        </p:txBody>
      </p:sp>
      <p:sp>
        <p:nvSpPr>
          <p:cNvPr id="33" name="Shape 28"/>
          <p:cNvSpPr/>
          <p:nvPr/>
        </p:nvSpPr>
        <p:spPr>
          <a:xfrm>
            <a:off x="6583680" y="3255264"/>
            <a:ext cx="5041087" cy="1024128"/>
          </a:xfrm>
          <a:prstGeom prst="roundRect">
            <a:avLst>
              <a:gd name="adj" fmla="val 625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4" name="Shape 29"/>
          <p:cNvSpPr/>
          <p:nvPr/>
        </p:nvSpPr>
        <p:spPr>
          <a:xfrm>
            <a:off x="6821424" y="3474720"/>
            <a:ext cx="329184" cy="329184"/>
          </a:xfrm>
          <a:prstGeom prst="roundRect">
            <a:avLst>
              <a:gd name="adj" fmla="val 77778"/>
            </a:avLst>
          </a:prstGeom>
          <a:solidFill>
            <a:srgbClr val="CFFA12"/>
          </a:solidFill>
          <a:ln w="12700">
            <a:solidFill>
              <a:srgbClr val="CFFA12"/>
            </a:solidFill>
            <a:prstDash val="solid"/>
          </a:ln>
        </p:spPr>
      </p:sp>
      <p:pic>
        <p:nvPicPr>
          <p:cNvPr id="35" name="Image 3" descr="preencoded.png">    </p:cNvPr>
          <p:cNvPicPr>
            <a:picLocks noChangeAspect="1"/>
          </p:cNvPicPr>
          <p:nvPr/>
        </p:nvPicPr>
        <p:blipFill>
          <a:blip r:embed="rId4"/>
          <a:stretch>
            <a:fillRect/>
          </a:stretch>
        </p:blipFill>
        <p:spPr>
          <a:xfrm>
            <a:off x="6907012" y="3560308"/>
            <a:ext cx="158008" cy="158008"/>
          </a:xfrm>
          <a:prstGeom prst="rect">
            <a:avLst/>
          </a:prstGeom>
        </p:spPr>
      </p:pic>
      <p:sp>
        <p:nvSpPr>
          <p:cNvPr id="36" name="Text 30"/>
          <p:cNvSpPr txBox="1"/>
          <p:nvPr/>
        </p:nvSpPr>
        <p:spPr>
          <a:xfrm>
            <a:off x="7315200" y="3520440"/>
            <a:ext cx="4126687"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Protocol add-ons</a:t>
            </a:r>
            <a:endParaRPr lang="en-US" sz="1250" dirty="0"/>
          </a:p>
        </p:txBody>
      </p:sp>
      <p:sp>
        <p:nvSpPr>
          <p:cNvPr id="37" name="Text 31"/>
          <p:cNvSpPr txBox="1"/>
          <p:nvPr/>
        </p:nvSpPr>
        <p:spPr>
          <a:xfrm>
            <a:off x="6821424" y="3950208"/>
            <a:ext cx="4565599" cy="182880"/>
          </a:xfrm>
          <a:prstGeom prst="rect">
            <a:avLst/>
          </a:prstGeom>
          <a:noFill/>
          <a:ln/>
        </p:spPr>
        <p:txBody>
          <a:bodyPr wrap="square" lIns="0" tIns="0" rIns="0" bIns="0" rtlCol="0" anchor="t"/>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gRPC &amp; gRPC-Web, Model Context Protocol and WebDAV — plus Mediator handlers and DocumentDb types as endpoints.</a:t>
            </a:r>
            <a:endParaRPr lang="en-US" sz="950" dirty="0"/>
          </a:p>
        </p:txBody>
      </p:sp>
      <p:sp>
        <p:nvSpPr>
          <p:cNvPr id="38" name="Shape 32"/>
          <p:cNvSpPr/>
          <p:nvPr/>
        </p:nvSpPr>
        <p:spPr>
          <a:xfrm>
            <a:off x="6583680" y="4389120"/>
            <a:ext cx="5041087" cy="1024128"/>
          </a:xfrm>
          <a:prstGeom prst="roundRect">
            <a:avLst>
              <a:gd name="adj" fmla="val 625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9" name="Shape 33"/>
          <p:cNvSpPr/>
          <p:nvPr/>
        </p:nvSpPr>
        <p:spPr>
          <a:xfrm>
            <a:off x="6821424" y="4608576"/>
            <a:ext cx="329184" cy="329184"/>
          </a:xfrm>
          <a:prstGeom prst="roundRect">
            <a:avLst>
              <a:gd name="adj" fmla="val 77778"/>
            </a:avLst>
          </a:prstGeom>
          <a:solidFill>
            <a:srgbClr val="9B7BFF"/>
          </a:solidFill>
          <a:ln w="12700">
            <a:solidFill>
              <a:srgbClr val="9B7BFF"/>
            </a:solidFill>
            <a:prstDash val="solid"/>
          </a:ln>
        </p:spPr>
      </p:sp>
      <p:pic>
        <p:nvPicPr>
          <p:cNvPr id="40" name="Image 4" descr="preencoded.png">    </p:cNvPr>
          <p:cNvPicPr>
            <a:picLocks noChangeAspect="1"/>
          </p:cNvPicPr>
          <p:nvPr/>
        </p:nvPicPr>
        <p:blipFill>
          <a:blip r:embed="rId5"/>
          <a:stretch>
            <a:fillRect/>
          </a:stretch>
        </p:blipFill>
        <p:spPr>
          <a:xfrm>
            <a:off x="6907012" y="4694164"/>
            <a:ext cx="158008" cy="158008"/>
          </a:xfrm>
          <a:prstGeom prst="rect">
            <a:avLst/>
          </a:prstGeom>
        </p:spPr>
      </p:pic>
      <p:sp>
        <p:nvSpPr>
          <p:cNvPr id="41" name="Text 34"/>
          <p:cNvSpPr txBox="1"/>
          <p:nvPr/>
        </p:nvSpPr>
        <p:spPr>
          <a:xfrm>
            <a:off x="7315200" y="4654296"/>
            <a:ext cx="4126687"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Web &amp; Blazor Hosting</a:t>
            </a:r>
            <a:endParaRPr lang="en-US" sz="1250" dirty="0"/>
          </a:p>
        </p:txBody>
      </p:sp>
      <p:sp>
        <p:nvSpPr>
          <p:cNvPr id="42" name="Text 35"/>
          <p:cNvSpPr txBox="1"/>
          <p:nvPr/>
        </p:nvSpPr>
        <p:spPr>
          <a:xfrm>
            <a:off x="6821424" y="5084064"/>
            <a:ext cx="4565599" cy="182880"/>
          </a:xfrm>
          <a:prstGeom prst="rect">
            <a:avLst/>
          </a:prstGeom>
          <a:noFill/>
          <a:ln/>
        </p:spPr>
        <p:txBody>
          <a:bodyPr wrap="square" lIns="0" tIns="0" rIns="0" bIns="0" rtlCol="0" anchor="t"/>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ASP.NET infrastructure modules for common server-side patterns, and the Blazor equivalent.</a:t>
            </a:r>
            <a:endParaRPr lang="en-US" sz="950" dirty="0"/>
          </a:p>
        </p:txBody>
      </p:sp>
      <p:sp>
        <p:nvSpPr>
          <p:cNvPr id="43" name="Shape 36"/>
          <p:cNvSpPr/>
          <p:nvPr/>
        </p:nvSpPr>
        <p:spPr>
          <a:xfrm>
            <a:off x="6583680" y="5522976"/>
            <a:ext cx="5041087" cy="1024128"/>
          </a:xfrm>
          <a:prstGeom prst="roundRect">
            <a:avLst>
              <a:gd name="adj" fmla="val 6250"/>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44" name="Shape 37"/>
          <p:cNvSpPr/>
          <p:nvPr/>
        </p:nvSpPr>
        <p:spPr>
          <a:xfrm>
            <a:off x="6821424" y="5742432"/>
            <a:ext cx="329184" cy="329184"/>
          </a:xfrm>
          <a:prstGeom prst="roundRect">
            <a:avLst>
              <a:gd name="adj" fmla="val 77778"/>
            </a:avLst>
          </a:prstGeom>
          <a:solidFill>
            <a:srgbClr val="2BE5A0"/>
          </a:solidFill>
          <a:ln w="12700">
            <a:solidFill>
              <a:srgbClr val="2BE5A0"/>
            </a:solidFill>
            <a:prstDash val="solid"/>
          </a:ln>
        </p:spPr>
      </p:sp>
      <p:pic>
        <p:nvPicPr>
          <p:cNvPr id="45" name="Image 5" descr="preencoded.png">    </p:cNvPr>
          <p:cNvPicPr>
            <a:picLocks noChangeAspect="1"/>
          </p:cNvPicPr>
          <p:nvPr/>
        </p:nvPicPr>
        <p:blipFill>
          <a:blip r:embed="rId6"/>
          <a:stretch>
            <a:fillRect/>
          </a:stretch>
        </p:blipFill>
        <p:spPr>
          <a:xfrm>
            <a:off x="6907012" y="5828020"/>
            <a:ext cx="158008" cy="158008"/>
          </a:xfrm>
          <a:prstGeom prst="rect">
            <a:avLst/>
          </a:prstGeom>
        </p:spPr>
      </p:pic>
      <p:sp>
        <p:nvSpPr>
          <p:cNvPr id="46" name="Text 38"/>
          <p:cNvSpPr txBox="1"/>
          <p:nvPr/>
        </p:nvSpPr>
        <p:spPr>
          <a:xfrm>
            <a:off x="7315200" y="5788152"/>
            <a:ext cx="4126687"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Push (Server)</a:t>
            </a:r>
            <a:endParaRPr lang="en-US" sz="1250" dirty="0"/>
          </a:p>
        </p:txBody>
      </p:sp>
      <p:sp>
        <p:nvSpPr>
          <p:cNvPr id="47" name="Text 39"/>
          <p:cNvSpPr txBox="1"/>
          <p:nvPr/>
        </p:nvSpPr>
        <p:spPr>
          <a:xfrm>
            <a:off x="6821424" y="6217920"/>
            <a:ext cx="4565599" cy="182880"/>
          </a:xfrm>
          <a:prstGeom prst="rect">
            <a:avLst/>
          </a:prstGeom>
          <a:noFill/>
          <a:ln/>
        </p:spPr>
        <p:txBody>
          <a:bodyPr wrap="square" lIns="0" tIns="0" rIns="0" bIns="0" rtlCol="0" anchor="t"/>
          <a:lstStyle/>
          <a:p>
            <a:pPr indent="0" marL="0">
              <a:lnSpc>
                <a:spcPts val="1200"/>
              </a:lnSpc>
              <a:buNone/>
            </a:pPr>
            <a:r>
              <a:rPr lang="en-US" sz="950" dirty="0">
                <a:solidFill>
                  <a:srgbClr val="AFA8CE"/>
                </a:solidFill>
                <a:latin typeface="Calibri" pitchFamily="34" charset="0"/>
                <a:ea typeface="Calibri" pitchFamily="34" charset="-122"/>
                <a:cs typeface="Calibri" pitchFamily="34" charset="-120"/>
              </a:rPr>
              <a:t>Send to APNs (.p8/ES256), FCM and Web Push (VAPID) through one API — targeting, topics and dead-token pruning.</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SECTION 06 · .NET ASPIRE</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First-class Aspire integrations</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Model the awkward parts of a distributed app as ordinary Aspire resources.</a:t>
            </a:r>
            <a:endParaRPr lang="en-US" sz="1350" dirty="0"/>
          </a:p>
        </p:txBody>
      </p:sp>
      <p:sp>
        <p:nvSpPr>
          <p:cNvPr id="6" name="Shape 3"/>
          <p:cNvSpPr/>
          <p:nvPr/>
        </p:nvSpPr>
        <p:spPr>
          <a:xfrm>
            <a:off x="566928" y="2212848"/>
            <a:ext cx="3503066" cy="2468880"/>
          </a:xfrm>
          <a:prstGeom prst="roundRect">
            <a:avLst>
              <a:gd name="adj" fmla="val 2593"/>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04672" y="2432304"/>
            <a:ext cx="475488" cy="475488"/>
          </a:xfrm>
          <a:prstGeom prst="roundRect">
            <a:avLst>
              <a:gd name="adj" fmla="val 53846"/>
            </a:avLst>
          </a:prstGeom>
          <a:solidFill>
            <a:srgbClr val="9B7BFF"/>
          </a:solidFill>
          <a:ln w="12700">
            <a:solidFill>
              <a:srgbClr val="9B7BFF"/>
            </a:solidFill>
            <a:prstDash val="solid"/>
          </a:ln>
        </p:spPr>
      </p:sp>
      <p:pic>
        <p:nvPicPr>
          <p:cNvPr id="8" name="Image 1" descr="preencoded.png">    </p:cNvPr>
          <p:cNvPicPr>
            <a:picLocks noChangeAspect="1"/>
          </p:cNvPicPr>
          <p:nvPr/>
        </p:nvPicPr>
        <p:blipFill>
          <a:blip r:embed="rId2"/>
          <a:stretch>
            <a:fillRect/>
          </a:stretch>
        </p:blipFill>
        <p:spPr>
          <a:xfrm>
            <a:off x="928299" y="2555931"/>
            <a:ext cx="228234" cy="228234"/>
          </a:xfrm>
          <a:prstGeom prst="rect">
            <a:avLst/>
          </a:prstGeom>
        </p:spPr>
      </p:pic>
      <p:sp>
        <p:nvSpPr>
          <p:cNvPr id="9" name="Text 5"/>
          <p:cNvSpPr txBox="1"/>
          <p:nvPr/>
        </p:nvSpPr>
        <p:spPr>
          <a:xfrm>
            <a:off x="1444752" y="2551176"/>
            <a:ext cx="2442362"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Orleans</a:t>
            </a:r>
            <a:endParaRPr lang="en-US" sz="1600" dirty="0"/>
          </a:p>
        </p:txBody>
      </p:sp>
      <p:sp>
        <p:nvSpPr>
          <p:cNvPr id="10" name="Text 6"/>
          <p:cNvSpPr txBox="1"/>
          <p:nvPr/>
        </p:nvSpPr>
        <p:spPr>
          <a:xfrm>
            <a:off x="804672" y="3054096"/>
            <a:ext cx="3027578" cy="1481328"/>
          </a:xfrm>
          <a:prstGeom prst="rect">
            <a:avLst/>
          </a:prstGeom>
          <a:noFill/>
          <a:ln/>
        </p:spPr>
        <p:txBody>
          <a:bodyPr wrap="square" lIns="0" tIns="0" rIns="0" bIns="0" rtlCol="0" anchor="t"/>
          <a:lstStyle/>
          <a:p>
            <a:pPr indent="0" marL="0">
              <a:lnSpc>
                <a:spcPts val="1650"/>
              </a:lnSpc>
              <a:buNone/>
            </a:pPr>
            <a:r>
              <a:rPr lang="en-US" sz="1200" dirty="0">
                <a:solidFill>
                  <a:srgbClr val="AFA8CE"/>
                </a:solidFill>
                <a:latin typeface="Calibri" pitchFamily="34" charset="0"/>
                <a:ea typeface="Calibri" pitchFamily="34" charset="-122"/>
                <a:cs typeface="Calibri" pitchFamily="34" charset="-120"/>
              </a:rPr>
              <a:t>Simplified Orleans hosting — streamlined AppHost configuration, Silo setup and client wiring. A fully orchestrated cluster in minimal code, with Document DB available as grain storage, reminders, clustering and grain directory.</a:t>
            </a:r>
            <a:endParaRPr lang="en-US" sz="1200" dirty="0"/>
          </a:p>
        </p:txBody>
      </p:sp>
      <p:sp>
        <p:nvSpPr>
          <p:cNvPr id="11" name="Shape 7"/>
          <p:cNvSpPr/>
          <p:nvPr/>
        </p:nvSpPr>
        <p:spPr>
          <a:xfrm>
            <a:off x="4344314" y="2212848"/>
            <a:ext cx="3503066" cy="2468880"/>
          </a:xfrm>
          <a:prstGeom prst="roundRect">
            <a:avLst>
              <a:gd name="adj" fmla="val 2593"/>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2" name="Shape 8"/>
          <p:cNvSpPr/>
          <p:nvPr/>
        </p:nvSpPr>
        <p:spPr>
          <a:xfrm>
            <a:off x="4582058" y="2432304"/>
            <a:ext cx="475488" cy="475488"/>
          </a:xfrm>
          <a:prstGeom prst="roundRect">
            <a:avLst>
              <a:gd name="adj" fmla="val 53846"/>
            </a:avLst>
          </a:prstGeom>
          <a:solidFill>
            <a:srgbClr val="2BE5A0"/>
          </a:solidFill>
          <a:ln w="12700">
            <a:solidFill>
              <a:srgbClr val="2BE5A0"/>
            </a:solidFill>
            <a:prstDash val="solid"/>
          </a:ln>
        </p:spPr>
      </p:sp>
      <p:pic>
        <p:nvPicPr>
          <p:cNvPr id="13" name="Image 2" descr="preencoded.png">    </p:cNvPr>
          <p:cNvPicPr>
            <a:picLocks noChangeAspect="1"/>
          </p:cNvPicPr>
          <p:nvPr/>
        </p:nvPicPr>
        <p:blipFill>
          <a:blip r:embed="rId3"/>
          <a:stretch>
            <a:fillRect/>
          </a:stretch>
        </p:blipFill>
        <p:spPr>
          <a:xfrm>
            <a:off x="4705685" y="2555931"/>
            <a:ext cx="228234" cy="228234"/>
          </a:xfrm>
          <a:prstGeom prst="rect">
            <a:avLst/>
          </a:prstGeom>
        </p:spPr>
      </p:pic>
      <p:sp>
        <p:nvSpPr>
          <p:cNvPr id="14" name="Text 9"/>
          <p:cNvSpPr txBox="1"/>
          <p:nvPr/>
        </p:nvSpPr>
        <p:spPr>
          <a:xfrm>
            <a:off x="5222138" y="2551176"/>
            <a:ext cx="2442362"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Gluetun VPN</a:t>
            </a:r>
            <a:endParaRPr lang="en-US" sz="1600" dirty="0"/>
          </a:p>
        </p:txBody>
      </p:sp>
      <p:sp>
        <p:nvSpPr>
          <p:cNvPr id="15" name="Text 10"/>
          <p:cNvSpPr txBox="1"/>
          <p:nvPr/>
        </p:nvSpPr>
        <p:spPr>
          <a:xfrm>
            <a:off x="4582058" y="3054096"/>
            <a:ext cx="3027578" cy="1481328"/>
          </a:xfrm>
          <a:prstGeom prst="rect">
            <a:avLst/>
          </a:prstGeom>
          <a:noFill/>
          <a:ln/>
        </p:spPr>
        <p:txBody>
          <a:bodyPr wrap="square" lIns="0" tIns="0" rIns="0" bIns="0" rtlCol="0" anchor="t"/>
          <a:lstStyle/>
          <a:p>
            <a:pPr indent="0" marL="0">
              <a:lnSpc>
                <a:spcPts val="1650"/>
              </a:lnSpc>
              <a:buNone/>
            </a:pPr>
            <a:r>
              <a:rPr lang="en-US" sz="1200" dirty="0">
                <a:solidFill>
                  <a:srgbClr val="AFA8CE"/>
                </a:solidFill>
                <a:latin typeface="Calibri" pitchFamily="34" charset="0"/>
                <a:ea typeface="Calibri" pitchFamily="34" charset="-122"/>
                <a:cs typeface="Calibri" pitchFamily="34" charset="-120"/>
              </a:rPr>
              <a:t>Model a Gluetun VPN container as a first-class Aspire resource, then route other containers through the tunnel with a single method call — with full Docker Compose publish support.</a:t>
            </a:r>
            <a:endParaRPr lang="en-US" sz="1200" dirty="0"/>
          </a:p>
        </p:txBody>
      </p:sp>
      <p:sp>
        <p:nvSpPr>
          <p:cNvPr id="16" name="Shape 11"/>
          <p:cNvSpPr/>
          <p:nvPr/>
        </p:nvSpPr>
        <p:spPr>
          <a:xfrm>
            <a:off x="8121701" y="2212848"/>
            <a:ext cx="3503066" cy="2468880"/>
          </a:xfrm>
          <a:prstGeom prst="roundRect">
            <a:avLst>
              <a:gd name="adj" fmla="val 2593"/>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8359445" y="2432304"/>
            <a:ext cx="475488" cy="475488"/>
          </a:xfrm>
          <a:prstGeom prst="roundRect">
            <a:avLst>
              <a:gd name="adj" fmla="val 53846"/>
            </a:avLst>
          </a:prstGeom>
          <a:solidFill>
            <a:srgbClr val="CFFA12"/>
          </a:solidFill>
          <a:ln w="12700">
            <a:solidFill>
              <a:srgbClr val="CFFA12"/>
            </a:solidFill>
            <a:prstDash val="solid"/>
          </a:ln>
        </p:spPr>
      </p:sp>
      <p:pic>
        <p:nvPicPr>
          <p:cNvPr id="18" name="Image 3" descr="preencoded.png">    </p:cNvPr>
          <p:cNvPicPr>
            <a:picLocks noChangeAspect="1"/>
          </p:cNvPicPr>
          <p:nvPr/>
        </p:nvPicPr>
        <p:blipFill>
          <a:blip r:embed="rId4"/>
          <a:stretch>
            <a:fillRect/>
          </a:stretch>
        </p:blipFill>
        <p:spPr>
          <a:xfrm>
            <a:off x="8483072" y="2555931"/>
            <a:ext cx="228234" cy="228234"/>
          </a:xfrm>
          <a:prstGeom prst="rect">
            <a:avLst/>
          </a:prstGeom>
        </p:spPr>
      </p:pic>
      <p:sp>
        <p:nvSpPr>
          <p:cNvPr id="19" name="Text 13"/>
          <p:cNvSpPr txBox="1"/>
          <p:nvPr/>
        </p:nvSpPr>
        <p:spPr>
          <a:xfrm>
            <a:off x="8999525" y="2551176"/>
            <a:ext cx="2442362"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Tunnelling</a:t>
            </a:r>
            <a:endParaRPr lang="en-US" sz="1600" dirty="0"/>
          </a:p>
        </p:txBody>
      </p:sp>
      <p:sp>
        <p:nvSpPr>
          <p:cNvPr id="20" name="Text 14"/>
          <p:cNvSpPr txBox="1"/>
          <p:nvPr/>
        </p:nvSpPr>
        <p:spPr>
          <a:xfrm>
            <a:off x="8359445" y="3054096"/>
            <a:ext cx="3027578" cy="1481328"/>
          </a:xfrm>
          <a:prstGeom prst="rect">
            <a:avLst/>
          </a:prstGeom>
          <a:noFill/>
          <a:ln/>
        </p:spPr>
        <p:txBody>
          <a:bodyPr wrap="square" lIns="0" tIns="0" rIns="0" bIns="0" rtlCol="0" anchor="t"/>
          <a:lstStyle/>
          <a:p>
            <a:pPr indent="0" marL="0">
              <a:lnSpc>
                <a:spcPts val="1650"/>
              </a:lnSpc>
              <a:buNone/>
            </a:pPr>
            <a:r>
              <a:rPr lang="en-US" sz="1200" dirty="0">
                <a:solidFill>
                  <a:srgbClr val="AFA8CE"/>
                </a:solidFill>
                <a:latin typeface="Calibri" pitchFamily="34" charset="0"/>
                <a:ea typeface="Calibri" pitchFamily="34" charset="-122"/>
                <a:cs typeface="Calibri" pitchFamily="34" charset="-120"/>
              </a:rPr>
              <a:t>Give a project or container a public address for webhooks, OAuth redirects and demos — quick tunnels with no account, SSH, the Shiny relay, Azure Relay, Cloudflare or ngrok, surfaced as a connection string.</a:t>
            </a:r>
            <a:endParaRPr lang="en-US" sz="1200" dirty="0"/>
          </a:p>
        </p:txBody>
      </p:sp>
      <p:sp>
        <p:nvSpPr>
          <p:cNvPr id="21" name="Shape 15"/>
          <p:cNvSpPr/>
          <p:nvPr/>
        </p:nvSpPr>
        <p:spPr>
          <a:xfrm>
            <a:off x="566928" y="5029200"/>
            <a:ext cx="11057839" cy="1005840"/>
          </a:xfrm>
          <a:prstGeom prst="roundRect">
            <a:avLst>
              <a:gd name="adj" fmla="val 6364"/>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2" name="Text 16"/>
          <p:cNvSpPr txBox="1"/>
          <p:nvPr/>
        </p:nvSpPr>
        <p:spPr>
          <a:xfrm>
            <a:off x="932688" y="5029200"/>
            <a:ext cx="10326319" cy="1005840"/>
          </a:xfrm>
          <a:prstGeom prst="rect">
            <a:avLst/>
          </a:prstGeom>
          <a:noFill/>
          <a:ln/>
        </p:spPr>
        <p:txBody>
          <a:bodyPr wrap="square" lIns="0" tIns="0" rIns="0" bIns="0"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The same Shiny libraries your mobile app uses — Mediator contracts, Document DB, serialization — run unchanged in the services behind it.</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TRUSTED IN PRODUCTION</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Shipping in real apps, for years</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Three of the teams building products on Shiny today.</a:t>
            </a:r>
            <a:endParaRPr lang="en-US" sz="1350" dirty="0"/>
          </a:p>
        </p:txBody>
      </p:sp>
      <p:sp>
        <p:nvSpPr>
          <p:cNvPr id="6" name="Shape 3"/>
          <p:cNvSpPr/>
          <p:nvPr/>
        </p:nvSpPr>
        <p:spPr>
          <a:xfrm>
            <a:off x="566928" y="2084832"/>
            <a:ext cx="3503066" cy="3977640"/>
          </a:xfrm>
          <a:prstGeom prst="roundRect">
            <a:avLst>
              <a:gd name="adj" fmla="val 1827"/>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Shape 4"/>
          <p:cNvSpPr/>
          <p:nvPr/>
        </p:nvSpPr>
        <p:spPr>
          <a:xfrm>
            <a:off x="859536" y="2331720"/>
            <a:ext cx="2103120" cy="822960"/>
          </a:xfrm>
          <a:prstGeom prst="roundRect">
            <a:avLst>
              <a:gd name="adj" fmla="val 13333"/>
            </a:avLst>
          </a:prstGeom>
          <a:solidFill>
            <a:srgbClr val="FFFFFF"/>
          </a:solidFill>
          <a:ln w="12700">
            <a:solidFill>
              <a:srgbClr val="FFFFFF"/>
            </a:solidFill>
            <a:prstDash val="solid"/>
          </a:ln>
        </p:spPr>
      </p:sp>
      <p:pic>
        <p:nvPicPr>
          <p:cNvPr id="8" name="Image 1" descr="/Users/aritchie/Desktop/dev/documentation/public/images/sponsors/speedydock-dark.png">    </p:cNvPr>
          <p:cNvPicPr>
            <a:picLocks noChangeAspect="1"/>
          </p:cNvPicPr>
          <p:nvPr/>
        </p:nvPicPr>
        <p:blipFill>
          <a:blip r:embed="rId2"/>
          <a:stretch>
            <a:fillRect/>
          </a:stretch>
        </p:blipFill>
        <p:spPr>
          <a:xfrm>
            <a:off x="1197025" y="2450592"/>
            <a:ext cx="1428142" cy="585216"/>
          </a:xfrm>
          <a:prstGeom prst="rect">
            <a:avLst/>
          </a:prstGeom>
        </p:spPr>
      </p:pic>
      <p:sp>
        <p:nvSpPr>
          <p:cNvPr id="9" name="Text 5"/>
          <p:cNvSpPr txBox="1"/>
          <p:nvPr/>
        </p:nvSpPr>
        <p:spPr>
          <a:xfrm>
            <a:off x="859536" y="3346704"/>
            <a:ext cx="2917850" cy="548640"/>
          </a:xfrm>
          <a:prstGeom prst="rect">
            <a:avLst/>
          </a:prstGeom>
          <a:noFill/>
          <a:ln/>
        </p:spPr>
        <p:txBody>
          <a:bodyPr wrap="square" lIns="0" tIns="0" rIns="0" bIns="0" rtlCol="0" anchor="ctr"/>
          <a:lstStyle/>
          <a:p>
            <a:pPr indent="0" marL="0">
              <a:lnSpc>
                <a:spcPts val="1350"/>
              </a:lnSpc>
              <a:buNone/>
            </a:pPr>
            <a:r>
              <a:rPr lang="en-US" sz="1050" dirty="0">
                <a:solidFill>
                  <a:srgbClr val="9B7BFF"/>
                </a:solidFill>
                <a:latin typeface="Calibri" pitchFamily="34" charset="0"/>
                <a:ea typeface="Calibri" pitchFamily="34" charset="-122"/>
                <a:cs typeface="Calibri" pitchFamily="34" charset="-120"/>
              </a:rPr>
              <a:t>Boat launch scheduling for drystack marinas — iOS, Android and web since 2016</a:t>
            </a:r>
            <a:endParaRPr lang="en-US" sz="1050" dirty="0"/>
          </a:p>
        </p:txBody>
      </p:sp>
      <p:sp>
        <p:nvSpPr>
          <p:cNvPr id="10" name="Text 6"/>
          <p:cNvSpPr txBox="1"/>
          <p:nvPr/>
        </p:nvSpPr>
        <p:spPr>
          <a:xfrm>
            <a:off x="859536" y="3968496"/>
            <a:ext cx="2917850" cy="1417320"/>
          </a:xfrm>
          <a:prstGeom prst="rect">
            <a:avLst/>
          </a:prstGeom>
          <a:noFill/>
          <a:ln/>
        </p:spPr>
        <p:txBody>
          <a:bodyPr wrap="square" lIns="0" tIns="0" rIns="0" bIns="0" rtlCol="0" anchor="ctr"/>
          <a:lstStyle/>
          <a:p>
            <a:pPr indent="0" marL="0">
              <a:lnSpc>
                <a:spcPts val="1700"/>
              </a:lnSpc>
              <a:buNone/>
            </a:pPr>
            <a:r>
              <a:rPr lang="en-US" sz="1250" i="1" dirty="0">
                <a:solidFill>
                  <a:srgbClr val="FFFFFF"/>
                </a:solidFill>
                <a:latin typeface="Calibri" pitchFamily="34" charset="0"/>
                <a:ea typeface="Calibri" pitchFamily="34" charset="-122"/>
                <a:cs typeface="Calibri" pitchFamily="34" charset="-120"/>
              </a:rPr>
              <a:t>“Shiny isn’t just a tool for SpeedyDock; it’s a cornerstone of our mobile app development.”</a:t>
            </a:r>
            <a:endParaRPr lang="en-US" sz="1250" dirty="0"/>
          </a:p>
        </p:txBody>
      </p:sp>
      <p:sp>
        <p:nvSpPr>
          <p:cNvPr id="11" name="Text 7"/>
          <p:cNvSpPr txBox="1"/>
          <p:nvPr/>
        </p:nvSpPr>
        <p:spPr>
          <a:xfrm>
            <a:off x="859536" y="5440680"/>
            <a:ext cx="2917850" cy="502920"/>
          </a:xfrm>
          <a:prstGeom prst="rect">
            <a:avLst/>
          </a:prstGeom>
          <a:noFill/>
          <a:ln/>
        </p:spPr>
        <p:txBody>
          <a:bodyPr wrap="square" lIns="0" tIns="0" rIns="0" bIns="0" rtlCol="0" anchor="ctr"/>
          <a:lstStyle/>
          <a:p>
            <a:pPr indent="0" marL="0">
              <a:lnSpc>
                <a:spcPts val="1300"/>
              </a:lnSpc>
              <a:buNone/>
            </a:pPr>
            <a:r>
              <a:rPr lang="en-US" sz="1000" dirty="0">
                <a:solidFill>
                  <a:srgbClr val="8079A8"/>
                </a:solidFill>
                <a:latin typeface="Calibri" pitchFamily="34" charset="0"/>
                <a:ea typeface="Calibri" pitchFamily="34" charset="-122"/>
                <a:cs typeface="Calibri" pitchFamily="34" charset="-120"/>
              </a:rPr>
              <a:t>Travis Wolfe · CEO, SpeedyDock</a:t>
            </a:r>
            <a:endParaRPr lang="en-US" sz="1000" dirty="0"/>
          </a:p>
        </p:txBody>
      </p:sp>
      <p:sp>
        <p:nvSpPr>
          <p:cNvPr id="12" name="Shape 8"/>
          <p:cNvSpPr/>
          <p:nvPr/>
        </p:nvSpPr>
        <p:spPr>
          <a:xfrm>
            <a:off x="4344314" y="2084832"/>
            <a:ext cx="3503066" cy="3977640"/>
          </a:xfrm>
          <a:prstGeom prst="roundRect">
            <a:avLst>
              <a:gd name="adj" fmla="val 1827"/>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3" name="Shape 9"/>
          <p:cNvSpPr/>
          <p:nvPr/>
        </p:nvSpPr>
        <p:spPr>
          <a:xfrm>
            <a:off x="4636922" y="2331720"/>
            <a:ext cx="2103120" cy="822960"/>
          </a:xfrm>
          <a:prstGeom prst="roundRect">
            <a:avLst>
              <a:gd name="adj" fmla="val 13333"/>
            </a:avLst>
          </a:prstGeom>
          <a:solidFill>
            <a:srgbClr val="FFFFFF"/>
          </a:solidFill>
          <a:ln w="12700">
            <a:solidFill>
              <a:srgbClr val="FFFFFF"/>
            </a:solidFill>
            <a:prstDash val="solid"/>
          </a:ln>
        </p:spPr>
      </p:sp>
      <p:pic>
        <p:nvPicPr>
          <p:cNvPr id="14" name="Image 2" descr="/Users/aritchie/Desktop/dev/documentation/public/images/sponsors/poolmath.png">    </p:cNvPr>
          <p:cNvPicPr>
            <a:picLocks noChangeAspect="1"/>
          </p:cNvPicPr>
          <p:nvPr/>
        </p:nvPicPr>
        <p:blipFill>
          <a:blip r:embed="rId3"/>
          <a:stretch>
            <a:fillRect/>
          </a:stretch>
        </p:blipFill>
        <p:spPr>
          <a:xfrm>
            <a:off x="5395874" y="2450592"/>
            <a:ext cx="585216" cy="585216"/>
          </a:xfrm>
          <a:prstGeom prst="rect">
            <a:avLst/>
          </a:prstGeom>
        </p:spPr>
      </p:pic>
      <p:sp>
        <p:nvSpPr>
          <p:cNvPr id="15" name="Text 10"/>
          <p:cNvSpPr txBox="1"/>
          <p:nvPr/>
        </p:nvSpPr>
        <p:spPr>
          <a:xfrm>
            <a:off x="4636922" y="3346704"/>
            <a:ext cx="2917850" cy="548640"/>
          </a:xfrm>
          <a:prstGeom prst="rect">
            <a:avLst/>
          </a:prstGeom>
          <a:noFill/>
          <a:ln/>
        </p:spPr>
        <p:txBody>
          <a:bodyPr wrap="square" lIns="0" tIns="0" rIns="0" bIns="0" rtlCol="0" anchor="ctr"/>
          <a:lstStyle/>
          <a:p>
            <a:pPr indent="0" marL="0">
              <a:lnSpc>
                <a:spcPts val="1350"/>
              </a:lnSpc>
              <a:buNone/>
            </a:pPr>
            <a:r>
              <a:rPr lang="en-US" sz="1050" dirty="0">
                <a:solidFill>
                  <a:srgbClr val="2BE5A0"/>
                </a:solidFill>
                <a:latin typeface="Calibri" pitchFamily="34" charset="0"/>
                <a:ea typeface="Calibri" pitchFamily="34" charset="-122"/>
                <a:cs typeface="Calibri" pitchFamily="34" charset="-120"/>
              </a:rPr>
              <a:t>Pool care for hundreds of thousands of pool owners</a:t>
            </a:r>
            <a:endParaRPr lang="en-US" sz="1050" dirty="0"/>
          </a:p>
        </p:txBody>
      </p:sp>
      <p:sp>
        <p:nvSpPr>
          <p:cNvPr id="16" name="Text 11"/>
          <p:cNvSpPr txBox="1"/>
          <p:nvPr/>
        </p:nvSpPr>
        <p:spPr>
          <a:xfrm>
            <a:off x="4636922" y="3968496"/>
            <a:ext cx="2917850" cy="1417320"/>
          </a:xfrm>
          <a:prstGeom prst="rect">
            <a:avLst/>
          </a:prstGeom>
          <a:noFill/>
          <a:ln/>
        </p:spPr>
        <p:txBody>
          <a:bodyPr wrap="square" lIns="0" tIns="0" rIns="0" bIns="0" rtlCol="0" anchor="ctr"/>
          <a:lstStyle/>
          <a:p>
            <a:pPr indent="0" marL="0">
              <a:lnSpc>
                <a:spcPts val="1700"/>
              </a:lnSpc>
              <a:buNone/>
            </a:pPr>
            <a:r>
              <a:rPr lang="en-US" sz="1250" i="1" dirty="0">
                <a:solidFill>
                  <a:srgbClr val="FFFFFF"/>
                </a:solidFill>
                <a:latin typeface="Calibri" pitchFamily="34" charset="0"/>
                <a:ea typeface="Calibri" pitchFamily="34" charset="-122"/>
                <a:cs typeface="Calibri" pitchFamily="34" charset="-120"/>
              </a:rPr>
              <a:t>“If you’re building a .NET MAUI app and you’re not using Shiny, you’re making your life harder than it needs to be.”</a:t>
            </a:r>
            <a:endParaRPr lang="en-US" sz="1250" dirty="0"/>
          </a:p>
        </p:txBody>
      </p:sp>
      <p:sp>
        <p:nvSpPr>
          <p:cNvPr id="17" name="Text 12"/>
          <p:cNvSpPr txBox="1"/>
          <p:nvPr/>
        </p:nvSpPr>
        <p:spPr>
          <a:xfrm>
            <a:off x="4636922" y="5440680"/>
            <a:ext cx="2917850" cy="502920"/>
          </a:xfrm>
          <a:prstGeom prst="rect">
            <a:avLst/>
          </a:prstGeom>
          <a:noFill/>
          <a:ln/>
        </p:spPr>
        <p:txBody>
          <a:bodyPr wrap="square" lIns="0" tIns="0" rIns="0" bIns="0" rtlCol="0" anchor="ctr"/>
          <a:lstStyle/>
          <a:p>
            <a:pPr indent="0" marL="0">
              <a:lnSpc>
                <a:spcPts val="1300"/>
              </a:lnSpc>
              <a:buNone/>
            </a:pPr>
            <a:r>
              <a:rPr lang="en-US" sz="1000" dirty="0">
                <a:solidFill>
                  <a:srgbClr val="8079A8"/>
                </a:solidFill>
                <a:latin typeface="Calibri" pitchFamily="34" charset="0"/>
                <a:ea typeface="Calibri" pitchFamily="34" charset="-122"/>
                <a:cs typeface="Calibri" pitchFamily="34" charset="-120"/>
              </a:rPr>
              <a:t>Jonathan Dick · CEO PoolMath, Principal Manager, Microsoft .NET MAUI</a:t>
            </a:r>
            <a:endParaRPr lang="en-US" sz="1000" dirty="0"/>
          </a:p>
        </p:txBody>
      </p:sp>
      <p:sp>
        <p:nvSpPr>
          <p:cNvPr id="18" name="Shape 13"/>
          <p:cNvSpPr/>
          <p:nvPr/>
        </p:nvSpPr>
        <p:spPr>
          <a:xfrm>
            <a:off x="8121701" y="2084832"/>
            <a:ext cx="3503066" cy="3977640"/>
          </a:xfrm>
          <a:prstGeom prst="roundRect">
            <a:avLst>
              <a:gd name="adj" fmla="val 1827"/>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9" name="Shape 14"/>
          <p:cNvSpPr/>
          <p:nvPr/>
        </p:nvSpPr>
        <p:spPr>
          <a:xfrm>
            <a:off x="8414309" y="2331720"/>
            <a:ext cx="2103120" cy="822960"/>
          </a:xfrm>
          <a:prstGeom prst="roundRect">
            <a:avLst>
              <a:gd name="adj" fmla="val 13333"/>
            </a:avLst>
          </a:prstGeom>
          <a:solidFill>
            <a:srgbClr val="FFFFFF"/>
          </a:solidFill>
          <a:ln w="12700">
            <a:solidFill>
              <a:srgbClr val="FFFFFF"/>
            </a:solidFill>
            <a:prstDash val="solid"/>
          </a:ln>
        </p:spPr>
      </p:sp>
      <p:pic>
        <p:nvPicPr>
          <p:cNvPr id="20" name="Image 3" descr="/Users/aritchie/Desktop/dev/documentation/presentations/.moultrie.png">    </p:cNvPr>
          <p:cNvPicPr>
            <a:picLocks noChangeAspect="1"/>
          </p:cNvPicPr>
          <p:nvPr/>
        </p:nvPicPr>
        <p:blipFill>
          <a:blip r:embed="rId4"/>
          <a:stretch>
            <a:fillRect/>
          </a:stretch>
        </p:blipFill>
        <p:spPr>
          <a:xfrm>
            <a:off x="8569757" y="2502245"/>
            <a:ext cx="1792224" cy="481909"/>
          </a:xfrm>
          <a:prstGeom prst="rect">
            <a:avLst/>
          </a:prstGeom>
        </p:spPr>
      </p:pic>
      <p:sp>
        <p:nvSpPr>
          <p:cNvPr id="21" name="Text 15"/>
          <p:cNvSpPr txBox="1"/>
          <p:nvPr/>
        </p:nvSpPr>
        <p:spPr>
          <a:xfrm>
            <a:off x="8414309" y="3346704"/>
            <a:ext cx="2917850" cy="548640"/>
          </a:xfrm>
          <a:prstGeom prst="rect">
            <a:avLst/>
          </a:prstGeom>
          <a:noFill/>
          <a:ln/>
        </p:spPr>
        <p:txBody>
          <a:bodyPr wrap="square" lIns="0" tIns="0" rIns="0" bIns="0" rtlCol="0" anchor="ctr"/>
          <a:lstStyle/>
          <a:p>
            <a:pPr indent="0" marL="0">
              <a:lnSpc>
                <a:spcPts val="1350"/>
              </a:lnSpc>
              <a:buNone/>
            </a:pPr>
            <a:r>
              <a:rPr lang="en-US" sz="1050" dirty="0">
                <a:solidFill>
                  <a:srgbClr val="CFFA12"/>
                </a:solidFill>
                <a:latin typeface="Calibri" pitchFamily="34" charset="0"/>
                <a:ea typeface="Calibri" pitchFamily="34" charset="-122"/>
                <a:cs typeface="Calibri" pitchFamily="34" charset="-120"/>
              </a:rPr>
              <a:t>Cellular trail cameras, feeders and land management tools</a:t>
            </a:r>
            <a:endParaRPr lang="en-US" sz="1050" dirty="0"/>
          </a:p>
        </p:txBody>
      </p:sp>
      <p:sp>
        <p:nvSpPr>
          <p:cNvPr id="22" name="Text 16"/>
          <p:cNvSpPr txBox="1"/>
          <p:nvPr/>
        </p:nvSpPr>
        <p:spPr>
          <a:xfrm>
            <a:off x="8414309" y="3968496"/>
            <a:ext cx="2917850" cy="1417320"/>
          </a:xfrm>
          <a:prstGeom prst="rect">
            <a:avLst/>
          </a:prstGeom>
          <a:noFill/>
          <a:ln/>
        </p:spPr>
        <p:txBody>
          <a:bodyPr wrap="square" lIns="0" tIns="0" rIns="0" bIns="0" rtlCol="0" anchor="ctr"/>
          <a:lstStyle/>
          <a:p>
            <a:pPr indent="0" marL="0">
              <a:lnSpc>
                <a:spcPts val="1700"/>
              </a:lnSpc>
              <a:buNone/>
            </a:pPr>
            <a:r>
              <a:rPr lang="en-US" sz="1250" i="1" dirty="0">
                <a:solidFill>
                  <a:srgbClr val="FFFFFF"/>
                </a:solidFill>
                <a:latin typeface="Calibri" pitchFamily="34" charset="0"/>
                <a:ea typeface="Calibri" pitchFamily="34" charset="-122"/>
                <a:cs typeface="Calibri" pitchFamily="34" charset="-120"/>
              </a:rPr>
              <a:t>“What would have been months of platform-specific work across iOS and Android gets reduced to clean, shared code we can build on with confidence.”</a:t>
            </a:r>
            <a:endParaRPr lang="en-US" sz="1250" dirty="0"/>
          </a:p>
        </p:txBody>
      </p:sp>
      <p:sp>
        <p:nvSpPr>
          <p:cNvPr id="23" name="Text 17"/>
          <p:cNvSpPr txBox="1"/>
          <p:nvPr/>
        </p:nvSpPr>
        <p:spPr>
          <a:xfrm>
            <a:off x="8414309" y="5440680"/>
            <a:ext cx="2917850" cy="502920"/>
          </a:xfrm>
          <a:prstGeom prst="rect">
            <a:avLst/>
          </a:prstGeom>
          <a:noFill/>
          <a:ln/>
        </p:spPr>
        <p:txBody>
          <a:bodyPr wrap="square" lIns="0" tIns="0" rIns="0" bIns="0" rtlCol="0" anchor="ctr"/>
          <a:lstStyle/>
          <a:p>
            <a:pPr indent="0" marL="0">
              <a:lnSpc>
                <a:spcPts val="1300"/>
              </a:lnSpc>
              <a:buNone/>
            </a:pPr>
            <a:r>
              <a:rPr lang="en-US" sz="1000" dirty="0">
                <a:solidFill>
                  <a:srgbClr val="8079A8"/>
                </a:solidFill>
                <a:latin typeface="Calibri" pitchFamily="34" charset="0"/>
                <a:ea typeface="Calibri" pitchFamily="34" charset="-122"/>
                <a:cs typeface="Calibri" pitchFamily="34" charset="-120"/>
              </a:rPr>
              <a:t>Tommy Baggett · Principal Software Architect, Moultrie</a:t>
            </a:r>
            <a:endParaRPr lang="en-US" sz="1000" dirty="0"/>
          </a:p>
        </p:txBody>
      </p:sp>
      <p:sp>
        <p:nvSpPr>
          <p:cNvPr id="24" name="Text 18"/>
          <p:cNvSpPr txBox="1"/>
          <p:nvPr/>
        </p:nvSpPr>
        <p:spPr>
          <a:xfrm>
            <a:off x="566928" y="6327648"/>
            <a:ext cx="11057839" cy="292608"/>
          </a:xfrm>
          <a:prstGeom prst="rect">
            <a:avLst/>
          </a:prstGeom>
          <a:noFill/>
          <a:ln/>
        </p:spPr>
        <p:txBody>
          <a:bodyPr wrap="square" lIns="0" tIns="0" rIns="0" bIns="0" rtlCol="0" anchor="ctr"/>
          <a:lstStyle/>
          <a:p>
            <a:pPr indent="0" marL="0">
              <a:buNone/>
            </a:pPr>
            <a:r>
              <a:rPr lang="en-US" sz="1100" dirty="0">
                <a:solidFill>
                  <a:srgbClr val="8079A8"/>
                </a:solidFill>
                <a:latin typeface="Calibri" pitchFamily="34" charset="0"/>
                <a:ea typeface="Calibri" pitchFamily="34" charset="-122"/>
                <a:cs typeface="Calibri" pitchFamily="34" charset="-120"/>
              </a:rPr>
              <a:t>40M+ NuGet downloads and counting — built and maintained by ShinySoft Technologies, the consulting shop that ships on it.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A15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960120"/>
            <a:ext cx="5486400" cy="274320"/>
          </a:xfrm>
          <a:prstGeom prst="rect">
            <a:avLst/>
          </a:prstGeom>
          <a:noFill/>
          <a:ln/>
        </p:spPr>
        <p:txBody>
          <a:bodyPr wrap="square" lIns="0" tIns="0" rIns="0" bIns="0" rtlCol="0" anchor="ctr"/>
          <a:lstStyle/>
          <a:p>
            <a:pPr indent="0" marL="0">
              <a:buNone/>
            </a:pPr>
            <a:r>
              <a:rPr lang="en-US" sz="1200" b="1" spc="320" kern="0" dirty="0">
                <a:solidFill>
                  <a:srgbClr val="CFFA12"/>
                </a:solidFill>
                <a:latin typeface="Calibri" pitchFamily="34" charset="0"/>
                <a:ea typeface="Calibri" pitchFamily="34" charset="-122"/>
                <a:cs typeface="Calibri" pitchFamily="34" charset="-120"/>
              </a:rPr>
              <a:t>GET STARTED</a:t>
            </a:r>
            <a:endParaRPr lang="en-US" sz="1200" dirty="0"/>
          </a:p>
        </p:txBody>
      </p:sp>
      <p:sp>
        <p:nvSpPr>
          <p:cNvPr id="4" name="Text 1"/>
          <p:cNvSpPr txBox="1"/>
          <p:nvPr/>
        </p:nvSpPr>
        <p:spPr>
          <a:xfrm>
            <a:off x="566928" y="1371600"/>
            <a:ext cx="6583680" cy="155448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Arial" pitchFamily="34" charset="0"/>
                <a:ea typeface="Arial" pitchFamily="34" charset="-122"/>
                <a:cs typeface="Arial" pitchFamily="34" charset="-120"/>
              </a:rPr>
              <a:t>Pick a library.</a:t>
            </a:r>
            <a:endParaRPr lang="en-US" sz="4000" dirty="0"/>
          </a:p>
          <a:p>
            <a:pPr indent="0" marL="0">
              <a:lnSpc>
                <a:spcPts val="4800"/>
              </a:lnSpc>
              <a:buNone/>
            </a:pPr>
            <a:r>
              <a:rPr lang="en-US" sz="4000" b="1" dirty="0">
                <a:solidFill>
                  <a:srgbClr val="FFFFFF"/>
                </a:solidFill>
                <a:latin typeface="Arial" pitchFamily="34" charset="0"/>
                <a:ea typeface="Arial" pitchFamily="34" charset="-122"/>
                <a:cs typeface="Arial" pitchFamily="34" charset="-120"/>
              </a:rPr>
              <a:t>Or take the whole suite.</a:t>
            </a:r>
            <a:endParaRPr lang="en-US" sz="4000" dirty="0"/>
          </a:p>
        </p:txBody>
      </p:sp>
      <p:sp>
        <p:nvSpPr>
          <p:cNvPr id="5" name="Text 2"/>
          <p:cNvSpPr txBox="1"/>
          <p:nvPr/>
        </p:nvSpPr>
        <p:spPr>
          <a:xfrm>
            <a:off x="566928" y="3063240"/>
            <a:ext cx="6035040" cy="914400"/>
          </a:xfrm>
          <a:prstGeom prst="rect">
            <a:avLst/>
          </a:prstGeom>
          <a:noFill/>
          <a:ln/>
        </p:spPr>
        <p:txBody>
          <a:bodyPr wrap="square" lIns="0" tIns="0" rIns="0" bIns="0" rtlCol="0" anchor="ctr"/>
          <a:lstStyle/>
          <a:p>
            <a:pPr indent="0" marL="0">
              <a:lnSpc>
                <a:spcPts val="2000"/>
              </a:lnSpc>
              <a:buNone/>
            </a:pPr>
            <a:r>
              <a:rPr lang="en-US" sz="1400" dirty="0">
                <a:solidFill>
                  <a:srgbClr val="D6CCFF"/>
                </a:solidFill>
                <a:latin typeface="Calibri" pitchFamily="34" charset="0"/>
                <a:ea typeface="Calibri" pitchFamily="34" charset="-122"/>
                <a:cs typeface="Calibri" pitchFamily="34" charset="-120"/>
              </a:rPr>
              <a:t>Every package is independent, MIT-licensed and on NuGet. Start with the App Builder to generate a project, or drop a single library into the app you already have.</a:t>
            </a:r>
            <a:endParaRPr lang="en-US" sz="1400" dirty="0"/>
          </a:p>
        </p:txBody>
      </p:sp>
      <p:sp>
        <p:nvSpPr>
          <p:cNvPr id="6" name="Shape 3"/>
          <p:cNvSpPr/>
          <p:nvPr/>
        </p:nvSpPr>
        <p:spPr>
          <a:xfrm>
            <a:off x="7040880" y="1417320"/>
            <a:ext cx="4583887" cy="969264"/>
          </a:xfrm>
          <a:prstGeom prst="roundRect">
            <a:avLst>
              <a:gd name="adj" fmla="val 9434"/>
            </a:avLst>
          </a:prstGeom>
          <a:solidFill>
            <a:srgbClr val="3C22A6"/>
          </a:solidFill>
          <a:ln w="12700">
            <a:solidFill>
              <a:srgbClr val="5335C9"/>
            </a:solidFill>
            <a:prstDash val="solid"/>
          </a:ln>
        </p:spPr>
      </p:sp>
      <p:sp>
        <p:nvSpPr>
          <p:cNvPr id="7" name="Shape 4"/>
          <p:cNvSpPr/>
          <p:nvPr/>
        </p:nvSpPr>
        <p:spPr>
          <a:xfrm>
            <a:off x="7296912" y="1591056"/>
            <a:ext cx="384048" cy="384048"/>
          </a:xfrm>
          <a:prstGeom prst="roundRect">
            <a:avLst>
              <a:gd name="adj" fmla="val 66667"/>
            </a:avLst>
          </a:prstGeom>
          <a:solidFill>
            <a:srgbClr val="CFFA12"/>
          </a:solidFill>
          <a:ln w="12700">
            <a:solidFill>
              <a:srgbClr val="CFFA12"/>
            </a:solidFill>
            <a:prstDash val="solid"/>
          </a:ln>
        </p:spPr>
      </p:sp>
      <p:pic>
        <p:nvPicPr>
          <p:cNvPr id="8" name="Image 1" descr="preencoded.png">    </p:cNvPr>
          <p:cNvPicPr>
            <a:picLocks noChangeAspect="1"/>
          </p:cNvPicPr>
          <p:nvPr/>
        </p:nvPicPr>
        <p:blipFill>
          <a:blip r:embed="rId2"/>
          <a:stretch>
            <a:fillRect/>
          </a:stretch>
        </p:blipFill>
        <p:spPr>
          <a:xfrm>
            <a:off x="7396764" y="1690908"/>
            <a:ext cx="184343" cy="184343"/>
          </a:xfrm>
          <a:prstGeom prst="rect">
            <a:avLst/>
          </a:prstGeom>
        </p:spPr>
      </p:pic>
      <p:sp>
        <p:nvSpPr>
          <p:cNvPr id="9" name="Text 5"/>
          <p:cNvSpPr txBox="1"/>
          <p:nvPr/>
        </p:nvSpPr>
        <p:spPr>
          <a:xfrm>
            <a:off x="7827264" y="1581912"/>
            <a:ext cx="36576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App Builder</a:t>
            </a:r>
            <a:endParaRPr lang="en-US" sz="1350" dirty="0"/>
          </a:p>
        </p:txBody>
      </p:sp>
      <p:sp>
        <p:nvSpPr>
          <p:cNvPr id="10" name="Text 6"/>
          <p:cNvSpPr txBox="1"/>
          <p:nvPr/>
        </p:nvSpPr>
        <p:spPr>
          <a:xfrm>
            <a:off x="7827264" y="1874520"/>
            <a:ext cx="3749040" cy="457200"/>
          </a:xfrm>
          <a:prstGeom prst="rect">
            <a:avLst/>
          </a:prstGeom>
          <a:noFill/>
          <a:ln/>
        </p:spPr>
        <p:txBody>
          <a:bodyPr wrap="square" lIns="0" tIns="0" rIns="0" bIns="0" rtlCol="0" anchor="ctr"/>
          <a:lstStyle/>
          <a:p>
            <a:pPr indent="0" marL="0">
              <a:lnSpc>
                <a:spcPts val="1250"/>
              </a:lnSpc>
              <a:buNone/>
            </a:pPr>
            <a:r>
              <a:rPr lang="en-US" sz="1000" dirty="0">
                <a:solidFill>
                  <a:srgbClr val="CBC0FF"/>
                </a:solidFill>
                <a:latin typeface="Calibri" pitchFamily="34" charset="0"/>
                <a:ea typeface="Calibri" pitchFamily="34" charset="-122"/>
                <a:cs typeface="Calibri" pitchFamily="34" charset="-120"/>
              </a:rPr>
              <a:t>Pick your libraries; get the packages, hosting call and registrations generated for you.</a:t>
            </a:r>
            <a:endParaRPr lang="en-US" sz="1000" dirty="0"/>
          </a:p>
        </p:txBody>
      </p:sp>
      <p:sp>
        <p:nvSpPr>
          <p:cNvPr id="11" name="Shape 7"/>
          <p:cNvSpPr/>
          <p:nvPr/>
        </p:nvSpPr>
        <p:spPr>
          <a:xfrm>
            <a:off x="7040880" y="2551176"/>
            <a:ext cx="4583887" cy="969264"/>
          </a:xfrm>
          <a:prstGeom prst="roundRect">
            <a:avLst>
              <a:gd name="adj" fmla="val 9434"/>
            </a:avLst>
          </a:prstGeom>
          <a:solidFill>
            <a:srgbClr val="3C22A6"/>
          </a:solidFill>
          <a:ln w="12700">
            <a:solidFill>
              <a:srgbClr val="5335C9"/>
            </a:solidFill>
            <a:prstDash val="solid"/>
          </a:ln>
        </p:spPr>
      </p:sp>
      <p:sp>
        <p:nvSpPr>
          <p:cNvPr id="12" name="Shape 8"/>
          <p:cNvSpPr/>
          <p:nvPr/>
        </p:nvSpPr>
        <p:spPr>
          <a:xfrm>
            <a:off x="7296912" y="2724912"/>
            <a:ext cx="384048" cy="384048"/>
          </a:xfrm>
          <a:prstGeom prst="roundRect">
            <a:avLst>
              <a:gd name="adj" fmla="val 66667"/>
            </a:avLst>
          </a:prstGeom>
          <a:solidFill>
            <a:srgbClr val="FFFFFF"/>
          </a:solidFill>
          <a:ln w="12700">
            <a:solidFill>
              <a:srgbClr val="FFFFFF"/>
            </a:solidFill>
            <a:prstDash val="solid"/>
          </a:ln>
        </p:spPr>
      </p:sp>
      <p:pic>
        <p:nvPicPr>
          <p:cNvPr id="13" name="Image 2" descr="preencoded.png">    </p:cNvPr>
          <p:cNvPicPr>
            <a:picLocks noChangeAspect="1"/>
          </p:cNvPicPr>
          <p:nvPr/>
        </p:nvPicPr>
        <p:blipFill>
          <a:blip r:embed="rId3"/>
          <a:stretch>
            <a:fillRect/>
          </a:stretch>
        </p:blipFill>
        <p:spPr>
          <a:xfrm>
            <a:off x="7396764" y="2824764"/>
            <a:ext cx="184343" cy="184343"/>
          </a:xfrm>
          <a:prstGeom prst="rect">
            <a:avLst/>
          </a:prstGeom>
        </p:spPr>
      </p:pic>
      <p:sp>
        <p:nvSpPr>
          <p:cNvPr id="14" name="Text 9"/>
          <p:cNvSpPr txBox="1"/>
          <p:nvPr/>
        </p:nvSpPr>
        <p:spPr>
          <a:xfrm>
            <a:off x="7827264" y="2715768"/>
            <a:ext cx="36576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Shiny.Templates</a:t>
            </a:r>
            <a:endParaRPr lang="en-US" sz="1350" dirty="0"/>
          </a:p>
        </p:txBody>
      </p:sp>
      <p:sp>
        <p:nvSpPr>
          <p:cNvPr id="15" name="Text 10"/>
          <p:cNvSpPr txBox="1"/>
          <p:nvPr/>
        </p:nvSpPr>
        <p:spPr>
          <a:xfrm>
            <a:off x="7827264" y="3008376"/>
            <a:ext cx="3749040" cy="457200"/>
          </a:xfrm>
          <a:prstGeom prst="rect">
            <a:avLst/>
          </a:prstGeom>
          <a:noFill/>
          <a:ln/>
        </p:spPr>
        <p:txBody>
          <a:bodyPr wrap="square" lIns="0" tIns="0" rIns="0" bIns="0" rtlCol="0" anchor="ctr"/>
          <a:lstStyle/>
          <a:p>
            <a:pPr indent="0" marL="0">
              <a:lnSpc>
                <a:spcPts val="1250"/>
              </a:lnSpc>
              <a:buNone/>
            </a:pPr>
            <a:r>
              <a:rPr lang="en-US" sz="1000" dirty="0">
                <a:solidFill>
                  <a:srgbClr val="CBC0FF"/>
                </a:solidFill>
                <a:latin typeface="Calibri" pitchFamily="34" charset="0"/>
                <a:ea typeface="Calibri" pitchFamily="34" charset="-122"/>
                <a:cs typeface="Calibri" pitchFamily="34" charset="-120"/>
              </a:rPr>
              <a:t>dotnet new templates for MAUI, ASP.NET and Blazor projects, pre-wired.</a:t>
            </a:r>
            <a:endParaRPr lang="en-US" sz="1000" dirty="0"/>
          </a:p>
        </p:txBody>
      </p:sp>
      <p:sp>
        <p:nvSpPr>
          <p:cNvPr id="16" name="Shape 11"/>
          <p:cNvSpPr/>
          <p:nvPr/>
        </p:nvSpPr>
        <p:spPr>
          <a:xfrm>
            <a:off x="7040880" y="3685032"/>
            <a:ext cx="4583887" cy="969264"/>
          </a:xfrm>
          <a:prstGeom prst="roundRect">
            <a:avLst>
              <a:gd name="adj" fmla="val 9434"/>
            </a:avLst>
          </a:prstGeom>
          <a:solidFill>
            <a:srgbClr val="3C22A6"/>
          </a:solidFill>
          <a:ln w="12700">
            <a:solidFill>
              <a:srgbClr val="5335C9"/>
            </a:solidFill>
            <a:prstDash val="solid"/>
          </a:ln>
        </p:spPr>
      </p:sp>
      <p:sp>
        <p:nvSpPr>
          <p:cNvPr id="17" name="Shape 12"/>
          <p:cNvSpPr/>
          <p:nvPr/>
        </p:nvSpPr>
        <p:spPr>
          <a:xfrm>
            <a:off x="7296912" y="3858768"/>
            <a:ext cx="384048" cy="384048"/>
          </a:xfrm>
          <a:prstGeom prst="roundRect">
            <a:avLst>
              <a:gd name="adj" fmla="val 66667"/>
            </a:avLst>
          </a:prstGeom>
          <a:solidFill>
            <a:srgbClr val="2BE5A0"/>
          </a:solidFill>
          <a:ln w="12700">
            <a:solidFill>
              <a:srgbClr val="2BE5A0"/>
            </a:solidFill>
            <a:prstDash val="solid"/>
          </a:ln>
        </p:spPr>
      </p:sp>
      <p:pic>
        <p:nvPicPr>
          <p:cNvPr id="18" name="Image 3" descr="preencoded.png">    </p:cNvPr>
          <p:cNvPicPr>
            <a:picLocks noChangeAspect="1"/>
          </p:cNvPicPr>
          <p:nvPr/>
        </p:nvPicPr>
        <p:blipFill>
          <a:blip r:embed="rId4"/>
          <a:stretch>
            <a:fillRect/>
          </a:stretch>
        </p:blipFill>
        <p:spPr>
          <a:xfrm>
            <a:off x="7396764" y="3958620"/>
            <a:ext cx="184343" cy="184343"/>
          </a:xfrm>
          <a:prstGeom prst="rect">
            <a:avLst/>
          </a:prstGeom>
        </p:spPr>
      </p:pic>
      <p:sp>
        <p:nvSpPr>
          <p:cNvPr id="19" name="Text 13"/>
          <p:cNvSpPr txBox="1"/>
          <p:nvPr/>
        </p:nvSpPr>
        <p:spPr>
          <a:xfrm>
            <a:off x="7827264" y="3849624"/>
            <a:ext cx="36576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AI Skills</a:t>
            </a:r>
            <a:endParaRPr lang="en-US" sz="1350" dirty="0"/>
          </a:p>
        </p:txBody>
      </p:sp>
      <p:sp>
        <p:nvSpPr>
          <p:cNvPr id="20" name="Text 14"/>
          <p:cNvSpPr txBox="1"/>
          <p:nvPr/>
        </p:nvSpPr>
        <p:spPr>
          <a:xfrm>
            <a:off x="7827264" y="4142232"/>
            <a:ext cx="3749040" cy="457200"/>
          </a:xfrm>
          <a:prstGeom prst="rect">
            <a:avLst/>
          </a:prstGeom>
          <a:noFill/>
          <a:ln/>
        </p:spPr>
        <p:txBody>
          <a:bodyPr wrap="square" lIns="0" tIns="0" rIns="0" bIns="0" rtlCol="0" anchor="ctr"/>
          <a:lstStyle/>
          <a:p>
            <a:pPr indent="0" marL="0">
              <a:lnSpc>
                <a:spcPts val="1250"/>
              </a:lnSpc>
              <a:buNone/>
            </a:pPr>
            <a:r>
              <a:rPr lang="en-US" sz="1000" dirty="0">
                <a:solidFill>
                  <a:srgbClr val="CBC0FF"/>
                </a:solidFill>
                <a:latin typeface="Calibri" pitchFamily="34" charset="0"/>
                <a:ea typeface="Calibri" pitchFamily="34" charset="-122"/>
                <a:cs typeface="Calibri" pitchFamily="34" charset="-120"/>
              </a:rPr>
              <a:t>Install the skill for each library so Claude Code or Copilot writes it correctly.</a:t>
            </a:r>
            <a:endParaRPr lang="en-US" sz="1000" dirty="0"/>
          </a:p>
        </p:txBody>
      </p:sp>
      <p:sp>
        <p:nvSpPr>
          <p:cNvPr id="21" name="Shape 15"/>
          <p:cNvSpPr/>
          <p:nvPr/>
        </p:nvSpPr>
        <p:spPr>
          <a:xfrm>
            <a:off x="7040880" y="4818888"/>
            <a:ext cx="4583887" cy="969264"/>
          </a:xfrm>
          <a:prstGeom prst="roundRect">
            <a:avLst>
              <a:gd name="adj" fmla="val 9434"/>
            </a:avLst>
          </a:prstGeom>
          <a:solidFill>
            <a:srgbClr val="3C22A6"/>
          </a:solidFill>
          <a:ln w="12700">
            <a:solidFill>
              <a:srgbClr val="5335C9"/>
            </a:solidFill>
            <a:prstDash val="solid"/>
          </a:ln>
        </p:spPr>
      </p:sp>
      <p:sp>
        <p:nvSpPr>
          <p:cNvPr id="22" name="Shape 16"/>
          <p:cNvSpPr/>
          <p:nvPr/>
        </p:nvSpPr>
        <p:spPr>
          <a:xfrm>
            <a:off x="7296912" y="4992624"/>
            <a:ext cx="384048" cy="384048"/>
          </a:xfrm>
          <a:prstGeom prst="roundRect">
            <a:avLst>
              <a:gd name="adj" fmla="val 66667"/>
            </a:avLst>
          </a:prstGeom>
          <a:solidFill>
            <a:srgbClr val="FFFFFF"/>
          </a:solidFill>
          <a:ln w="12700">
            <a:solidFill>
              <a:srgbClr val="FFFFFF"/>
            </a:solidFill>
            <a:prstDash val="solid"/>
          </a:ln>
        </p:spPr>
      </p:sp>
      <p:pic>
        <p:nvPicPr>
          <p:cNvPr id="23" name="Image 4" descr="preencoded.png">    </p:cNvPr>
          <p:cNvPicPr>
            <a:picLocks noChangeAspect="1"/>
          </p:cNvPicPr>
          <p:nvPr/>
        </p:nvPicPr>
        <p:blipFill>
          <a:blip r:embed="rId5"/>
          <a:stretch>
            <a:fillRect/>
          </a:stretch>
        </p:blipFill>
        <p:spPr>
          <a:xfrm>
            <a:off x="7396764" y="5092476"/>
            <a:ext cx="184343" cy="184343"/>
          </a:xfrm>
          <a:prstGeom prst="rect">
            <a:avLst/>
          </a:prstGeom>
        </p:spPr>
      </p:pic>
      <p:sp>
        <p:nvSpPr>
          <p:cNvPr id="24" name="Text 17"/>
          <p:cNvSpPr txBox="1"/>
          <p:nvPr/>
        </p:nvSpPr>
        <p:spPr>
          <a:xfrm>
            <a:off x="7827264" y="4983480"/>
            <a:ext cx="36576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shinylib.net</a:t>
            </a:r>
            <a:endParaRPr lang="en-US" sz="1350" dirty="0"/>
          </a:p>
        </p:txBody>
      </p:sp>
      <p:sp>
        <p:nvSpPr>
          <p:cNvPr id="25" name="Text 18"/>
          <p:cNvSpPr txBox="1"/>
          <p:nvPr/>
        </p:nvSpPr>
        <p:spPr>
          <a:xfrm>
            <a:off x="7827264" y="5276088"/>
            <a:ext cx="3749040" cy="457200"/>
          </a:xfrm>
          <a:prstGeom prst="rect">
            <a:avLst/>
          </a:prstGeom>
          <a:noFill/>
          <a:ln/>
        </p:spPr>
        <p:txBody>
          <a:bodyPr wrap="square" lIns="0" tIns="0" rIns="0" bIns="0" rtlCol="0" anchor="ctr"/>
          <a:lstStyle/>
          <a:p>
            <a:pPr indent="0" marL="0">
              <a:lnSpc>
                <a:spcPts val="1250"/>
              </a:lnSpc>
              <a:buNone/>
            </a:pPr>
            <a:r>
              <a:rPr lang="en-US" sz="1000" dirty="0">
                <a:solidFill>
                  <a:srgbClr val="CBC0FF"/>
                </a:solidFill>
                <a:latin typeface="Calibri" pitchFamily="34" charset="0"/>
                <a:ea typeface="Calibri" pitchFamily="34" charset="-122"/>
                <a:cs typeface="Calibri" pitchFamily="34" charset="-120"/>
              </a:rPr>
              <a:t>Full documentation, samples, release notes and the interactive control gallery.</a:t>
            </a:r>
            <a:endParaRPr lang="en-US" sz="1000" dirty="0"/>
          </a:p>
        </p:txBody>
      </p:sp>
      <p:sp>
        <p:nvSpPr>
          <p:cNvPr id="26" name="Text 19"/>
          <p:cNvSpPr txBox="1"/>
          <p:nvPr/>
        </p:nvSpPr>
        <p:spPr>
          <a:xfrm>
            <a:off x="566928" y="5943600"/>
            <a:ext cx="6400800" cy="310896"/>
          </a:xfrm>
          <a:prstGeom prst="rect">
            <a:avLst/>
          </a:prstGeom>
          <a:noFill/>
          <a:ln/>
        </p:spPr>
        <p:txBody>
          <a:bodyPr wrap="square" lIns="0" tIns="0" rIns="0" bIns="0" rtlCol="0" anchor="ctr"/>
          <a:lstStyle/>
          <a:p>
            <a:pPr indent="0" marL="0">
              <a:buNone/>
            </a:pPr>
            <a:r>
              <a:rPr lang="en-US" sz="1300" b="1" dirty="0">
                <a:solidFill>
                  <a:srgbClr val="CFFA12"/>
                </a:solidFill>
                <a:latin typeface="Calibri" pitchFamily="34" charset="0"/>
                <a:ea typeface="Calibri" pitchFamily="34" charset="-122"/>
                <a:cs typeface="Calibri" pitchFamily="34" charset="-120"/>
              </a:rPr>
              <a:t>shinylib.net   ·   github.com/shinyorg   ·   shinysoft.biz</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BRAND</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palette</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Three hues, in three variants. The pastels come straight off the logo; the vivid variants hold their colour where the pastels wash out, and brighten again on dark.</a:t>
            </a:r>
            <a:endParaRPr lang="en-US" sz="1350" dirty="0"/>
          </a:p>
        </p:txBody>
      </p:sp>
      <p:sp>
        <p:nvSpPr>
          <p:cNvPr id="6" name="Shape 3"/>
          <p:cNvSpPr/>
          <p:nvPr/>
        </p:nvSpPr>
        <p:spPr>
          <a:xfrm>
            <a:off x="566928" y="1810512"/>
            <a:ext cx="3503066" cy="2212848"/>
          </a:xfrm>
          <a:prstGeom prst="roundRect">
            <a:avLst>
              <a:gd name="adj" fmla="val 2893"/>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7" name="Text 4"/>
          <p:cNvSpPr txBox="1"/>
          <p:nvPr/>
        </p:nvSpPr>
        <p:spPr>
          <a:xfrm>
            <a:off x="804672" y="1956816"/>
            <a:ext cx="3027578"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Logo</a:t>
            </a:r>
            <a:endParaRPr lang="en-US" sz="1250" dirty="0"/>
          </a:p>
        </p:txBody>
      </p:sp>
      <p:sp>
        <p:nvSpPr>
          <p:cNvPr id="8" name="Text 5"/>
          <p:cNvSpPr txBox="1"/>
          <p:nvPr/>
        </p:nvSpPr>
        <p:spPr>
          <a:xfrm>
            <a:off x="804672" y="2194560"/>
            <a:ext cx="3027578" cy="201168"/>
          </a:xfrm>
          <a:prstGeom prst="rect">
            <a:avLst/>
          </a:prstGeom>
          <a:noFill/>
          <a:ln/>
        </p:spPr>
        <p:txBody>
          <a:bodyPr wrap="square" lIns="0" tIns="0" rIns="0" bIns="0" rtlCol="0" anchor="ctr"/>
          <a:lstStyle/>
          <a:p>
            <a:pPr indent="0" marL="0">
              <a:buNone/>
            </a:pPr>
            <a:r>
              <a:rPr lang="en-US" sz="950" dirty="0">
                <a:solidFill>
                  <a:srgbClr val="8079A8"/>
                </a:solidFill>
                <a:latin typeface="Calibri" pitchFamily="34" charset="0"/>
                <a:ea typeface="Calibri" pitchFamily="34" charset="-122"/>
                <a:cs typeface="Calibri" pitchFamily="34" charset="-120"/>
              </a:rPr>
              <a:t>Straight off the mark</a:t>
            </a:r>
            <a:endParaRPr lang="en-US" sz="950" dirty="0"/>
          </a:p>
        </p:txBody>
      </p:sp>
      <p:sp>
        <p:nvSpPr>
          <p:cNvPr id="9" name="Shape 6"/>
          <p:cNvSpPr/>
          <p:nvPr/>
        </p:nvSpPr>
        <p:spPr>
          <a:xfrm>
            <a:off x="804672" y="2505456"/>
            <a:ext cx="420624" cy="420624"/>
          </a:xfrm>
          <a:prstGeom prst="roundRect">
            <a:avLst>
              <a:gd name="adj" fmla="val 21739"/>
            </a:avLst>
          </a:prstGeom>
          <a:solidFill>
            <a:srgbClr val="9A81EA"/>
          </a:solidFill>
          <a:ln w="12700">
            <a:solidFill>
              <a:srgbClr val="2E2665"/>
            </a:solidFill>
            <a:prstDash val="solid"/>
          </a:ln>
        </p:spPr>
      </p:sp>
      <p:sp>
        <p:nvSpPr>
          <p:cNvPr id="10" name="Text 7"/>
          <p:cNvSpPr txBox="1"/>
          <p:nvPr/>
        </p:nvSpPr>
        <p:spPr>
          <a:xfrm>
            <a:off x="1335024" y="2523744"/>
            <a:ext cx="2497226"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Purple</a:t>
            </a:r>
            <a:endParaRPr lang="en-US" sz="1050" dirty="0"/>
          </a:p>
        </p:txBody>
      </p:sp>
      <p:sp>
        <p:nvSpPr>
          <p:cNvPr id="11" name="Text 8"/>
          <p:cNvSpPr txBox="1"/>
          <p:nvPr/>
        </p:nvSpPr>
        <p:spPr>
          <a:xfrm>
            <a:off x="1335024" y="2724912"/>
            <a:ext cx="2497226" cy="201168"/>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#9A81EA   --shiny-purple</a:t>
            </a:r>
            <a:endParaRPr lang="en-US" sz="850" dirty="0"/>
          </a:p>
        </p:txBody>
      </p:sp>
      <p:sp>
        <p:nvSpPr>
          <p:cNvPr id="12" name="Shape 9"/>
          <p:cNvSpPr/>
          <p:nvPr/>
        </p:nvSpPr>
        <p:spPr>
          <a:xfrm>
            <a:off x="804672" y="2999232"/>
            <a:ext cx="420624" cy="420624"/>
          </a:xfrm>
          <a:prstGeom prst="roundRect">
            <a:avLst>
              <a:gd name="adj" fmla="val 21739"/>
            </a:avLst>
          </a:prstGeom>
          <a:solidFill>
            <a:srgbClr val="91F5AD"/>
          </a:solidFill>
          <a:ln w="12700">
            <a:solidFill>
              <a:srgbClr val="2E2665"/>
            </a:solidFill>
            <a:prstDash val="solid"/>
          </a:ln>
        </p:spPr>
      </p:sp>
      <p:sp>
        <p:nvSpPr>
          <p:cNvPr id="13" name="Text 10"/>
          <p:cNvSpPr txBox="1"/>
          <p:nvPr/>
        </p:nvSpPr>
        <p:spPr>
          <a:xfrm>
            <a:off x="1335024" y="3017520"/>
            <a:ext cx="2497226"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Green</a:t>
            </a:r>
            <a:endParaRPr lang="en-US" sz="1050" dirty="0"/>
          </a:p>
        </p:txBody>
      </p:sp>
      <p:sp>
        <p:nvSpPr>
          <p:cNvPr id="14" name="Text 11"/>
          <p:cNvSpPr txBox="1"/>
          <p:nvPr/>
        </p:nvSpPr>
        <p:spPr>
          <a:xfrm>
            <a:off x="1335024" y="3218688"/>
            <a:ext cx="2497226" cy="201168"/>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#91F5AD   --shiny-green</a:t>
            </a:r>
            <a:endParaRPr lang="en-US" sz="850" dirty="0"/>
          </a:p>
        </p:txBody>
      </p:sp>
      <p:sp>
        <p:nvSpPr>
          <p:cNvPr id="15" name="Shape 12"/>
          <p:cNvSpPr/>
          <p:nvPr/>
        </p:nvSpPr>
        <p:spPr>
          <a:xfrm>
            <a:off x="804672" y="3493008"/>
            <a:ext cx="420624" cy="420624"/>
          </a:xfrm>
          <a:prstGeom prst="roundRect">
            <a:avLst>
              <a:gd name="adj" fmla="val 21739"/>
            </a:avLst>
          </a:prstGeom>
          <a:solidFill>
            <a:srgbClr val="CFFA12"/>
          </a:solidFill>
          <a:ln w="12700">
            <a:solidFill>
              <a:srgbClr val="2E2665"/>
            </a:solidFill>
            <a:prstDash val="solid"/>
          </a:ln>
        </p:spPr>
      </p:sp>
      <p:sp>
        <p:nvSpPr>
          <p:cNvPr id="16" name="Text 13"/>
          <p:cNvSpPr txBox="1"/>
          <p:nvPr/>
        </p:nvSpPr>
        <p:spPr>
          <a:xfrm>
            <a:off x="1335024" y="3511296"/>
            <a:ext cx="2497226"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Lime</a:t>
            </a:r>
            <a:endParaRPr lang="en-US" sz="1050" dirty="0"/>
          </a:p>
        </p:txBody>
      </p:sp>
      <p:sp>
        <p:nvSpPr>
          <p:cNvPr id="17" name="Text 14"/>
          <p:cNvSpPr txBox="1"/>
          <p:nvPr/>
        </p:nvSpPr>
        <p:spPr>
          <a:xfrm>
            <a:off x="1335024" y="3712464"/>
            <a:ext cx="2497226" cy="201168"/>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#CFFA12   --shiny-lime</a:t>
            </a:r>
            <a:endParaRPr lang="en-US" sz="850" dirty="0"/>
          </a:p>
        </p:txBody>
      </p:sp>
      <p:sp>
        <p:nvSpPr>
          <p:cNvPr id="18" name="Shape 15"/>
          <p:cNvSpPr/>
          <p:nvPr/>
        </p:nvSpPr>
        <p:spPr>
          <a:xfrm>
            <a:off x="4344314" y="1810512"/>
            <a:ext cx="3503066" cy="2212848"/>
          </a:xfrm>
          <a:prstGeom prst="roundRect">
            <a:avLst>
              <a:gd name="adj" fmla="val 2893"/>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9" name="Text 16"/>
          <p:cNvSpPr txBox="1"/>
          <p:nvPr/>
        </p:nvSpPr>
        <p:spPr>
          <a:xfrm>
            <a:off x="4582058" y="1956816"/>
            <a:ext cx="3027578"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Vivid — on light</a:t>
            </a:r>
            <a:endParaRPr lang="en-US" sz="1250" dirty="0"/>
          </a:p>
        </p:txBody>
      </p:sp>
      <p:sp>
        <p:nvSpPr>
          <p:cNvPr id="20" name="Text 17"/>
          <p:cNvSpPr txBox="1"/>
          <p:nvPr/>
        </p:nvSpPr>
        <p:spPr>
          <a:xfrm>
            <a:off x="4582058" y="2194560"/>
            <a:ext cx="3027578" cy="201168"/>
          </a:xfrm>
          <a:prstGeom prst="rect">
            <a:avLst/>
          </a:prstGeom>
          <a:noFill/>
          <a:ln/>
        </p:spPr>
        <p:txBody>
          <a:bodyPr wrap="square" lIns="0" tIns="0" rIns="0" bIns="0" rtlCol="0" anchor="ctr"/>
          <a:lstStyle/>
          <a:p>
            <a:pPr indent="0" marL="0">
              <a:buNone/>
            </a:pPr>
            <a:r>
              <a:rPr lang="en-US" sz="950" dirty="0">
                <a:solidFill>
                  <a:srgbClr val="8079A8"/>
                </a:solidFill>
                <a:latin typeface="Calibri" pitchFamily="34" charset="0"/>
                <a:ea typeface="Calibri" pitchFamily="34" charset="-122"/>
                <a:cs typeface="Calibri" pitchFamily="34" charset="-120"/>
              </a:rPr>
              <a:t>Saturated for contrast</a:t>
            </a:r>
            <a:endParaRPr lang="en-US" sz="950" dirty="0"/>
          </a:p>
        </p:txBody>
      </p:sp>
      <p:sp>
        <p:nvSpPr>
          <p:cNvPr id="21" name="Shape 18"/>
          <p:cNvSpPr/>
          <p:nvPr/>
        </p:nvSpPr>
        <p:spPr>
          <a:xfrm>
            <a:off x="4582058" y="2505456"/>
            <a:ext cx="420624" cy="420624"/>
          </a:xfrm>
          <a:prstGeom prst="roundRect">
            <a:avLst>
              <a:gd name="adj" fmla="val 21739"/>
            </a:avLst>
          </a:prstGeom>
          <a:solidFill>
            <a:srgbClr val="6A3DF0"/>
          </a:solidFill>
          <a:ln w="12700">
            <a:solidFill>
              <a:srgbClr val="2E2665"/>
            </a:solidFill>
            <a:prstDash val="solid"/>
          </a:ln>
        </p:spPr>
      </p:sp>
      <p:sp>
        <p:nvSpPr>
          <p:cNvPr id="22" name="Text 19"/>
          <p:cNvSpPr txBox="1"/>
          <p:nvPr/>
        </p:nvSpPr>
        <p:spPr>
          <a:xfrm>
            <a:off x="5112410" y="2523744"/>
            <a:ext cx="2497226"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Purple Vivid</a:t>
            </a:r>
            <a:endParaRPr lang="en-US" sz="1050" dirty="0"/>
          </a:p>
        </p:txBody>
      </p:sp>
      <p:sp>
        <p:nvSpPr>
          <p:cNvPr id="23" name="Text 20"/>
          <p:cNvSpPr txBox="1"/>
          <p:nvPr/>
        </p:nvSpPr>
        <p:spPr>
          <a:xfrm>
            <a:off x="5112410" y="2724912"/>
            <a:ext cx="2497226" cy="201168"/>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#6A3DF0   --shiny-purple-vivid</a:t>
            </a:r>
            <a:endParaRPr lang="en-US" sz="850" dirty="0"/>
          </a:p>
        </p:txBody>
      </p:sp>
      <p:sp>
        <p:nvSpPr>
          <p:cNvPr id="24" name="Shape 21"/>
          <p:cNvSpPr/>
          <p:nvPr/>
        </p:nvSpPr>
        <p:spPr>
          <a:xfrm>
            <a:off x="4582058" y="2999232"/>
            <a:ext cx="420624" cy="420624"/>
          </a:xfrm>
          <a:prstGeom prst="roundRect">
            <a:avLst>
              <a:gd name="adj" fmla="val 21739"/>
            </a:avLst>
          </a:prstGeom>
          <a:solidFill>
            <a:srgbClr val="0FBF7A"/>
          </a:solidFill>
          <a:ln w="12700">
            <a:solidFill>
              <a:srgbClr val="2E2665"/>
            </a:solidFill>
            <a:prstDash val="solid"/>
          </a:ln>
        </p:spPr>
      </p:sp>
      <p:sp>
        <p:nvSpPr>
          <p:cNvPr id="25" name="Text 22"/>
          <p:cNvSpPr txBox="1"/>
          <p:nvPr/>
        </p:nvSpPr>
        <p:spPr>
          <a:xfrm>
            <a:off x="5112410" y="3017520"/>
            <a:ext cx="2497226"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Green Vivid</a:t>
            </a:r>
            <a:endParaRPr lang="en-US" sz="1050" dirty="0"/>
          </a:p>
        </p:txBody>
      </p:sp>
      <p:sp>
        <p:nvSpPr>
          <p:cNvPr id="26" name="Text 23"/>
          <p:cNvSpPr txBox="1"/>
          <p:nvPr/>
        </p:nvSpPr>
        <p:spPr>
          <a:xfrm>
            <a:off x="5112410" y="3218688"/>
            <a:ext cx="2497226" cy="201168"/>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#0FBF7A   --shiny-green-vivid</a:t>
            </a:r>
            <a:endParaRPr lang="en-US" sz="850" dirty="0"/>
          </a:p>
        </p:txBody>
      </p:sp>
      <p:sp>
        <p:nvSpPr>
          <p:cNvPr id="27" name="Shape 24"/>
          <p:cNvSpPr/>
          <p:nvPr/>
        </p:nvSpPr>
        <p:spPr>
          <a:xfrm>
            <a:off x="4582058" y="3493008"/>
            <a:ext cx="420624" cy="420624"/>
          </a:xfrm>
          <a:prstGeom prst="roundRect">
            <a:avLst>
              <a:gd name="adj" fmla="val 21739"/>
            </a:avLst>
          </a:prstGeom>
          <a:solidFill>
            <a:srgbClr val="A6D900"/>
          </a:solidFill>
          <a:ln w="12700">
            <a:solidFill>
              <a:srgbClr val="2E2665"/>
            </a:solidFill>
            <a:prstDash val="solid"/>
          </a:ln>
        </p:spPr>
      </p:sp>
      <p:sp>
        <p:nvSpPr>
          <p:cNvPr id="28" name="Text 25"/>
          <p:cNvSpPr txBox="1"/>
          <p:nvPr/>
        </p:nvSpPr>
        <p:spPr>
          <a:xfrm>
            <a:off x="5112410" y="3511296"/>
            <a:ext cx="2497226"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Lime Vivid</a:t>
            </a:r>
            <a:endParaRPr lang="en-US" sz="1050" dirty="0"/>
          </a:p>
        </p:txBody>
      </p:sp>
      <p:sp>
        <p:nvSpPr>
          <p:cNvPr id="29" name="Text 26"/>
          <p:cNvSpPr txBox="1"/>
          <p:nvPr/>
        </p:nvSpPr>
        <p:spPr>
          <a:xfrm>
            <a:off x="5112410" y="3712464"/>
            <a:ext cx="2497226" cy="201168"/>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#A6D900   --shiny-lime-vivid</a:t>
            </a:r>
            <a:endParaRPr lang="en-US" sz="850" dirty="0"/>
          </a:p>
        </p:txBody>
      </p:sp>
      <p:sp>
        <p:nvSpPr>
          <p:cNvPr id="30" name="Shape 27"/>
          <p:cNvSpPr/>
          <p:nvPr/>
        </p:nvSpPr>
        <p:spPr>
          <a:xfrm>
            <a:off x="8121701" y="1810512"/>
            <a:ext cx="3503066" cy="2212848"/>
          </a:xfrm>
          <a:prstGeom prst="roundRect">
            <a:avLst>
              <a:gd name="adj" fmla="val 2893"/>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31" name="Text 28"/>
          <p:cNvSpPr txBox="1"/>
          <p:nvPr/>
        </p:nvSpPr>
        <p:spPr>
          <a:xfrm>
            <a:off x="8359445" y="1956816"/>
            <a:ext cx="3027578"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Vivid — on dark</a:t>
            </a:r>
            <a:endParaRPr lang="en-US" sz="1250" dirty="0"/>
          </a:p>
        </p:txBody>
      </p:sp>
      <p:sp>
        <p:nvSpPr>
          <p:cNvPr id="32" name="Text 29"/>
          <p:cNvSpPr txBox="1"/>
          <p:nvPr/>
        </p:nvSpPr>
        <p:spPr>
          <a:xfrm>
            <a:off x="8359445" y="2194560"/>
            <a:ext cx="3027578" cy="201168"/>
          </a:xfrm>
          <a:prstGeom prst="rect">
            <a:avLst/>
          </a:prstGeom>
          <a:noFill/>
          <a:ln/>
        </p:spPr>
        <p:txBody>
          <a:bodyPr wrap="square" lIns="0" tIns="0" rIns="0" bIns="0" rtlCol="0" anchor="ctr"/>
          <a:lstStyle/>
          <a:p>
            <a:pPr indent="0" marL="0">
              <a:buNone/>
            </a:pPr>
            <a:r>
              <a:rPr lang="en-US" sz="950" dirty="0">
                <a:solidFill>
                  <a:srgbClr val="8079A8"/>
                </a:solidFill>
                <a:latin typeface="Calibri" pitchFamily="34" charset="0"/>
                <a:ea typeface="Calibri" pitchFamily="34" charset="-122"/>
                <a:cs typeface="Calibri" pitchFamily="34" charset="-120"/>
              </a:rPr>
              <a:t>What this deck draws with</a:t>
            </a:r>
            <a:endParaRPr lang="en-US" sz="950" dirty="0"/>
          </a:p>
        </p:txBody>
      </p:sp>
      <p:sp>
        <p:nvSpPr>
          <p:cNvPr id="33" name="Shape 30"/>
          <p:cNvSpPr/>
          <p:nvPr/>
        </p:nvSpPr>
        <p:spPr>
          <a:xfrm>
            <a:off x="8359445" y="2505456"/>
            <a:ext cx="420624" cy="420624"/>
          </a:xfrm>
          <a:prstGeom prst="roundRect">
            <a:avLst>
              <a:gd name="adj" fmla="val 21739"/>
            </a:avLst>
          </a:prstGeom>
          <a:solidFill>
            <a:srgbClr val="9B7BFF"/>
          </a:solidFill>
          <a:ln w="12700">
            <a:solidFill>
              <a:srgbClr val="2E2665"/>
            </a:solidFill>
            <a:prstDash val="solid"/>
          </a:ln>
        </p:spPr>
      </p:sp>
      <p:sp>
        <p:nvSpPr>
          <p:cNvPr id="34" name="Text 31"/>
          <p:cNvSpPr txBox="1"/>
          <p:nvPr/>
        </p:nvSpPr>
        <p:spPr>
          <a:xfrm>
            <a:off x="8889797" y="2523744"/>
            <a:ext cx="2497226"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Purple Vivid</a:t>
            </a:r>
            <a:endParaRPr lang="en-US" sz="1050" dirty="0"/>
          </a:p>
        </p:txBody>
      </p:sp>
      <p:sp>
        <p:nvSpPr>
          <p:cNvPr id="35" name="Text 32"/>
          <p:cNvSpPr txBox="1"/>
          <p:nvPr/>
        </p:nvSpPr>
        <p:spPr>
          <a:xfrm>
            <a:off x="8889797" y="2724912"/>
            <a:ext cx="2497226" cy="201168"/>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#9B7BFF   --shiny-purple-vivid</a:t>
            </a:r>
            <a:endParaRPr lang="en-US" sz="850" dirty="0"/>
          </a:p>
        </p:txBody>
      </p:sp>
      <p:sp>
        <p:nvSpPr>
          <p:cNvPr id="36" name="Shape 33"/>
          <p:cNvSpPr/>
          <p:nvPr/>
        </p:nvSpPr>
        <p:spPr>
          <a:xfrm>
            <a:off x="8359445" y="2999232"/>
            <a:ext cx="420624" cy="420624"/>
          </a:xfrm>
          <a:prstGeom prst="roundRect">
            <a:avLst>
              <a:gd name="adj" fmla="val 21739"/>
            </a:avLst>
          </a:prstGeom>
          <a:solidFill>
            <a:srgbClr val="2BE5A0"/>
          </a:solidFill>
          <a:ln w="12700">
            <a:solidFill>
              <a:srgbClr val="2E2665"/>
            </a:solidFill>
            <a:prstDash val="solid"/>
          </a:ln>
        </p:spPr>
      </p:sp>
      <p:sp>
        <p:nvSpPr>
          <p:cNvPr id="37" name="Text 34"/>
          <p:cNvSpPr txBox="1"/>
          <p:nvPr/>
        </p:nvSpPr>
        <p:spPr>
          <a:xfrm>
            <a:off x="8889797" y="3017520"/>
            <a:ext cx="2497226"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Green Vivid</a:t>
            </a:r>
            <a:endParaRPr lang="en-US" sz="1050" dirty="0"/>
          </a:p>
        </p:txBody>
      </p:sp>
      <p:sp>
        <p:nvSpPr>
          <p:cNvPr id="38" name="Text 35"/>
          <p:cNvSpPr txBox="1"/>
          <p:nvPr/>
        </p:nvSpPr>
        <p:spPr>
          <a:xfrm>
            <a:off x="8889797" y="3218688"/>
            <a:ext cx="2497226" cy="201168"/>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#2BE5A0   --shiny-green-vivid</a:t>
            </a:r>
            <a:endParaRPr lang="en-US" sz="850" dirty="0"/>
          </a:p>
        </p:txBody>
      </p:sp>
      <p:sp>
        <p:nvSpPr>
          <p:cNvPr id="39" name="Shape 36"/>
          <p:cNvSpPr/>
          <p:nvPr/>
        </p:nvSpPr>
        <p:spPr>
          <a:xfrm>
            <a:off x="8359445" y="3493008"/>
            <a:ext cx="420624" cy="420624"/>
          </a:xfrm>
          <a:prstGeom prst="roundRect">
            <a:avLst>
              <a:gd name="adj" fmla="val 21739"/>
            </a:avLst>
          </a:prstGeom>
          <a:solidFill>
            <a:srgbClr val="CFFA12"/>
          </a:solidFill>
          <a:ln w="12700">
            <a:solidFill>
              <a:srgbClr val="2E2665"/>
            </a:solidFill>
            <a:prstDash val="solid"/>
          </a:ln>
        </p:spPr>
      </p:sp>
      <p:sp>
        <p:nvSpPr>
          <p:cNvPr id="40" name="Text 37"/>
          <p:cNvSpPr txBox="1"/>
          <p:nvPr/>
        </p:nvSpPr>
        <p:spPr>
          <a:xfrm>
            <a:off x="8889797" y="3511296"/>
            <a:ext cx="2497226" cy="20116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Lime Vivid</a:t>
            </a:r>
            <a:endParaRPr lang="en-US" sz="1050" dirty="0"/>
          </a:p>
        </p:txBody>
      </p:sp>
      <p:sp>
        <p:nvSpPr>
          <p:cNvPr id="41" name="Text 38"/>
          <p:cNvSpPr txBox="1"/>
          <p:nvPr/>
        </p:nvSpPr>
        <p:spPr>
          <a:xfrm>
            <a:off x="8889797" y="3712464"/>
            <a:ext cx="2497226" cy="201168"/>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#CFFA12   --shiny-lime-vivid</a:t>
            </a:r>
            <a:endParaRPr lang="en-US" sz="850" dirty="0"/>
          </a:p>
        </p:txBody>
      </p:sp>
      <p:sp>
        <p:nvSpPr>
          <p:cNvPr id="42" name="Shape 39"/>
          <p:cNvSpPr/>
          <p:nvPr/>
        </p:nvSpPr>
        <p:spPr>
          <a:xfrm>
            <a:off x="566928" y="4224528"/>
            <a:ext cx="11057839" cy="1792224"/>
          </a:xfrm>
          <a:prstGeom prst="roundRect">
            <a:avLst>
              <a:gd name="adj" fmla="val 3571"/>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43" name="Text 40"/>
          <p:cNvSpPr txBox="1"/>
          <p:nvPr/>
        </p:nvSpPr>
        <p:spPr>
          <a:xfrm>
            <a:off x="841248" y="4370832"/>
            <a:ext cx="10509199" cy="23774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Surfaces &amp; type — the dark canvas this deck and the social card share</a:t>
            </a:r>
            <a:endParaRPr lang="en-US" sz="1250" dirty="0"/>
          </a:p>
        </p:txBody>
      </p:sp>
      <p:sp>
        <p:nvSpPr>
          <p:cNvPr id="44" name="Shape 41"/>
          <p:cNvSpPr/>
          <p:nvPr/>
        </p:nvSpPr>
        <p:spPr>
          <a:xfrm>
            <a:off x="841248" y="4754880"/>
            <a:ext cx="1568653" cy="548640"/>
          </a:xfrm>
          <a:prstGeom prst="roundRect">
            <a:avLst>
              <a:gd name="adj" fmla="val 13333"/>
            </a:avLst>
          </a:prstGeom>
          <a:solidFill>
            <a:srgbClr val="0B0918"/>
          </a:solidFill>
          <a:ln w="12700">
            <a:solidFill>
              <a:srgbClr val="2E2665"/>
            </a:solidFill>
            <a:prstDash val="solid"/>
          </a:ln>
        </p:spPr>
      </p:sp>
      <p:sp>
        <p:nvSpPr>
          <p:cNvPr id="45" name="Text 42"/>
          <p:cNvSpPr txBox="1"/>
          <p:nvPr/>
        </p:nvSpPr>
        <p:spPr>
          <a:xfrm>
            <a:off x="841248" y="5376672"/>
            <a:ext cx="1568653"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Ink</a:t>
            </a:r>
            <a:endParaRPr lang="en-US" sz="1000" dirty="0"/>
          </a:p>
        </p:txBody>
      </p:sp>
      <p:sp>
        <p:nvSpPr>
          <p:cNvPr id="46" name="Text 43"/>
          <p:cNvSpPr txBox="1"/>
          <p:nvPr/>
        </p:nvSpPr>
        <p:spPr>
          <a:xfrm>
            <a:off x="841248" y="5568696"/>
            <a:ext cx="1568653" cy="182880"/>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#0B0918</a:t>
            </a:r>
            <a:endParaRPr lang="en-US" sz="850" dirty="0"/>
          </a:p>
        </p:txBody>
      </p:sp>
      <p:sp>
        <p:nvSpPr>
          <p:cNvPr id="47" name="Text 44"/>
          <p:cNvSpPr txBox="1"/>
          <p:nvPr/>
        </p:nvSpPr>
        <p:spPr>
          <a:xfrm>
            <a:off x="841248" y="5742432"/>
            <a:ext cx="1568653" cy="219456"/>
          </a:xfrm>
          <a:prstGeom prst="rect">
            <a:avLst/>
          </a:prstGeom>
          <a:noFill/>
          <a:ln/>
        </p:spPr>
        <p:txBody>
          <a:bodyPr wrap="square" lIns="0" tIns="0" rIns="0" bIns="0" rtlCol="0" anchor="ctr"/>
          <a:lstStyle/>
          <a:p>
            <a:pPr indent="0" marL="0">
              <a:buNone/>
            </a:pPr>
            <a:r>
              <a:rPr lang="en-US" sz="850" dirty="0">
                <a:solidFill>
                  <a:srgbClr val="8079A8"/>
                </a:solidFill>
                <a:latin typeface="Calibri" pitchFamily="34" charset="0"/>
                <a:ea typeface="Calibri" pitchFamily="34" charset="-122"/>
                <a:cs typeface="Calibri" pitchFamily="34" charset="-120"/>
              </a:rPr>
              <a:t>Slide / card ground</a:t>
            </a:r>
            <a:endParaRPr lang="en-US" sz="850" dirty="0"/>
          </a:p>
        </p:txBody>
      </p:sp>
      <p:sp>
        <p:nvSpPr>
          <p:cNvPr id="48" name="Shape 45"/>
          <p:cNvSpPr/>
          <p:nvPr/>
        </p:nvSpPr>
        <p:spPr>
          <a:xfrm>
            <a:off x="2592781" y="4754880"/>
            <a:ext cx="1568653" cy="548640"/>
          </a:xfrm>
          <a:prstGeom prst="roundRect">
            <a:avLst>
              <a:gd name="adj" fmla="val 13333"/>
            </a:avLst>
          </a:prstGeom>
          <a:solidFill>
            <a:srgbClr val="19143C"/>
          </a:solidFill>
          <a:ln w="12700">
            <a:solidFill>
              <a:srgbClr val="2E2665"/>
            </a:solidFill>
            <a:prstDash val="solid"/>
          </a:ln>
        </p:spPr>
      </p:sp>
      <p:sp>
        <p:nvSpPr>
          <p:cNvPr id="49" name="Text 46"/>
          <p:cNvSpPr txBox="1"/>
          <p:nvPr/>
        </p:nvSpPr>
        <p:spPr>
          <a:xfrm>
            <a:off x="2592781" y="5376672"/>
            <a:ext cx="1568653"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Card</a:t>
            </a:r>
            <a:endParaRPr lang="en-US" sz="1000" dirty="0"/>
          </a:p>
        </p:txBody>
      </p:sp>
      <p:sp>
        <p:nvSpPr>
          <p:cNvPr id="50" name="Text 47"/>
          <p:cNvSpPr txBox="1"/>
          <p:nvPr/>
        </p:nvSpPr>
        <p:spPr>
          <a:xfrm>
            <a:off x="2592781" y="5568696"/>
            <a:ext cx="1568653" cy="182880"/>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#19143C</a:t>
            </a:r>
            <a:endParaRPr lang="en-US" sz="850" dirty="0"/>
          </a:p>
        </p:txBody>
      </p:sp>
      <p:sp>
        <p:nvSpPr>
          <p:cNvPr id="51" name="Text 48"/>
          <p:cNvSpPr txBox="1"/>
          <p:nvPr/>
        </p:nvSpPr>
        <p:spPr>
          <a:xfrm>
            <a:off x="2592781" y="5742432"/>
            <a:ext cx="1568653" cy="219456"/>
          </a:xfrm>
          <a:prstGeom prst="rect">
            <a:avLst/>
          </a:prstGeom>
          <a:noFill/>
          <a:ln/>
        </p:spPr>
        <p:txBody>
          <a:bodyPr wrap="square" lIns="0" tIns="0" rIns="0" bIns="0" rtlCol="0" anchor="ctr"/>
          <a:lstStyle/>
          <a:p>
            <a:pPr indent="0" marL="0">
              <a:buNone/>
            </a:pPr>
            <a:r>
              <a:rPr lang="en-US" sz="850" dirty="0">
                <a:solidFill>
                  <a:srgbClr val="8079A8"/>
                </a:solidFill>
                <a:latin typeface="Calibri" pitchFamily="34" charset="0"/>
                <a:ea typeface="Calibri" pitchFamily="34" charset="-122"/>
                <a:cs typeface="Calibri" pitchFamily="34" charset="-120"/>
              </a:rPr>
              <a:t>Panel on ink</a:t>
            </a:r>
            <a:endParaRPr lang="en-US" sz="850" dirty="0"/>
          </a:p>
        </p:txBody>
      </p:sp>
      <p:sp>
        <p:nvSpPr>
          <p:cNvPr id="52" name="Shape 49"/>
          <p:cNvSpPr/>
          <p:nvPr/>
        </p:nvSpPr>
        <p:spPr>
          <a:xfrm>
            <a:off x="4344314" y="4754880"/>
            <a:ext cx="1568653" cy="548640"/>
          </a:xfrm>
          <a:prstGeom prst="roundRect">
            <a:avLst>
              <a:gd name="adj" fmla="val 13333"/>
            </a:avLst>
          </a:prstGeom>
          <a:solidFill>
            <a:srgbClr val="221A52"/>
          </a:solidFill>
          <a:ln w="12700">
            <a:solidFill>
              <a:srgbClr val="2E2665"/>
            </a:solidFill>
            <a:prstDash val="solid"/>
          </a:ln>
        </p:spPr>
      </p:sp>
      <p:sp>
        <p:nvSpPr>
          <p:cNvPr id="53" name="Text 50"/>
          <p:cNvSpPr txBox="1"/>
          <p:nvPr/>
        </p:nvSpPr>
        <p:spPr>
          <a:xfrm>
            <a:off x="4344314" y="5376672"/>
            <a:ext cx="1568653"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Card raised</a:t>
            </a:r>
            <a:endParaRPr lang="en-US" sz="1000" dirty="0"/>
          </a:p>
        </p:txBody>
      </p:sp>
      <p:sp>
        <p:nvSpPr>
          <p:cNvPr id="54" name="Text 51"/>
          <p:cNvSpPr txBox="1"/>
          <p:nvPr/>
        </p:nvSpPr>
        <p:spPr>
          <a:xfrm>
            <a:off x="4344314" y="5568696"/>
            <a:ext cx="1568653" cy="182880"/>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#221A52</a:t>
            </a:r>
            <a:endParaRPr lang="en-US" sz="850" dirty="0"/>
          </a:p>
        </p:txBody>
      </p:sp>
      <p:sp>
        <p:nvSpPr>
          <p:cNvPr id="55" name="Text 52"/>
          <p:cNvSpPr txBox="1"/>
          <p:nvPr/>
        </p:nvSpPr>
        <p:spPr>
          <a:xfrm>
            <a:off x="4344314" y="5742432"/>
            <a:ext cx="1568653" cy="219456"/>
          </a:xfrm>
          <a:prstGeom prst="rect">
            <a:avLst/>
          </a:prstGeom>
          <a:noFill/>
          <a:ln/>
        </p:spPr>
        <p:txBody>
          <a:bodyPr wrap="square" lIns="0" tIns="0" rIns="0" bIns="0" rtlCol="0" anchor="ctr"/>
          <a:lstStyle/>
          <a:p>
            <a:pPr indent="0" marL="0">
              <a:buNone/>
            </a:pPr>
            <a:r>
              <a:rPr lang="en-US" sz="850" dirty="0">
                <a:solidFill>
                  <a:srgbClr val="8079A8"/>
                </a:solidFill>
                <a:latin typeface="Calibri" pitchFamily="34" charset="0"/>
                <a:ea typeface="Calibri" pitchFamily="34" charset="-122"/>
                <a:cs typeface="Calibri" pitchFamily="34" charset="-120"/>
              </a:rPr>
              <a:t>Lifted panel</a:t>
            </a:r>
            <a:endParaRPr lang="en-US" sz="850" dirty="0"/>
          </a:p>
        </p:txBody>
      </p:sp>
      <p:sp>
        <p:nvSpPr>
          <p:cNvPr id="56" name="Shape 53"/>
          <p:cNvSpPr/>
          <p:nvPr/>
        </p:nvSpPr>
        <p:spPr>
          <a:xfrm>
            <a:off x="6095848" y="4754880"/>
            <a:ext cx="1568653" cy="548640"/>
          </a:xfrm>
          <a:prstGeom prst="roundRect">
            <a:avLst>
              <a:gd name="adj" fmla="val 13333"/>
            </a:avLst>
          </a:prstGeom>
          <a:solidFill>
            <a:srgbClr val="2E2665"/>
          </a:solidFill>
          <a:ln w="12700">
            <a:solidFill>
              <a:srgbClr val="2E2665"/>
            </a:solidFill>
            <a:prstDash val="solid"/>
          </a:ln>
        </p:spPr>
      </p:sp>
      <p:sp>
        <p:nvSpPr>
          <p:cNvPr id="57" name="Text 54"/>
          <p:cNvSpPr txBox="1"/>
          <p:nvPr/>
        </p:nvSpPr>
        <p:spPr>
          <a:xfrm>
            <a:off x="6095848" y="5376672"/>
            <a:ext cx="1568653"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Hairline</a:t>
            </a:r>
            <a:endParaRPr lang="en-US" sz="1000" dirty="0"/>
          </a:p>
        </p:txBody>
      </p:sp>
      <p:sp>
        <p:nvSpPr>
          <p:cNvPr id="58" name="Text 55"/>
          <p:cNvSpPr txBox="1"/>
          <p:nvPr/>
        </p:nvSpPr>
        <p:spPr>
          <a:xfrm>
            <a:off x="6095848" y="5568696"/>
            <a:ext cx="1568653" cy="182880"/>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#2E2665</a:t>
            </a:r>
            <a:endParaRPr lang="en-US" sz="850" dirty="0"/>
          </a:p>
        </p:txBody>
      </p:sp>
      <p:sp>
        <p:nvSpPr>
          <p:cNvPr id="59" name="Text 56"/>
          <p:cNvSpPr txBox="1"/>
          <p:nvPr/>
        </p:nvSpPr>
        <p:spPr>
          <a:xfrm>
            <a:off x="6095848" y="5742432"/>
            <a:ext cx="1568653" cy="219456"/>
          </a:xfrm>
          <a:prstGeom prst="rect">
            <a:avLst/>
          </a:prstGeom>
          <a:noFill/>
          <a:ln/>
        </p:spPr>
        <p:txBody>
          <a:bodyPr wrap="square" lIns="0" tIns="0" rIns="0" bIns="0" rtlCol="0" anchor="ctr"/>
          <a:lstStyle/>
          <a:p>
            <a:pPr indent="0" marL="0">
              <a:buNone/>
            </a:pPr>
            <a:r>
              <a:rPr lang="en-US" sz="850" dirty="0">
                <a:solidFill>
                  <a:srgbClr val="8079A8"/>
                </a:solidFill>
                <a:latin typeface="Calibri" pitchFamily="34" charset="0"/>
                <a:ea typeface="Calibri" pitchFamily="34" charset="-122"/>
                <a:cs typeface="Calibri" pitchFamily="34" charset="-120"/>
              </a:rPr>
              <a:t>Borders</a:t>
            </a:r>
            <a:endParaRPr lang="en-US" sz="850" dirty="0"/>
          </a:p>
        </p:txBody>
      </p:sp>
      <p:sp>
        <p:nvSpPr>
          <p:cNvPr id="60" name="Shape 57"/>
          <p:cNvSpPr/>
          <p:nvPr/>
        </p:nvSpPr>
        <p:spPr>
          <a:xfrm>
            <a:off x="7847381" y="4754880"/>
            <a:ext cx="1568653" cy="548640"/>
          </a:xfrm>
          <a:prstGeom prst="roundRect">
            <a:avLst>
              <a:gd name="adj" fmla="val 13333"/>
            </a:avLst>
          </a:prstGeom>
          <a:solidFill>
            <a:srgbClr val="2A1580"/>
          </a:solidFill>
          <a:ln w="12700">
            <a:solidFill>
              <a:srgbClr val="2E2665"/>
            </a:solidFill>
            <a:prstDash val="solid"/>
          </a:ln>
        </p:spPr>
      </p:sp>
      <p:sp>
        <p:nvSpPr>
          <p:cNvPr id="61" name="Text 58"/>
          <p:cNvSpPr txBox="1"/>
          <p:nvPr/>
        </p:nvSpPr>
        <p:spPr>
          <a:xfrm>
            <a:off x="7847381" y="5376672"/>
            <a:ext cx="1568653"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Deep</a:t>
            </a:r>
            <a:endParaRPr lang="en-US" sz="1000" dirty="0"/>
          </a:p>
        </p:txBody>
      </p:sp>
      <p:sp>
        <p:nvSpPr>
          <p:cNvPr id="62" name="Text 59"/>
          <p:cNvSpPr txBox="1"/>
          <p:nvPr/>
        </p:nvSpPr>
        <p:spPr>
          <a:xfrm>
            <a:off x="7847381" y="5568696"/>
            <a:ext cx="1568653" cy="182880"/>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#2A1580</a:t>
            </a:r>
            <a:endParaRPr lang="en-US" sz="850" dirty="0"/>
          </a:p>
        </p:txBody>
      </p:sp>
      <p:sp>
        <p:nvSpPr>
          <p:cNvPr id="63" name="Text 60"/>
          <p:cNvSpPr txBox="1"/>
          <p:nvPr/>
        </p:nvSpPr>
        <p:spPr>
          <a:xfrm>
            <a:off x="7847381" y="5742432"/>
            <a:ext cx="1568653" cy="219456"/>
          </a:xfrm>
          <a:prstGeom prst="rect">
            <a:avLst/>
          </a:prstGeom>
          <a:noFill/>
          <a:ln/>
        </p:spPr>
        <p:txBody>
          <a:bodyPr wrap="square" lIns="0" tIns="0" rIns="0" bIns="0" rtlCol="0" anchor="ctr"/>
          <a:lstStyle/>
          <a:p>
            <a:pPr indent="0" marL="0">
              <a:buNone/>
            </a:pPr>
            <a:r>
              <a:rPr lang="en-US" sz="850" dirty="0">
                <a:solidFill>
                  <a:srgbClr val="8079A8"/>
                </a:solidFill>
                <a:latin typeface="Calibri" pitchFamily="34" charset="0"/>
                <a:ea typeface="Calibri" pitchFamily="34" charset="-122"/>
                <a:cs typeface="Calibri" pitchFamily="34" charset="-120"/>
              </a:rPr>
              <a:t>Section divider ground</a:t>
            </a:r>
            <a:endParaRPr lang="en-US" sz="850" dirty="0"/>
          </a:p>
        </p:txBody>
      </p:sp>
      <p:sp>
        <p:nvSpPr>
          <p:cNvPr id="64" name="Shape 61"/>
          <p:cNvSpPr/>
          <p:nvPr/>
        </p:nvSpPr>
        <p:spPr>
          <a:xfrm>
            <a:off x="9598914" y="4754880"/>
            <a:ext cx="1568653" cy="548640"/>
          </a:xfrm>
          <a:prstGeom prst="roundRect">
            <a:avLst>
              <a:gd name="adj" fmla="val 13333"/>
            </a:avLst>
          </a:prstGeom>
          <a:solidFill>
            <a:srgbClr val="AFA8CE"/>
          </a:solidFill>
          <a:ln w="12700">
            <a:solidFill>
              <a:srgbClr val="2E2665"/>
            </a:solidFill>
            <a:prstDash val="solid"/>
          </a:ln>
        </p:spPr>
      </p:sp>
      <p:sp>
        <p:nvSpPr>
          <p:cNvPr id="65" name="Text 62"/>
          <p:cNvSpPr txBox="1"/>
          <p:nvPr/>
        </p:nvSpPr>
        <p:spPr>
          <a:xfrm>
            <a:off x="9598914" y="5376672"/>
            <a:ext cx="1568653" cy="20116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Muted</a:t>
            </a:r>
            <a:endParaRPr lang="en-US" sz="1000" dirty="0"/>
          </a:p>
        </p:txBody>
      </p:sp>
      <p:sp>
        <p:nvSpPr>
          <p:cNvPr id="66" name="Text 63"/>
          <p:cNvSpPr txBox="1"/>
          <p:nvPr/>
        </p:nvSpPr>
        <p:spPr>
          <a:xfrm>
            <a:off x="9598914" y="5568696"/>
            <a:ext cx="1568653" cy="182880"/>
          </a:xfrm>
          <a:prstGeom prst="rect">
            <a:avLst/>
          </a:prstGeom>
          <a:noFill/>
          <a:ln/>
        </p:spPr>
        <p:txBody>
          <a:bodyPr wrap="square" lIns="0" tIns="0" rIns="0" bIns="0" rtlCol="0" anchor="ctr"/>
          <a:lstStyle/>
          <a:p>
            <a:pPr indent="0" marL="0">
              <a:buNone/>
            </a:pPr>
            <a:r>
              <a:rPr lang="en-US" sz="850" dirty="0">
                <a:solidFill>
                  <a:srgbClr val="8079A8"/>
                </a:solidFill>
                <a:latin typeface="Courier New" pitchFamily="34" charset="0"/>
                <a:ea typeface="Courier New" pitchFamily="34" charset="-122"/>
                <a:cs typeface="Courier New" pitchFamily="34" charset="-120"/>
              </a:rPr>
              <a:t>#AFA8CE</a:t>
            </a:r>
            <a:endParaRPr lang="en-US" sz="850" dirty="0"/>
          </a:p>
        </p:txBody>
      </p:sp>
      <p:sp>
        <p:nvSpPr>
          <p:cNvPr id="67" name="Text 64"/>
          <p:cNvSpPr txBox="1"/>
          <p:nvPr/>
        </p:nvSpPr>
        <p:spPr>
          <a:xfrm>
            <a:off x="9598914" y="5742432"/>
            <a:ext cx="1568653" cy="219456"/>
          </a:xfrm>
          <a:prstGeom prst="rect">
            <a:avLst/>
          </a:prstGeom>
          <a:noFill/>
          <a:ln/>
        </p:spPr>
        <p:txBody>
          <a:bodyPr wrap="square" lIns="0" tIns="0" rIns="0" bIns="0" rtlCol="0" anchor="ctr"/>
          <a:lstStyle/>
          <a:p>
            <a:pPr indent="0" marL="0">
              <a:buNone/>
            </a:pPr>
            <a:r>
              <a:rPr lang="en-US" sz="850" dirty="0">
                <a:solidFill>
                  <a:srgbClr val="8079A8"/>
                </a:solidFill>
                <a:latin typeface="Calibri" pitchFamily="34" charset="0"/>
                <a:ea typeface="Calibri" pitchFamily="34" charset="-122"/>
                <a:cs typeface="Calibri" pitchFamily="34" charset="-120"/>
              </a:rPr>
              <a:t>Body copy on ink</a:t>
            </a:r>
            <a:endParaRPr lang="en-US" sz="850" dirty="0"/>
          </a:p>
        </p:txBody>
      </p:sp>
      <p:sp>
        <p:nvSpPr>
          <p:cNvPr id="68" name="Text 65"/>
          <p:cNvSpPr txBox="1"/>
          <p:nvPr/>
        </p:nvSpPr>
        <p:spPr>
          <a:xfrm>
            <a:off x="566928" y="6199632"/>
            <a:ext cx="11057839" cy="274320"/>
          </a:xfrm>
          <a:prstGeom prst="rect">
            <a:avLst/>
          </a:prstGeom>
          <a:noFill/>
          <a:ln/>
        </p:spPr>
        <p:txBody>
          <a:bodyPr wrap="square" lIns="0" tIns="0" rIns="0" bIns="0" rtlCol="0" anchor="ctr"/>
          <a:lstStyle/>
          <a:p>
            <a:pPr indent="0" marL="0">
              <a:buNone/>
            </a:pPr>
            <a:r>
              <a:rPr lang="en-US" sz="1000" dirty="0">
                <a:solidFill>
                  <a:srgbClr val="8079A8"/>
                </a:solidFill>
                <a:latin typeface="Calibri" pitchFamily="34" charset="0"/>
                <a:ea typeface="Calibri" pitchFamily="34" charset="-122"/>
                <a:cs typeface="Calibri" pitchFamily="34" charset="-120"/>
              </a:rPr>
              <a:t>Defined as CSS custom properties in src/styles/custom.css — the vivid tokens swap value between light and dark, so everything built on them follows the theme automatically.</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BRAND</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gradients</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Purple to green to lime, at a handful of fixed angles. The three-stop ramp is the signature — it runs under the header, through the wordmark and across the social card.</a:t>
            </a:r>
            <a:endParaRPr lang="en-US" sz="1350" dirty="0"/>
          </a:p>
        </p:txBody>
      </p:sp>
      <p:sp>
        <p:nvSpPr>
          <p:cNvPr id="6" name="Shape 3"/>
          <p:cNvSpPr/>
          <p:nvPr/>
        </p:nvSpPr>
        <p:spPr>
          <a:xfrm>
            <a:off x="566928" y="1810512"/>
            <a:ext cx="11057839" cy="804672"/>
          </a:xfrm>
          <a:prstGeom prst="roundRect">
            <a:avLst>
              <a:gd name="adj" fmla="val 7955"/>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pic>
        <p:nvPicPr>
          <p:cNvPr id="7" name="Image 1" descr="preencoded.png">    </p:cNvPr>
          <p:cNvPicPr>
            <a:picLocks noChangeAspect="1"/>
          </p:cNvPicPr>
          <p:nvPr/>
        </p:nvPicPr>
        <p:blipFill>
          <a:blip r:embed="rId2"/>
          <a:stretch>
            <a:fillRect/>
          </a:stretch>
        </p:blipFill>
        <p:spPr>
          <a:xfrm>
            <a:off x="804672" y="2002536"/>
            <a:ext cx="2743200" cy="420624"/>
          </a:xfrm>
          <a:prstGeom prst="rect">
            <a:avLst/>
          </a:prstGeom>
        </p:spPr>
      </p:pic>
      <p:sp>
        <p:nvSpPr>
          <p:cNvPr id="8" name="Text 4"/>
          <p:cNvSpPr txBox="1"/>
          <p:nvPr/>
        </p:nvSpPr>
        <p:spPr>
          <a:xfrm>
            <a:off x="3730752" y="1965960"/>
            <a:ext cx="31089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Brand ramp</a:t>
            </a:r>
            <a:endParaRPr lang="en-US" sz="1300" dirty="0"/>
          </a:p>
        </p:txBody>
      </p:sp>
      <p:sp>
        <p:nvSpPr>
          <p:cNvPr id="9" name="Text 5"/>
          <p:cNvSpPr txBox="1"/>
          <p:nvPr/>
        </p:nvSpPr>
        <p:spPr>
          <a:xfrm>
            <a:off x="3730752" y="2221992"/>
            <a:ext cx="3657600" cy="274320"/>
          </a:xfrm>
          <a:prstGeom prst="rect">
            <a:avLst/>
          </a:prstGeom>
          <a:noFill/>
          <a:ln/>
        </p:spPr>
        <p:txBody>
          <a:bodyPr wrap="square" lIns="0" tIns="0" rIns="0" bIns="0" rtlCol="0" anchor="ctr"/>
          <a:lstStyle/>
          <a:p>
            <a:pPr indent="0" marL="0">
              <a:buNone/>
            </a:pPr>
            <a:r>
              <a:rPr lang="en-US" sz="950" dirty="0">
                <a:solidFill>
                  <a:srgbClr val="AFA8CE"/>
                </a:solidFill>
                <a:latin typeface="Calibri" pitchFamily="34" charset="0"/>
                <a:ea typeface="Calibri" pitchFamily="34" charset="-122"/>
                <a:cs typeface="Calibri" pitchFamily="34" charset="-120"/>
              </a:rPr>
              <a:t>Site title, header underline, hero headline, social card rule</a:t>
            </a:r>
            <a:endParaRPr lang="en-US" sz="950" dirty="0"/>
          </a:p>
        </p:txBody>
      </p:sp>
      <p:sp>
        <p:nvSpPr>
          <p:cNvPr id="10" name="Text 6"/>
          <p:cNvSpPr txBox="1"/>
          <p:nvPr/>
        </p:nvSpPr>
        <p:spPr>
          <a:xfrm>
            <a:off x="7692847" y="1965960"/>
            <a:ext cx="731520" cy="237744"/>
          </a:xfrm>
          <a:prstGeom prst="rect">
            <a:avLst/>
          </a:prstGeom>
          <a:noFill/>
          <a:ln/>
        </p:spPr>
        <p:txBody>
          <a:bodyPr wrap="square" lIns="0" tIns="0" rIns="0" bIns="0" rtlCol="0" anchor="ctr"/>
          <a:lstStyle/>
          <a:p>
            <a:pPr indent="0" marL="0">
              <a:buNone/>
            </a:pPr>
            <a:r>
              <a:rPr lang="en-US" sz="1200" b="1" dirty="0">
                <a:solidFill>
                  <a:srgbClr val="CFFA12"/>
                </a:solidFill>
                <a:latin typeface="Courier New" pitchFamily="34" charset="0"/>
                <a:ea typeface="Courier New" pitchFamily="34" charset="-122"/>
                <a:cs typeface="Courier New" pitchFamily="34" charset="-120"/>
              </a:rPr>
              <a:t>110°</a:t>
            </a:r>
            <a:endParaRPr lang="en-US" sz="1200" dirty="0"/>
          </a:p>
        </p:txBody>
      </p:sp>
      <p:sp>
        <p:nvSpPr>
          <p:cNvPr id="11" name="Text 7"/>
          <p:cNvSpPr txBox="1"/>
          <p:nvPr/>
        </p:nvSpPr>
        <p:spPr>
          <a:xfrm>
            <a:off x="8424367" y="1984248"/>
            <a:ext cx="3200400" cy="457200"/>
          </a:xfrm>
          <a:prstGeom prst="rect">
            <a:avLst/>
          </a:prstGeom>
          <a:noFill/>
          <a:ln/>
        </p:spPr>
        <p:txBody>
          <a:bodyPr wrap="square" lIns="0" tIns="0" rIns="0" bIns="0" rtlCol="0" anchor="ctr"/>
          <a:lstStyle/>
          <a:p>
            <a:pPr indent="0" marL="0">
              <a:lnSpc>
                <a:spcPts val="1200"/>
              </a:lnSpc>
              <a:buNone/>
            </a:pPr>
            <a:r>
              <a:rPr lang="en-US" sz="950" dirty="0">
                <a:solidFill>
                  <a:srgbClr val="8079A8"/>
                </a:solidFill>
                <a:latin typeface="Courier New" pitchFamily="34" charset="0"/>
                <a:ea typeface="Courier New" pitchFamily="34" charset="-122"/>
                <a:cs typeface="Courier New" pitchFamily="34" charset="-120"/>
              </a:rPr>
              <a:t>#9B7BFF  →  #2BE5A0 55%  →  #CFFA12</a:t>
            </a:r>
            <a:endParaRPr lang="en-US" sz="950" dirty="0"/>
          </a:p>
        </p:txBody>
      </p:sp>
      <p:sp>
        <p:nvSpPr>
          <p:cNvPr id="12" name="Shape 8"/>
          <p:cNvSpPr/>
          <p:nvPr/>
        </p:nvSpPr>
        <p:spPr>
          <a:xfrm>
            <a:off x="566928" y="2724912"/>
            <a:ext cx="11057839" cy="804672"/>
          </a:xfrm>
          <a:prstGeom prst="roundRect">
            <a:avLst>
              <a:gd name="adj" fmla="val 7955"/>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pic>
        <p:nvPicPr>
          <p:cNvPr id="13" name="Image 2" descr="preencoded.png">    </p:cNvPr>
          <p:cNvPicPr>
            <a:picLocks noChangeAspect="1"/>
          </p:cNvPicPr>
          <p:nvPr/>
        </p:nvPicPr>
        <p:blipFill>
          <a:blip r:embed="rId3"/>
          <a:stretch>
            <a:fillRect/>
          </a:stretch>
        </p:blipFill>
        <p:spPr>
          <a:xfrm>
            <a:off x="804672" y="2916936"/>
            <a:ext cx="2743200" cy="420624"/>
          </a:xfrm>
          <a:prstGeom prst="rect">
            <a:avLst/>
          </a:prstGeom>
        </p:spPr>
      </p:pic>
      <p:sp>
        <p:nvSpPr>
          <p:cNvPr id="14" name="Text 9"/>
          <p:cNvSpPr txBox="1"/>
          <p:nvPr/>
        </p:nvSpPr>
        <p:spPr>
          <a:xfrm>
            <a:off x="3730752" y="2880360"/>
            <a:ext cx="31089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Headline ramp</a:t>
            </a:r>
            <a:endParaRPr lang="en-US" sz="1300" dirty="0"/>
          </a:p>
        </p:txBody>
      </p:sp>
      <p:sp>
        <p:nvSpPr>
          <p:cNvPr id="15" name="Text 10"/>
          <p:cNvSpPr txBox="1"/>
          <p:nvPr/>
        </p:nvSpPr>
        <p:spPr>
          <a:xfrm>
            <a:off x="3730752" y="3136392"/>
            <a:ext cx="3657600" cy="274320"/>
          </a:xfrm>
          <a:prstGeom prst="rect">
            <a:avLst/>
          </a:prstGeom>
          <a:noFill/>
          <a:ln/>
        </p:spPr>
        <p:txBody>
          <a:bodyPr wrap="square" lIns="0" tIns="0" rIns="0" bIns="0" rtlCol="0" anchor="ctr"/>
          <a:lstStyle/>
          <a:p>
            <a:pPr indent="0" marL="0">
              <a:buNone/>
            </a:pPr>
            <a:r>
              <a:rPr lang="en-US" sz="950" dirty="0">
                <a:solidFill>
                  <a:srgbClr val="AFA8CE"/>
                </a:solidFill>
                <a:latin typeface="Calibri" pitchFamily="34" charset="0"/>
                <a:ea typeface="Calibri" pitchFamily="34" charset="-122"/>
                <a:cs typeface="Calibri" pitchFamily="34" charset="-120"/>
              </a:rPr>
              <a:t>Social-card headline ("already solved.")</a:t>
            </a:r>
            <a:endParaRPr lang="en-US" sz="950" dirty="0"/>
          </a:p>
        </p:txBody>
      </p:sp>
      <p:sp>
        <p:nvSpPr>
          <p:cNvPr id="16" name="Text 11"/>
          <p:cNvSpPr txBox="1"/>
          <p:nvPr/>
        </p:nvSpPr>
        <p:spPr>
          <a:xfrm>
            <a:off x="7692847" y="2880360"/>
            <a:ext cx="731520" cy="237744"/>
          </a:xfrm>
          <a:prstGeom prst="rect">
            <a:avLst/>
          </a:prstGeom>
          <a:noFill/>
          <a:ln/>
        </p:spPr>
        <p:txBody>
          <a:bodyPr wrap="square" lIns="0" tIns="0" rIns="0" bIns="0" rtlCol="0" anchor="ctr"/>
          <a:lstStyle/>
          <a:p>
            <a:pPr indent="0" marL="0">
              <a:buNone/>
            </a:pPr>
            <a:r>
              <a:rPr lang="en-US" sz="1200" b="1" dirty="0">
                <a:solidFill>
                  <a:srgbClr val="CFFA12"/>
                </a:solidFill>
                <a:latin typeface="Courier New" pitchFamily="34" charset="0"/>
                <a:ea typeface="Courier New" pitchFamily="34" charset="-122"/>
                <a:cs typeface="Courier New" pitchFamily="34" charset="-120"/>
              </a:rPr>
              <a:t>96°</a:t>
            </a:r>
            <a:endParaRPr lang="en-US" sz="1200" dirty="0"/>
          </a:p>
        </p:txBody>
      </p:sp>
      <p:sp>
        <p:nvSpPr>
          <p:cNvPr id="17" name="Text 12"/>
          <p:cNvSpPr txBox="1"/>
          <p:nvPr/>
        </p:nvSpPr>
        <p:spPr>
          <a:xfrm>
            <a:off x="8424367" y="2898648"/>
            <a:ext cx="3200400" cy="457200"/>
          </a:xfrm>
          <a:prstGeom prst="rect">
            <a:avLst/>
          </a:prstGeom>
          <a:noFill/>
          <a:ln/>
        </p:spPr>
        <p:txBody>
          <a:bodyPr wrap="square" lIns="0" tIns="0" rIns="0" bIns="0" rtlCol="0" anchor="ctr"/>
          <a:lstStyle/>
          <a:p>
            <a:pPr indent="0" marL="0">
              <a:lnSpc>
                <a:spcPts val="1200"/>
              </a:lnSpc>
              <a:buNone/>
            </a:pPr>
            <a:r>
              <a:rPr lang="en-US" sz="950" dirty="0">
                <a:solidFill>
                  <a:srgbClr val="8079A8"/>
                </a:solidFill>
                <a:latin typeface="Courier New" pitchFamily="34" charset="0"/>
                <a:ea typeface="Courier New" pitchFamily="34" charset="-122"/>
                <a:cs typeface="Courier New" pitchFamily="34" charset="-120"/>
              </a:rPr>
              <a:t>#9B7BFF  →  #2BE5A0 62%  →  #CFFA12</a:t>
            </a:r>
            <a:endParaRPr lang="en-US" sz="950" dirty="0"/>
          </a:p>
        </p:txBody>
      </p:sp>
      <p:sp>
        <p:nvSpPr>
          <p:cNvPr id="18" name="Shape 13"/>
          <p:cNvSpPr/>
          <p:nvPr/>
        </p:nvSpPr>
        <p:spPr>
          <a:xfrm>
            <a:off x="566928" y="3639312"/>
            <a:ext cx="11057839" cy="804672"/>
          </a:xfrm>
          <a:prstGeom prst="roundRect">
            <a:avLst>
              <a:gd name="adj" fmla="val 7955"/>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pic>
        <p:nvPicPr>
          <p:cNvPr id="19" name="Image 3" descr="preencoded.png">    </p:cNvPr>
          <p:cNvPicPr>
            <a:picLocks noChangeAspect="1"/>
          </p:cNvPicPr>
          <p:nvPr/>
        </p:nvPicPr>
        <p:blipFill>
          <a:blip r:embed="rId4"/>
          <a:stretch>
            <a:fillRect/>
          </a:stretch>
        </p:blipFill>
        <p:spPr>
          <a:xfrm>
            <a:off x="804672" y="3831336"/>
            <a:ext cx="2743200" cy="420624"/>
          </a:xfrm>
          <a:prstGeom prst="rect">
            <a:avLst/>
          </a:prstGeom>
        </p:spPr>
      </p:pic>
      <p:sp>
        <p:nvSpPr>
          <p:cNvPr id="20" name="Text 14"/>
          <p:cNvSpPr txBox="1"/>
          <p:nvPr/>
        </p:nvSpPr>
        <p:spPr>
          <a:xfrm>
            <a:off x="3730752" y="3794760"/>
            <a:ext cx="31089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Menu button</a:t>
            </a:r>
            <a:endParaRPr lang="en-US" sz="1300" dirty="0"/>
          </a:p>
        </p:txBody>
      </p:sp>
      <p:sp>
        <p:nvSpPr>
          <p:cNvPr id="21" name="Text 15"/>
          <p:cNvSpPr txBox="1"/>
          <p:nvPr/>
        </p:nvSpPr>
        <p:spPr>
          <a:xfrm>
            <a:off x="3730752" y="4050792"/>
            <a:ext cx="3657600" cy="274320"/>
          </a:xfrm>
          <a:prstGeom prst="rect">
            <a:avLst/>
          </a:prstGeom>
          <a:noFill/>
          <a:ln/>
        </p:spPr>
        <p:txBody>
          <a:bodyPr wrap="square" lIns="0" tIns="0" rIns="0" bIns="0" rtlCol="0" anchor="ctr"/>
          <a:lstStyle/>
          <a:p>
            <a:pPr indent="0" marL="0">
              <a:buNone/>
            </a:pPr>
            <a:r>
              <a:rPr lang="en-US" sz="950" dirty="0">
                <a:solidFill>
                  <a:srgbClr val="AFA8CE"/>
                </a:solidFill>
                <a:latin typeface="Calibri" pitchFamily="34" charset="0"/>
                <a:ea typeface="Calibri" pitchFamily="34" charset="-122"/>
                <a:cs typeface="Calibri" pitchFamily="34" charset="-120"/>
              </a:rPr>
              <a:t>Mobile menu button (dark); 6A3DF0 → 0FBF7A on light</a:t>
            </a:r>
            <a:endParaRPr lang="en-US" sz="950" dirty="0"/>
          </a:p>
        </p:txBody>
      </p:sp>
      <p:sp>
        <p:nvSpPr>
          <p:cNvPr id="22" name="Text 16"/>
          <p:cNvSpPr txBox="1"/>
          <p:nvPr/>
        </p:nvSpPr>
        <p:spPr>
          <a:xfrm>
            <a:off x="7692847" y="3794760"/>
            <a:ext cx="731520" cy="237744"/>
          </a:xfrm>
          <a:prstGeom prst="rect">
            <a:avLst/>
          </a:prstGeom>
          <a:noFill/>
          <a:ln/>
        </p:spPr>
        <p:txBody>
          <a:bodyPr wrap="square" lIns="0" tIns="0" rIns="0" bIns="0" rtlCol="0" anchor="ctr"/>
          <a:lstStyle/>
          <a:p>
            <a:pPr indent="0" marL="0">
              <a:buNone/>
            </a:pPr>
            <a:r>
              <a:rPr lang="en-US" sz="1200" b="1" dirty="0">
                <a:solidFill>
                  <a:srgbClr val="CFFA12"/>
                </a:solidFill>
                <a:latin typeface="Courier New" pitchFamily="34" charset="0"/>
                <a:ea typeface="Courier New" pitchFamily="34" charset="-122"/>
                <a:cs typeface="Courier New" pitchFamily="34" charset="-120"/>
              </a:rPr>
              <a:t>118°</a:t>
            </a:r>
            <a:endParaRPr lang="en-US" sz="1200" dirty="0"/>
          </a:p>
        </p:txBody>
      </p:sp>
      <p:sp>
        <p:nvSpPr>
          <p:cNvPr id="23" name="Text 17"/>
          <p:cNvSpPr txBox="1"/>
          <p:nvPr/>
        </p:nvSpPr>
        <p:spPr>
          <a:xfrm>
            <a:off x="8424367" y="3813048"/>
            <a:ext cx="3200400" cy="457200"/>
          </a:xfrm>
          <a:prstGeom prst="rect">
            <a:avLst/>
          </a:prstGeom>
          <a:noFill/>
          <a:ln/>
        </p:spPr>
        <p:txBody>
          <a:bodyPr wrap="square" lIns="0" tIns="0" rIns="0" bIns="0" rtlCol="0" anchor="ctr"/>
          <a:lstStyle/>
          <a:p>
            <a:pPr indent="0" marL="0">
              <a:lnSpc>
                <a:spcPts val="1200"/>
              </a:lnSpc>
              <a:buNone/>
            </a:pPr>
            <a:r>
              <a:rPr lang="en-US" sz="950" dirty="0">
                <a:solidFill>
                  <a:srgbClr val="8079A8"/>
                </a:solidFill>
                <a:latin typeface="Courier New" pitchFamily="34" charset="0"/>
                <a:ea typeface="Courier New" pitchFamily="34" charset="-122"/>
                <a:cs typeface="Courier New" pitchFamily="34" charset="-120"/>
              </a:rPr>
              <a:t>#7C4DFF  →  #2BE5A0</a:t>
            </a:r>
            <a:endParaRPr lang="en-US" sz="950" dirty="0"/>
          </a:p>
        </p:txBody>
      </p:sp>
      <p:sp>
        <p:nvSpPr>
          <p:cNvPr id="24" name="Shape 18"/>
          <p:cNvSpPr/>
          <p:nvPr/>
        </p:nvSpPr>
        <p:spPr>
          <a:xfrm>
            <a:off x="566928" y="4553712"/>
            <a:ext cx="11057839" cy="804672"/>
          </a:xfrm>
          <a:prstGeom prst="roundRect">
            <a:avLst>
              <a:gd name="adj" fmla="val 7955"/>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pic>
        <p:nvPicPr>
          <p:cNvPr id="25" name="Image 4" descr="preencoded.png">    </p:cNvPr>
          <p:cNvPicPr>
            <a:picLocks noChangeAspect="1"/>
          </p:cNvPicPr>
          <p:nvPr/>
        </p:nvPicPr>
        <p:blipFill>
          <a:blip r:embed="rId5"/>
          <a:stretch>
            <a:fillRect/>
          </a:stretch>
        </p:blipFill>
        <p:spPr>
          <a:xfrm>
            <a:off x="804672" y="4745736"/>
            <a:ext cx="2743200" cy="420624"/>
          </a:xfrm>
          <a:prstGeom prst="rect">
            <a:avLst/>
          </a:prstGeom>
        </p:spPr>
      </p:pic>
      <p:sp>
        <p:nvSpPr>
          <p:cNvPr id="26" name="Text 19"/>
          <p:cNvSpPr txBox="1"/>
          <p:nvPr/>
        </p:nvSpPr>
        <p:spPr>
          <a:xfrm>
            <a:off x="3730752" y="4709160"/>
            <a:ext cx="31089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Primary CTA</a:t>
            </a:r>
            <a:endParaRPr lang="en-US" sz="1300" dirty="0"/>
          </a:p>
        </p:txBody>
      </p:sp>
      <p:sp>
        <p:nvSpPr>
          <p:cNvPr id="27" name="Text 20"/>
          <p:cNvSpPr txBox="1"/>
          <p:nvPr/>
        </p:nvSpPr>
        <p:spPr>
          <a:xfrm>
            <a:off x="3730752" y="4965192"/>
            <a:ext cx="3657600" cy="274320"/>
          </a:xfrm>
          <a:prstGeom prst="rect">
            <a:avLst/>
          </a:prstGeom>
          <a:noFill/>
          <a:ln/>
        </p:spPr>
        <p:txBody>
          <a:bodyPr wrap="square" lIns="0" tIns="0" rIns="0" bIns="0" rtlCol="0" anchor="ctr"/>
          <a:lstStyle/>
          <a:p>
            <a:pPr indent="0" marL="0">
              <a:buNone/>
            </a:pPr>
            <a:r>
              <a:rPr lang="en-US" sz="950" dirty="0">
                <a:solidFill>
                  <a:srgbClr val="AFA8CE"/>
                </a:solidFill>
                <a:latin typeface="Calibri" pitchFamily="34" charset="0"/>
                <a:ea typeface="Calibri" pitchFamily="34" charset="-122"/>
                <a:cs typeface="Calibri" pitchFamily="34" charset="-120"/>
              </a:rPr>
              <a:t>Primary buttons</a:t>
            </a:r>
            <a:endParaRPr lang="en-US" sz="950" dirty="0"/>
          </a:p>
        </p:txBody>
      </p:sp>
      <p:sp>
        <p:nvSpPr>
          <p:cNvPr id="28" name="Text 21"/>
          <p:cNvSpPr txBox="1"/>
          <p:nvPr/>
        </p:nvSpPr>
        <p:spPr>
          <a:xfrm>
            <a:off x="7692847" y="4709160"/>
            <a:ext cx="731520" cy="237744"/>
          </a:xfrm>
          <a:prstGeom prst="rect">
            <a:avLst/>
          </a:prstGeom>
          <a:noFill/>
          <a:ln/>
        </p:spPr>
        <p:txBody>
          <a:bodyPr wrap="square" lIns="0" tIns="0" rIns="0" bIns="0" rtlCol="0" anchor="ctr"/>
          <a:lstStyle/>
          <a:p>
            <a:pPr indent="0" marL="0">
              <a:buNone/>
            </a:pPr>
            <a:r>
              <a:rPr lang="en-US" sz="1200" b="1" dirty="0">
                <a:solidFill>
                  <a:srgbClr val="CFFA12"/>
                </a:solidFill>
                <a:latin typeface="Courier New" pitchFamily="34" charset="0"/>
                <a:ea typeface="Courier New" pitchFamily="34" charset="-122"/>
                <a:cs typeface="Courier New" pitchFamily="34" charset="-120"/>
              </a:rPr>
              <a:t>112°</a:t>
            </a:r>
            <a:endParaRPr lang="en-US" sz="1200" dirty="0"/>
          </a:p>
        </p:txBody>
      </p:sp>
      <p:sp>
        <p:nvSpPr>
          <p:cNvPr id="29" name="Text 22"/>
          <p:cNvSpPr txBox="1"/>
          <p:nvPr/>
        </p:nvSpPr>
        <p:spPr>
          <a:xfrm>
            <a:off x="8424367" y="4727448"/>
            <a:ext cx="3200400" cy="457200"/>
          </a:xfrm>
          <a:prstGeom prst="rect">
            <a:avLst/>
          </a:prstGeom>
          <a:noFill/>
          <a:ln/>
        </p:spPr>
        <p:txBody>
          <a:bodyPr wrap="square" lIns="0" tIns="0" rIns="0" bIns="0" rtlCol="0" anchor="ctr"/>
          <a:lstStyle/>
          <a:p>
            <a:pPr indent="0" marL="0">
              <a:lnSpc>
                <a:spcPts val="1200"/>
              </a:lnSpc>
              <a:buNone/>
            </a:pPr>
            <a:r>
              <a:rPr lang="en-US" sz="950" dirty="0">
                <a:solidFill>
                  <a:srgbClr val="8079A8"/>
                </a:solidFill>
                <a:latin typeface="Courier New" pitchFamily="34" charset="0"/>
                <a:ea typeface="Courier New" pitchFamily="34" charset="-122"/>
                <a:cs typeface="Courier New" pitchFamily="34" charset="-120"/>
              </a:rPr>
              <a:t>#6A3DF0  →  #0FBF7A 78%  →  #A6D900</a:t>
            </a:r>
            <a:endParaRPr lang="en-US" sz="950" dirty="0"/>
          </a:p>
        </p:txBody>
      </p:sp>
      <p:sp>
        <p:nvSpPr>
          <p:cNvPr id="30" name="Shape 23"/>
          <p:cNvSpPr/>
          <p:nvPr/>
        </p:nvSpPr>
        <p:spPr>
          <a:xfrm>
            <a:off x="566928" y="5468112"/>
            <a:ext cx="11057839" cy="804672"/>
          </a:xfrm>
          <a:prstGeom prst="roundRect">
            <a:avLst>
              <a:gd name="adj" fmla="val 7955"/>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pic>
        <p:nvPicPr>
          <p:cNvPr id="31" name="Image 5" descr="preencoded.png">    </p:cNvPr>
          <p:cNvPicPr>
            <a:picLocks noChangeAspect="1"/>
          </p:cNvPicPr>
          <p:nvPr/>
        </p:nvPicPr>
        <p:blipFill>
          <a:blip r:embed="rId6"/>
          <a:stretch>
            <a:fillRect/>
          </a:stretch>
        </p:blipFill>
        <p:spPr>
          <a:xfrm>
            <a:off x="804672" y="5660136"/>
            <a:ext cx="2743200" cy="420624"/>
          </a:xfrm>
          <a:prstGeom prst="rect">
            <a:avLst/>
          </a:prstGeom>
        </p:spPr>
      </p:pic>
      <p:sp>
        <p:nvSpPr>
          <p:cNvPr id="32" name="Text 24"/>
          <p:cNvSpPr txBox="1"/>
          <p:nvPr/>
        </p:nvSpPr>
        <p:spPr>
          <a:xfrm>
            <a:off x="3730752" y="5623560"/>
            <a:ext cx="31089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Purple → lime</a:t>
            </a:r>
            <a:endParaRPr lang="en-US" sz="1300" dirty="0"/>
          </a:p>
        </p:txBody>
      </p:sp>
      <p:sp>
        <p:nvSpPr>
          <p:cNvPr id="33" name="Text 25"/>
          <p:cNvSpPr txBox="1"/>
          <p:nvPr/>
        </p:nvSpPr>
        <p:spPr>
          <a:xfrm>
            <a:off x="3730752" y="5879592"/>
            <a:ext cx="3657600" cy="274320"/>
          </a:xfrm>
          <a:prstGeom prst="rect">
            <a:avLst/>
          </a:prstGeom>
          <a:noFill/>
          <a:ln/>
        </p:spPr>
        <p:txBody>
          <a:bodyPr wrap="square" lIns="0" tIns="0" rIns="0" bIns="0" rtlCol="0" anchor="ctr"/>
          <a:lstStyle/>
          <a:p>
            <a:pPr indent="0" marL="0">
              <a:buNone/>
            </a:pPr>
            <a:r>
              <a:rPr lang="en-US" sz="950" dirty="0">
                <a:solidFill>
                  <a:srgbClr val="AFA8CE"/>
                </a:solidFill>
                <a:latin typeface="Calibri" pitchFamily="34" charset="0"/>
                <a:ea typeface="Calibri" pitchFamily="34" charset="-122"/>
                <a:cs typeface="Calibri" pitchFamily="34" charset="-120"/>
              </a:rPr>
              <a:t>App Builder quick-nav tile</a:t>
            </a:r>
            <a:endParaRPr lang="en-US" sz="950" dirty="0"/>
          </a:p>
        </p:txBody>
      </p:sp>
      <p:sp>
        <p:nvSpPr>
          <p:cNvPr id="34" name="Text 26"/>
          <p:cNvSpPr txBox="1"/>
          <p:nvPr/>
        </p:nvSpPr>
        <p:spPr>
          <a:xfrm>
            <a:off x="7692847" y="5623560"/>
            <a:ext cx="731520" cy="237744"/>
          </a:xfrm>
          <a:prstGeom prst="rect">
            <a:avLst/>
          </a:prstGeom>
          <a:noFill/>
          <a:ln/>
        </p:spPr>
        <p:txBody>
          <a:bodyPr wrap="square" lIns="0" tIns="0" rIns="0" bIns="0" rtlCol="0" anchor="ctr"/>
          <a:lstStyle/>
          <a:p>
            <a:pPr indent="0" marL="0">
              <a:buNone/>
            </a:pPr>
            <a:r>
              <a:rPr lang="en-US" sz="1200" b="1" dirty="0">
                <a:solidFill>
                  <a:srgbClr val="CFFA12"/>
                </a:solidFill>
                <a:latin typeface="Courier New" pitchFamily="34" charset="0"/>
                <a:ea typeface="Courier New" pitchFamily="34" charset="-122"/>
                <a:cs typeface="Courier New" pitchFamily="34" charset="-120"/>
              </a:rPr>
              <a:t>135°</a:t>
            </a:r>
            <a:endParaRPr lang="en-US" sz="1200" dirty="0"/>
          </a:p>
        </p:txBody>
      </p:sp>
      <p:sp>
        <p:nvSpPr>
          <p:cNvPr id="35" name="Text 27"/>
          <p:cNvSpPr txBox="1"/>
          <p:nvPr/>
        </p:nvSpPr>
        <p:spPr>
          <a:xfrm>
            <a:off x="8424367" y="5641848"/>
            <a:ext cx="3200400" cy="457200"/>
          </a:xfrm>
          <a:prstGeom prst="rect">
            <a:avLst/>
          </a:prstGeom>
          <a:noFill/>
          <a:ln/>
        </p:spPr>
        <p:txBody>
          <a:bodyPr wrap="square" lIns="0" tIns="0" rIns="0" bIns="0" rtlCol="0" anchor="ctr"/>
          <a:lstStyle/>
          <a:p>
            <a:pPr indent="0" marL="0">
              <a:lnSpc>
                <a:spcPts val="1200"/>
              </a:lnSpc>
              <a:buNone/>
            </a:pPr>
            <a:r>
              <a:rPr lang="en-US" sz="950" dirty="0">
                <a:solidFill>
                  <a:srgbClr val="8079A8"/>
                </a:solidFill>
                <a:latin typeface="Courier New" pitchFamily="34" charset="0"/>
                <a:ea typeface="Courier New" pitchFamily="34" charset="-122"/>
                <a:cs typeface="Courier New" pitchFamily="34" charset="-120"/>
              </a:rPr>
              <a:t>#9B7BFF  →  #CFFA12</a:t>
            </a:r>
            <a:endParaRPr lang="en-US" sz="950" dirty="0"/>
          </a:p>
        </p:txBody>
      </p:sp>
      <p:sp>
        <p:nvSpPr>
          <p:cNvPr id="36" name="Text 28"/>
          <p:cNvSpPr txBox="1"/>
          <p:nvPr/>
        </p:nvSpPr>
        <p:spPr>
          <a:xfrm>
            <a:off x="566928" y="6419088"/>
            <a:ext cx="11057839" cy="274320"/>
          </a:xfrm>
          <a:prstGeom prst="rect">
            <a:avLst/>
          </a:prstGeom>
          <a:noFill/>
          <a:ln/>
        </p:spPr>
        <p:txBody>
          <a:bodyPr wrap="square" lIns="0" tIns="0" rIns="0" bIns="0" rtlCol="0" anchor="ctr"/>
          <a:lstStyle/>
          <a:p>
            <a:pPr indent="0" marL="0">
              <a:buNone/>
            </a:pPr>
            <a:r>
              <a:rPr lang="en-US" sz="1000" dirty="0">
                <a:solidFill>
                  <a:srgbClr val="8079A8"/>
                </a:solidFill>
                <a:latin typeface="Calibri" pitchFamily="34" charset="0"/>
                <a:ea typeface="Calibri" pitchFamily="34" charset="-122"/>
                <a:cs typeface="Calibri" pitchFamily="34" charset="-120"/>
              </a:rPr>
              <a:t>PowerPoint cannot fill text with a three-stop gradient, so the ramp is rasterized to PNG at build time and placed as art — which is why it matches the site exactly.</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91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BRAND</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marks</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The Shiny mark, and the ShinySoft lockups behind it. Dark artwork sits on a white plate; the rest goes straight onto ink.</a:t>
            </a:r>
            <a:endParaRPr lang="en-US" sz="1350" dirty="0"/>
          </a:p>
        </p:txBody>
      </p:sp>
      <p:sp>
        <p:nvSpPr>
          <p:cNvPr id="6" name="Shape 3"/>
          <p:cNvSpPr/>
          <p:nvPr/>
        </p:nvSpPr>
        <p:spPr>
          <a:xfrm>
            <a:off x="566928" y="1975104"/>
            <a:ext cx="2572436" cy="3200400"/>
          </a:xfrm>
          <a:prstGeom prst="roundRect">
            <a:avLst>
              <a:gd name="adj" fmla="val 248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pic>
        <p:nvPicPr>
          <p:cNvPr id="7" name="Image 1" descr="/Users/aritchie/Desktop/dev/documentation/public/images/logo-mark.png">    </p:cNvPr>
          <p:cNvPicPr>
            <a:picLocks noChangeAspect="1"/>
          </p:cNvPicPr>
          <p:nvPr/>
        </p:nvPicPr>
        <p:blipFill>
          <a:blip r:embed="rId2"/>
          <a:stretch>
            <a:fillRect/>
          </a:stretch>
        </p:blipFill>
        <p:spPr>
          <a:xfrm>
            <a:off x="1395946" y="2340864"/>
            <a:ext cx="914400" cy="914400"/>
          </a:xfrm>
          <a:prstGeom prst="rect">
            <a:avLst/>
          </a:prstGeom>
        </p:spPr>
      </p:pic>
      <p:sp>
        <p:nvSpPr>
          <p:cNvPr id="8" name="Text 4"/>
          <p:cNvSpPr txBox="1"/>
          <p:nvPr/>
        </p:nvSpPr>
        <p:spPr>
          <a:xfrm>
            <a:off x="804672" y="3529584"/>
            <a:ext cx="2096948" cy="420624"/>
          </a:xfrm>
          <a:prstGeom prst="rect">
            <a:avLst/>
          </a:prstGeom>
          <a:noFill/>
          <a:ln/>
        </p:spPr>
        <p:txBody>
          <a:bodyPr wrap="square" lIns="0" tIns="0" rIns="0" bIns="0" rtlCol="0" anchor="ctr"/>
          <a:lstStyle/>
          <a:p>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Shiny mark</a:t>
            </a:r>
            <a:endParaRPr lang="en-US" sz="1200" dirty="0"/>
          </a:p>
        </p:txBody>
      </p:sp>
      <p:sp>
        <p:nvSpPr>
          <p:cNvPr id="9" name="Text 5"/>
          <p:cNvSpPr txBox="1"/>
          <p:nvPr/>
        </p:nvSpPr>
        <p:spPr>
          <a:xfrm>
            <a:off x="804672" y="3968496"/>
            <a:ext cx="2096948" cy="219456"/>
          </a:xfrm>
          <a:prstGeom prst="rect">
            <a:avLst/>
          </a:prstGeom>
          <a:noFill/>
          <a:ln/>
        </p:spPr>
        <p:txBody>
          <a:bodyPr wrap="square" lIns="0" tIns="0" rIns="0" bIns="0" rtlCol="0" anchor="ctr"/>
          <a:lstStyle/>
          <a:p>
            <a:pPr indent="0" marL="0">
              <a:buNone/>
            </a:pPr>
            <a:r>
              <a:rPr lang="en-US" sz="850" dirty="0">
                <a:solidFill>
                  <a:srgbClr val="CFFA12"/>
                </a:solidFill>
                <a:latin typeface="Courier New" pitchFamily="34" charset="0"/>
                <a:ea typeface="Courier New" pitchFamily="34" charset="-122"/>
                <a:cs typeface="Courier New" pitchFamily="34" charset="-120"/>
              </a:rPr>
              <a:t>logo.svg · logo-mark.png</a:t>
            </a:r>
            <a:endParaRPr lang="en-US" sz="850" dirty="0"/>
          </a:p>
        </p:txBody>
      </p:sp>
      <p:sp>
        <p:nvSpPr>
          <p:cNvPr id="10" name="Text 6"/>
          <p:cNvSpPr txBox="1"/>
          <p:nvPr/>
        </p:nvSpPr>
        <p:spPr>
          <a:xfrm>
            <a:off x="804672" y="4224528"/>
            <a:ext cx="2096948" cy="822960"/>
          </a:xfrm>
          <a:prstGeom prst="rect">
            <a:avLst/>
          </a:prstGeom>
          <a:noFill/>
          <a:ln/>
        </p:spPr>
        <p:txBody>
          <a:bodyPr wrap="square" lIns="0" tIns="0" rIns="0" bIns="0" rtlCol="0" anchor="t"/>
          <a:lstStyle/>
          <a:p>
            <a:pPr indent="0" marL="0">
              <a:lnSpc>
                <a:spcPts val="1250"/>
              </a:lnSpc>
              <a:buNone/>
            </a:pPr>
            <a:r>
              <a:rPr lang="en-US" sz="950" dirty="0">
                <a:solidFill>
                  <a:srgbClr val="AFA8CE"/>
                </a:solidFill>
                <a:latin typeface="Calibri" pitchFamily="34" charset="0"/>
                <a:ea typeface="Calibri" pitchFamily="34" charset="-122"/>
                <a:cs typeface="Calibri" pitchFamily="34" charset="-120"/>
              </a:rPr>
              <a:t>Primary. Use the SVG on the web; the PNG everywhere else.</a:t>
            </a:r>
            <a:endParaRPr lang="en-US" sz="950" dirty="0"/>
          </a:p>
        </p:txBody>
      </p:sp>
      <p:sp>
        <p:nvSpPr>
          <p:cNvPr id="11" name="Shape 7"/>
          <p:cNvSpPr/>
          <p:nvPr/>
        </p:nvSpPr>
        <p:spPr>
          <a:xfrm>
            <a:off x="3395396" y="1975104"/>
            <a:ext cx="2572436" cy="3200400"/>
          </a:xfrm>
          <a:prstGeom prst="roundRect">
            <a:avLst>
              <a:gd name="adj" fmla="val 248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pic>
        <p:nvPicPr>
          <p:cNvPr id="12" name="Image 2" descr="/Users/aritchie/Desktop/dev/documentation/public/images/shinysoft-mark.png">    </p:cNvPr>
          <p:cNvPicPr>
            <a:picLocks noChangeAspect="1"/>
          </p:cNvPicPr>
          <p:nvPr/>
        </p:nvPicPr>
        <p:blipFill>
          <a:blip r:embed="rId3"/>
          <a:stretch>
            <a:fillRect/>
          </a:stretch>
        </p:blipFill>
        <p:spPr>
          <a:xfrm>
            <a:off x="4224414" y="2340864"/>
            <a:ext cx="914400" cy="914400"/>
          </a:xfrm>
          <a:prstGeom prst="rect">
            <a:avLst/>
          </a:prstGeom>
        </p:spPr>
      </p:pic>
      <p:sp>
        <p:nvSpPr>
          <p:cNvPr id="13" name="Text 8"/>
          <p:cNvSpPr txBox="1"/>
          <p:nvPr/>
        </p:nvSpPr>
        <p:spPr>
          <a:xfrm>
            <a:off x="3633140" y="3529584"/>
            <a:ext cx="2096948" cy="420624"/>
          </a:xfrm>
          <a:prstGeom prst="rect">
            <a:avLst/>
          </a:prstGeom>
          <a:noFill/>
          <a:ln/>
        </p:spPr>
        <p:txBody>
          <a:bodyPr wrap="square" lIns="0" tIns="0" rIns="0" bIns="0" rtlCol="0" anchor="ctr"/>
          <a:lstStyle/>
          <a:p>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ShinySoft mark</a:t>
            </a:r>
            <a:endParaRPr lang="en-US" sz="1200" dirty="0"/>
          </a:p>
        </p:txBody>
      </p:sp>
      <p:sp>
        <p:nvSpPr>
          <p:cNvPr id="14" name="Text 9"/>
          <p:cNvSpPr txBox="1"/>
          <p:nvPr/>
        </p:nvSpPr>
        <p:spPr>
          <a:xfrm>
            <a:off x="3633140" y="3968496"/>
            <a:ext cx="2096948" cy="219456"/>
          </a:xfrm>
          <a:prstGeom prst="rect">
            <a:avLst/>
          </a:prstGeom>
          <a:noFill/>
          <a:ln/>
        </p:spPr>
        <p:txBody>
          <a:bodyPr wrap="square" lIns="0" tIns="0" rIns="0" bIns="0" rtlCol="0" anchor="ctr"/>
          <a:lstStyle/>
          <a:p>
            <a:pPr indent="0" marL="0">
              <a:buNone/>
            </a:pPr>
            <a:r>
              <a:rPr lang="en-US" sz="850" dirty="0">
                <a:solidFill>
                  <a:srgbClr val="CFFA12"/>
                </a:solidFill>
                <a:latin typeface="Courier New" pitchFamily="34" charset="0"/>
                <a:ea typeface="Courier New" pitchFamily="34" charset="-122"/>
                <a:cs typeface="Courier New" pitchFamily="34" charset="-120"/>
              </a:rPr>
              <a:t>shinysoft-mark.png</a:t>
            </a:r>
            <a:endParaRPr lang="en-US" sz="850" dirty="0"/>
          </a:p>
        </p:txBody>
      </p:sp>
      <p:sp>
        <p:nvSpPr>
          <p:cNvPr id="15" name="Text 10"/>
          <p:cNvSpPr txBox="1"/>
          <p:nvPr/>
        </p:nvSpPr>
        <p:spPr>
          <a:xfrm>
            <a:off x="3633140" y="4224528"/>
            <a:ext cx="2096948" cy="822960"/>
          </a:xfrm>
          <a:prstGeom prst="rect">
            <a:avLst/>
          </a:prstGeom>
          <a:noFill/>
          <a:ln/>
        </p:spPr>
        <p:txBody>
          <a:bodyPr wrap="square" lIns="0" tIns="0" rIns="0" bIns="0" rtlCol="0" anchor="t"/>
          <a:lstStyle/>
          <a:p>
            <a:pPr indent="0" marL="0">
              <a:lnSpc>
                <a:spcPts val="1250"/>
              </a:lnSpc>
              <a:buNone/>
            </a:pPr>
            <a:r>
              <a:rPr lang="en-US" sz="950" dirty="0">
                <a:solidFill>
                  <a:srgbClr val="AFA8CE"/>
                </a:solidFill>
                <a:latin typeface="Calibri" pitchFamily="34" charset="0"/>
                <a:ea typeface="Calibri" pitchFamily="34" charset="-122"/>
                <a:cs typeface="Calibri" pitchFamily="34" charset="-120"/>
              </a:rPr>
              <a:t>The company behind Shiny, without the wordmark.</a:t>
            </a:r>
            <a:endParaRPr lang="en-US" sz="950" dirty="0"/>
          </a:p>
        </p:txBody>
      </p:sp>
      <p:sp>
        <p:nvSpPr>
          <p:cNvPr id="16" name="Shape 11"/>
          <p:cNvSpPr/>
          <p:nvPr/>
        </p:nvSpPr>
        <p:spPr>
          <a:xfrm>
            <a:off x="6223864" y="1975104"/>
            <a:ext cx="2572436" cy="3200400"/>
          </a:xfrm>
          <a:prstGeom prst="roundRect">
            <a:avLst>
              <a:gd name="adj" fmla="val 248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17" name="Shape 12"/>
          <p:cNvSpPr/>
          <p:nvPr/>
        </p:nvSpPr>
        <p:spPr>
          <a:xfrm>
            <a:off x="6461608" y="2231136"/>
            <a:ext cx="2096948" cy="1133856"/>
          </a:xfrm>
          <a:prstGeom prst="roundRect">
            <a:avLst>
              <a:gd name="adj" fmla="val 9677"/>
            </a:avLst>
          </a:prstGeom>
          <a:solidFill>
            <a:srgbClr val="FFFFFF"/>
          </a:solidFill>
          <a:ln w="12700">
            <a:solidFill>
              <a:srgbClr val="FFFFFF"/>
            </a:solidFill>
            <a:prstDash val="solid"/>
          </a:ln>
        </p:spPr>
      </p:sp>
      <p:pic>
        <p:nvPicPr>
          <p:cNvPr id="18" name="Image 3" descr="/Users/aritchie/Desktop/dev/documentation/public/images/shinysoft-logo-light.png">    </p:cNvPr>
          <p:cNvPicPr>
            <a:picLocks noChangeAspect="1"/>
          </p:cNvPicPr>
          <p:nvPr/>
        </p:nvPicPr>
        <p:blipFill>
          <a:blip r:embed="rId4"/>
          <a:stretch>
            <a:fillRect/>
          </a:stretch>
        </p:blipFill>
        <p:spPr>
          <a:xfrm>
            <a:off x="6617056" y="2494435"/>
            <a:ext cx="1786052" cy="607258"/>
          </a:xfrm>
          <a:prstGeom prst="rect">
            <a:avLst/>
          </a:prstGeom>
        </p:spPr>
      </p:pic>
      <p:sp>
        <p:nvSpPr>
          <p:cNvPr id="19" name="Text 13"/>
          <p:cNvSpPr txBox="1"/>
          <p:nvPr/>
        </p:nvSpPr>
        <p:spPr>
          <a:xfrm>
            <a:off x="6461608" y="3529584"/>
            <a:ext cx="2096948" cy="420624"/>
          </a:xfrm>
          <a:prstGeom prst="rect">
            <a:avLst/>
          </a:prstGeom>
          <a:noFill/>
          <a:ln/>
        </p:spPr>
        <p:txBody>
          <a:bodyPr wrap="square" lIns="0" tIns="0" rIns="0" bIns="0" rtlCol="0" anchor="ctr"/>
          <a:lstStyle/>
          <a:p>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ShinySoft lockup</a:t>
            </a:r>
            <a:endParaRPr lang="en-US" sz="1200" dirty="0"/>
          </a:p>
        </p:txBody>
      </p:sp>
      <p:sp>
        <p:nvSpPr>
          <p:cNvPr id="20" name="Text 14"/>
          <p:cNvSpPr txBox="1"/>
          <p:nvPr/>
        </p:nvSpPr>
        <p:spPr>
          <a:xfrm>
            <a:off x="6461608" y="3968496"/>
            <a:ext cx="2096948" cy="219456"/>
          </a:xfrm>
          <a:prstGeom prst="rect">
            <a:avLst/>
          </a:prstGeom>
          <a:noFill/>
          <a:ln/>
        </p:spPr>
        <p:txBody>
          <a:bodyPr wrap="square" lIns="0" tIns="0" rIns="0" bIns="0" rtlCol="0" anchor="ctr"/>
          <a:lstStyle/>
          <a:p>
            <a:pPr indent="0" marL="0">
              <a:buNone/>
            </a:pPr>
            <a:r>
              <a:rPr lang="en-US" sz="850" dirty="0">
                <a:solidFill>
                  <a:srgbClr val="CFFA12"/>
                </a:solidFill>
                <a:latin typeface="Courier New" pitchFamily="34" charset="0"/>
                <a:ea typeface="Courier New" pitchFamily="34" charset="-122"/>
                <a:cs typeface="Courier New" pitchFamily="34" charset="-120"/>
              </a:rPr>
              <a:t>shinysoft-logo-light.png</a:t>
            </a:r>
            <a:endParaRPr lang="en-US" sz="850" dirty="0"/>
          </a:p>
        </p:txBody>
      </p:sp>
      <p:sp>
        <p:nvSpPr>
          <p:cNvPr id="21" name="Text 15"/>
          <p:cNvSpPr txBox="1"/>
          <p:nvPr/>
        </p:nvSpPr>
        <p:spPr>
          <a:xfrm>
            <a:off x="6461608" y="4224528"/>
            <a:ext cx="2096948" cy="822960"/>
          </a:xfrm>
          <a:prstGeom prst="rect">
            <a:avLst/>
          </a:prstGeom>
          <a:noFill/>
          <a:ln/>
        </p:spPr>
        <p:txBody>
          <a:bodyPr wrap="square" lIns="0" tIns="0" rIns="0" bIns="0" rtlCol="0" anchor="t"/>
          <a:lstStyle/>
          <a:p>
            <a:pPr indent="0" marL="0">
              <a:lnSpc>
                <a:spcPts val="1250"/>
              </a:lnSpc>
              <a:buNone/>
            </a:pPr>
            <a:r>
              <a:rPr lang="en-US" sz="950" dirty="0">
                <a:solidFill>
                  <a:srgbClr val="AFA8CE"/>
                </a:solidFill>
                <a:latin typeface="Calibri" pitchFamily="34" charset="0"/>
                <a:ea typeface="Calibri" pitchFamily="34" charset="-122"/>
                <a:cs typeface="Calibri" pitchFamily="34" charset="-120"/>
              </a:rPr>
              <a:t>Full wordmark. Dark artwork — for light grounds.</a:t>
            </a:r>
            <a:endParaRPr lang="en-US" sz="950" dirty="0"/>
          </a:p>
        </p:txBody>
      </p:sp>
      <p:sp>
        <p:nvSpPr>
          <p:cNvPr id="22" name="Shape 16"/>
          <p:cNvSpPr/>
          <p:nvPr/>
        </p:nvSpPr>
        <p:spPr>
          <a:xfrm>
            <a:off x="9052331" y="1975104"/>
            <a:ext cx="2572436" cy="3200400"/>
          </a:xfrm>
          <a:prstGeom prst="roundRect">
            <a:avLst>
              <a:gd name="adj" fmla="val 2488"/>
            </a:avLst>
          </a:prstGeom>
          <a:solidFill>
            <a:srgbClr val="19143C"/>
          </a:solidFill>
          <a:ln w="12700">
            <a:solidFill>
              <a:srgbClr val="2E2665"/>
            </a:solidFill>
            <a:prstDash val="solid"/>
          </a:ln>
          <a:effectLst>
            <a:outerShdw sx="100000" sy="100000" kx="0" ky="0" algn="bl" rotWithShape="0" blurRad="152400" dist="38100" dir="5400000">
              <a:srgbClr val="000000">
                <a:alpha val="35000"/>
              </a:srgbClr>
            </a:outerShdw>
          </a:effectLst>
        </p:spPr>
      </p:sp>
      <p:pic>
        <p:nvPicPr>
          <p:cNvPr id="23" name="Image 4" descr="/Users/aritchie/Desktop/dev/documentation/public/images/shinysoft-logo-dark.png">    </p:cNvPr>
          <p:cNvPicPr>
            <a:picLocks noChangeAspect="1"/>
          </p:cNvPicPr>
          <p:nvPr/>
        </p:nvPicPr>
        <p:blipFill>
          <a:blip r:embed="rId5"/>
          <a:stretch>
            <a:fillRect/>
          </a:stretch>
        </p:blipFill>
        <p:spPr>
          <a:xfrm>
            <a:off x="9408947" y="2481999"/>
            <a:ext cx="1859204" cy="632129"/>
          </a:xfrm>
          <a:prstGeom prst="rect">
            <a:avLst/>
          </a:prstGeom>
        </p:spPr>
      </p:pic>
      <p:sp>
        <p:nvSpPr>
          <p:cNvPr id="24" name="Text 17"/>
          <p:cNvSpPr txBox="1"/>
          <p:nvPr/>
        </p:nvSpPr>
        <p:spPr>
          <a:xfrm>
            <a:off x="9290075" y="3529584"/>
            <a:ext cx="2096948" cy="420624"/>
          </a:xfrm>
          <a:prstGeom prst="rect">
            <a:avLst/>
          </a:prstGeom>
          <a:noFill/>
          <a:ln/>
        </p:spPr>
        <p:txBody>
          <a:bodyPr wrap="square" lIns="0" tIns="0" rIns="0" bIns="0" rtlCol="0" anchor="ctr"/>
          <a:lstStyle/>
          <a:p>
            <a:pPr indent="0" marL="0">
              <a:lnSpc>
                <a:spcPts val="1500"/>
              </a:lnSpc>
              <a:buNone/>
            </a:pPr>
            <a:r>
              <a:rPr lang="en-US" sz="1200" b="1" dirty="0">
                <a:solidFill>
                  <a:srgbClr val="FFFFFF"/>
                </a:solidFill>
                <a:latin typeface="Calibri" pitchFamily="34" charset="0"/>
                <a:ea typeface="Calibri" pitchFamily="34" charset="-122"/>
                <a:cs typeface="Calibri" pitchFamily="34" charset="-120"/>
              </a:rPr>
              <a:t>ShinySoft lockup — dark</a:t>
            </a:r>
            <a:endParaRPr lang="en-US" sz="1200" dirty="0"/>
          </a:p>
        </p:txBody>
      </p:sp>
      <p:sp>
        <p:nvSpPr>
          <p:cNvPr id="25" name="Text 18"/>
          <p:cNvSpPr txBox="1"/>
          <p:nvPr/>
        </p:nvSpPr>
        <p:spPr>
          <a:xfrm>
            <a:off x="9290075" y="3968496"/>
            <a:ext cx="2096948" cy="219456"/>
          </a:xfrm>
          <a:prstGeom prst="rect">
            <a:avLst/>
          </a:prstGeom>
          <a:noFill/>
          <a:ln/>
        </p:spPr>
        <p:txBody>
          <a:bodyPr wrap="square" lIns="0" tIns="0" rIns="0" bIns="0" rtlCol="0" anchor="ctr"/>
          <a:lstStyle/>
          <a:p>
            <a:pPr indent="0" marL="0">
              <a:buNone/>
            </a:pPr>
            <a:r>
              <a:rPr lang="en-US" sz="850" dirty="0">
                <a:solidFill>
                  <a:srgbClr val="CFFA12"/>
                </a:solidFill>
                <a:latin typeface="Courier New" pitchFamily="34" charset="0"/>
                <a:ea typeface="Courier New" pitchFamily="34" charset="-122"/>
                <a:cs typeface="Courier New" pitchFamily="34" charset="-120"/>
              </a:rPr>
              <a:t>shinysoft-logo-dark.png</a:t>
            </a:r>
            <a:endParaRPr lang="en-US" sz="850" dirty="0"/>
          </a:p>
        </p:txBody>
      </p:sp>
      <p:sp>
        <p:nvSpPr>
          <p:cNvPr id="26" name="Text 19"/>
          <p:cNvSpPr txBox="1"/>
          <p:nvPr/>
        </p:nvSpPr>
        <p:spPr>
          <a:xfrm>
            <a:off x="9290075" y="4224528"/>
            <a:ext cx="2096948" cy="822960"/>
          </a:xfrm>
          <a:prstGeom prst="rect">
            <a:avLst/>
          </a:prstGeom>
          <a:noFill/>
          <a:ln/>
        </p:spPr>
        <p:txBody>
          <a:bodyPr wrap="square" lIns="0" tIns="0" rIns="0" bIns="0" rtlCol="0" anchor="t"/>
          <a:lstStyle/>
          <a:p>
            <a:pPr indent="0" marL="0">
              <a:lnSpc>
                <a:spcPts val="1250"/>
              </a:lnSpc>
              <a:buNone/>
            </a:pPr>
            <a:r>
              <a:rPr lang="en-US" sz="950" dirty="0">
                <a:solidFill>
                  <a:srgbClr val="AFA8CE"/>
                </a:solidFill>
                <a:latin typeface="Calibri" pitchFamily="34" charset="0"/>
                <a:ea typeface="Calibri" pitchFamily="34" charset="-122"/>
                <a:cs typeface="Calibri" pitchFamily="34" charset="-120"/>
              </a:rPr>
              <a:t>Full wordmark, reversed out for dark grounds.</a:t>
            </a:r>
            <a:endParaRPr lang="en-US" sz="950" dirty="0"/>
          </a:p>
        </p:txBody>
      </p:sp>
      <p:sp>
        <p:nvSpPr>
          <p:cNvPr id="27" name="Shape 20"/>
          <p:cNvSpPr/>
          <p:nvPr/>
        </p:nvSpPr>
        <p:spPr>
          <a:xfrm>
            <a:off x="566928" y="5340096"/>
            <a:ext cx="11057839" cy="786384"/>
          </a:xfrm>
          <a:prstGeom prst="roundRect">
            <a:avLst>
              <a:gd name="adj" fmla="val 8140"/>
            </a:avLst>
          </a:prstGeom>
          <a:solidFill>
            <a:srgbClr val="221A52"/>
          </a:solidFill>
          <a:ln w="12700">
            <a:solidFill>
              <a:srgbClr val="2E2665"/>
            </a:solidFill>
            <a:prstDash val="solid"/>
          </a:ln>
          <a:effectLst>
            <a:outerShdw sx="100000" sy="100000" kx="0" ky="0" algn="bl" rotWithShape="0" blurRad="152400" dist="38100" dir="5400000">
              <a:srgbClr val="000000">
                <a:alpha val="35000"/>
              </a:srgbClr>
            </a:outerShdw>
          </a:effectLst>
        </p:spPr>
      </p:sp>
      <p:sp>
        <p:nvSpPr>
          <p:cNvPr id="28" name="Shape 21"/>
          <p:cNvSpPr/>
          <p:nvPr/>
        </p:nvSpPr>
        <p:spPr>
          <a:xfrm>
            <a:off x="822960" y="5541264"/>
            <a:ext cx="384048" cy="384048"/>
          </a:xfrm>
          <a:prstGeom prst="roundRect">
            <a:avLst>
              <a:gd name="adj" fmla="val 66667"/>
            </a:avLst>
          </a:prstGeom>
          <a:solidFill>
            <a:srgbClr val="9B7BFF"/>
          </a:solidFill>
          <a:ln w="12700">
            <a:solidFill>
              <a:srgbClr val="9B7BFF"/>
            </a:solidFill>
            <a:prstDash val="solid"/>
          </a:ln>
        </p:spPr>
      </p:sp>
      <p:pic>
        <p:nvPicPr>
          <p:cNvPr id="29" name="Image 5" descr="preencoded.png">    </p:cNvPr>
          <p:cNvPicPr>
            <a:picLocks noChangeAspect="1"/>
          </p:cNvPicPr>
          <p:nvPr/>
        </p:nvPicPr>
        <p:blipFill>
          <a:blip r:embed="rId6"/>
          <a:stretch>
            <a:fillRect/>
          </a:stretch>
        </p:blipFill>
        <p:spPr>
          <a:xfrm>
            <a:off x="922812" y="5641116"/>
            <a:ext cx="184343" cy="184343"/>
          </a:xfrm>
          <a:prstGeom prst="rect">
            <a:avLst/>
          </a:prstGeom>
        </p:spPr>
      </p:pic>
      <p:sp>
        <p:nvSpPr>
          <p:cNvPr id="30" name="Text 22"/>
          <p:cNvSpPr txBox="1"/>
          <p:nvPr/>
        </p:nvSpPr>
        <p:spPr>
          <a:xfrm>
            <a:off x="1389888" y="5504688"/>
            <a:ext cx="9869119" cy="457200"/>
          </a:xfrm>
          <a:prstGeom prst="rect">
            <a:avLst/>
          </a:prstGeom>
          <a:noFill/>
          <a:ln/>
        </p:spPr>
        <p:txBody>
          <a:bodyPr wrap="square" lIns="0" tIns="0" rIns="0" bIns="0" rtlCol="0" anchor="ctr"/>
          <a:lstStyle/>
          <a:p>
            <a:pPr indent="0" marL="0">
              <a:lnSpc>
                <a:spcPts val="1300"/>
              </a:lnSpc>
              <a:buNone/>
            </a:pPr>
            <a:r>
              <a:rPr lang="en-US" sz="1000" dirty="0">
                <a:solidFill>
                  <a:srgbClr val="AFA8CE"/>
                </a:solidFill>
                <a:latin typeface="Calibri" pitchFamily="34" charset="0"/>
                <a:ea typeface="Calibri" pitchFamily="34" charset="-122"/>
                <a:cs typeface="Calibri" pitchFamily="34" charset="-120"/>
              </a:rPr>
              <a:t>logo.mp4 is the animated mark used on the site. logo.svg is the vector source, but only browsers render its gradients correctly — use logo-mark.png anywhere else.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A15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50292"/>
          </a:xfrm>
          <a:prstGeom prst="rect">
            <a:avLst/>
          </a:prstGeom>
        </p:spPr>
      </p:pic>
      <p:sp>
        <p:nvSpPr>
          <p:cNvPr id="3"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50" b="1" spc="240" kern="0" dirty="0">
                <a:solidFill>
                  <a:srgbClr val="CFFA12"/>
                </a:solidFill>
                <a:latin typeface="Calibri" pitchFamily="34" charset="0"/>
                <a:ea typeface="Calibri" pitchFamily="34" charset="-122"/>
                <a:cs typeface="Calibri" pitchFamily="34" charset="-120"/>
              </a:rPr>
              <a:t>BRAND</a:t>
            </a:r>
            <a:endParaRPr lang="en-US" sz="1050" dirty="0"/>
          </a:p>
        </p:txBody>
      </p:sp>
      <p:sp>
        <p:nvSpPr>
          <p:cNvPr id="4" name="Text 1"/>
          <p:cNvSpPr txBox="1"/>
          <p:nvPr/>
        </p:nvSpPr>
        <p:spPr>
          <a:xfrm>
            <a:off x="566928" y="603504"/>
            <a:ext cx="11057839"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words</a:t>
            </a:r>
            <a:endParaRPr lang="en-US" sz="3200" dirty="0"/>
          </a:p>
        </p:txBody>
      </p:sp>
      <p:sp>
        <p:nvSpPr>
          <p:cNvPr id="5" name="Text 2"/>
          <p:cNvSpPr txBox="1"/>
          <p:nvPr/>
        </p:nvSpPr>
        <p:spPr>
          <a:xfrm>
            <a:off x="566928" y="1207008"/>
            <a:ext cx="9960559" cy="457200"/>
          </a:xfrm>
          <a:prstGeom prst="rect">
            <a:avLst/>
          </a:prstGeom>
          <a:noFill/>
          <a:ln/>
        </p:spPr>
        <p:txBody>
          <a:bodyPr wrap="square" lIns="0" tIns="0" rIns="0" bIns="0" rtlCol="0" anchor="ctr"/>
          <a:lstStyle/>
          <a:p>
            <a:pPr indent="0" marL="0">
              <a:lnSpc>
                <a:spcPts val="1800"/>
              </a:lnSpc>
              <a:buNone/>
            </a:pPr>
            <a:r>
              <a:rPr lang="en-US" sz="1350" dirty="0">
                <a:solidFill>
                  <a:srgbClr val="AFA8CE"/>
                </a:solidFill>
                <a:latin typeface="Calibri" pitchFamily="34" charset="0"/>
                <a:ea typeface="Calibri" pitchFamily="34" charset="-122"/>
                <a:cs typeface="Calibri" pitchFamily="34" charset="-120"/>
              </a:rPr>
              <a:t>One headline, one lede, and the short lines that carry the rest.</a:t>
            </a:r>
            <a:endParaRPr lang="en-US" sz="1350" dirty="0"/>
          </a:p>
        </p:txBody>
      </p:sp>
      <p:sp>
        <p:nvSpPr>
          <p:cNvPr id="6" name="Shape 3"/>
          <p:cNvSpPr/>
          <p:nvPr/>
        </p:nvSpPr>
        <p:spPr>
          <a:xfrm>
            <a:off x="566928" y="1810512"/>
            <a:ext cx="11057839" cy="2212848"/>
          </a:xfrm>
          <a:prstGeom prst="roundRect">
            <a:avLst>
              <a:gd name="adj" fmla="val 2893"/>
            </a:avLst>
          </a:prstGeom>
          <a:solidFill>
            <a:srgbClr val="3C22A6"/>
          </a:solidFill>
          <a:ln w="12700">
            <a:solidFill>
              <a:srgbClr val="5335C9"/>
            </a:solidFill>
            <a:prstDash val="solid"/>
          </a:ln>
          <a:effectLst>
            <a:outerShdw sx="100000" sy="100000" kx="0" ky="0" algn="bl" rotWithShape="0" blurRad="152400" dist="38100" dir="5400000">
              <a:srgbClr val="000000">
                <a:alpha val="35000"/>
              </a:srgbClr>
            </a:outerShdw>
          </a:effectLst>
        </p:spPr>
      </p:sp>
      <p:sp>
        <p:nvSpPr>
          <p:cNvPr id="7" name="Text 4"/>
          <p:cNvSpPr txBox="1"/>
          <p:nvPr/>
        </p:nvSpPr>
        <p:spPr>
          <a:xfrm>
            <a:off x="859536" y="1975104"/>
            <a:ext cx="2743200" cy="219456"/>
          </a:xfrm>
          <a:prstGeom prst="rect">
            <a:avLst/>
          </a:prstGeom>
          <a:noFill/>
          <a:ln/>
        </p:spPr>
        <p:txBody>
          <a:bodyPr wrap="square" lIns="0" tIns="0" rIns="0" bIns="0" rtlCol="0" anchor="ctr"/>
          <a:lstStyle/>
          <a:p>
            <a:pPr indent="0" marL="0">
              <a:buNone/>
            </a:pPr>
            <a:r>
              <a:rPr lang="en-US" sz="950" b="1" spc="220" kern="0" dirty="0">
                <a:solidFill>
                  <a:srgbClr val="CFFA12"/>
                </a:solidFill>
                <a:latin typeface="Calibri" pitchFamily="34" charset="0"/>
                <a:ea typeface="Calibri" pitchFamily="34" charset="-122"/>
                <a:cs typeface="Calibri" pitchFamily="34" charset="-120"/>
              </a:rPr>
              <a:t>HEADLINE</a:t>
            </a:r>
            <a:endParaRPr lang="en-US" sz="950" dirty="0"/>
          </a:p>
        </p:txBody>
      </p:sp>
      <p:sp>
        <p:nvSpPr>
          <p:cNvPr id="8" name="Text 5"/>
          <p:cNvSpPr txBox="1"/>
          <p:nvPr/>
        </p:nvSpPr>
        <p:spPr>
          <a:xfrm>
            <a:off x="859536" y="2231136"/>
            <a:ext cx="6766560" cy="4572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The hard parts of your app,</a:t>
            </a:r>
            <a:endParaRPr lang="en-US" sz="3000" dirty="0"/>
          </a:p>
        </p:txBody>
      </p:sp>
      <p:pic>
        <p:nvPicPr>
          <p:cNvPr id="9" name="Image 1" descr="preencoded.png">    </p:cNvPr>
          <p:cNvPicPr>
            <a:picLocks noChangeAspect="1"/>
          </p:cNvPicPr>
          <p:nvPr/>
        </p:nvPicPr>
        <p:blipFill>
          <a:blip r:embed="rId2"/>
          <a:stretch>
            <a:fillRect/>
          </a:stretch>
        </p:blipFill>
        <p:spPr>
          <a:xfrm>
            <a:off x="859536" y="2724912"/>
            <a:ext cx="2885201" cy="402336"/>
          </a:xfrm>
          <a:prstGeom prst="rect">
            <a:avLst/>
          </a:prstGeom>
        </p:spPr>
      </p:pic>
      <p:sp>
        <p:nvSpPr>
          <p:cNvPr id="10" name="Text 6"/>
          <p:cNvSpPr txBox="1"/>
          <p:nvPr/>
        </p:nvSpPr>
        <p:spPr>
          <a:xfrm>
            <a:off x="859536" y="3310128"/>
            <a:ext cx="6035040" cy="457200"/>
          </a:xfrm>
          <a:prstGeom prst="rect">
            <a:avLst/>
          </a:prstGeom>
          <a:noFill/>
          <a:ln/>
        </p:spPr>
        <p:txBody>
          <a:bodyPr wrap="square" lIns="0" tIns="0" rIns="0" bIns="0" rtlCol="0" anchor="ctr"/>
          <a:lstStyle/>
          <a:p>
            <a:pPr indent="0" marL="0">
              <a:lnSpc>
                <a:spcPts val="1350"/>
              </a:lnSpc>
              <a:buNone/>
            </a:pPr>
            <a:r>
              <a:rPr lang="en-US" sz="1050" dirty="0">
                <a:solidFill>
                  <a:srgbClr val="CBC0FF"/>
                </a:solidFill>
                <a:latin typeface="Calibri" pitchFamily="34" charset="0"/>
                <a:ea typeface="Calibri" pitchFamily="34" charset="-122"/>
                <a:cs typeface="Calibri" pitchFamily="34" charset="-120"/>
              </a:rPr>
              <a:t>The second half carries the brand ramp — always. Never set the whole line in gradient, and never set it flat.</a:t>
            </a:r>
            <a:endParaRPr lang="en-US" sz="1050" dirty="0"/>
          </a:p>
        </p:txBody>
      </p:sp>
      <p:sp>
        <p:nvSpPr>
          <p:cNvPr id="11" name="Text 7"/>
          <p:cNvSpPr txBox="1"/>
          <p:nvPr/>
        </p:nvSpPr>
        <p:spPr>
          <a:xfrm>
            <a:off x="7315200" y="1975104"/>
            <a:ext cx="2743200" cy="219456"/>
          </a:xfrm>
          <a:prstGeom prst="rect">
            <a:avLst/>
          </a:prstGeom>
          <a:noFill/>
          <a:ln/>
        </p:spPr>
        <p:txBody>
          <a:bodyPr wrap="square" lIns="0" tIns="0" rIns="0" bIns="0" rtlCol="0" anchor="ctr"/>
          <a:lstStyle/>
          <a:p>
            <a:pPr indent="0" marL="0">
              <a:buNone/>
            </a:pPr>
            <a:r>
              <a:rPr lang="en-US" sz="950" b="1" spc="220" kern="0" dirty="0">
                <a:solidFill>
                  <a:srgbClr val="CFFA12"/>
                </a:solidFill>
                <a:latin typeface="Calibri" pitchFamily="34" charset="0"/>
                <a:ea typeface="Calibri" pitchFamily="34" charset="-122"/>
                <a:cs typeface="Calibri" pitchFamily="34" charset="-120"/>
              </a:rPr>
              <a:t>LEDE</a:t>
            </a:r>
            <a:endParaRPr lang="en-US" sz="950" dirty="0"/>
          </a:p>
        </p:txBody>
      </p:sp>
      <p:sp>
        <p:nvSpPr>
          <p:cNvPr id="12" name="Text 8"/>
          <p:cNvSpPr txBox="1"/>
          <p:nvPr/>
        </p:nvSpPr>
        <p:spPr>
          <a:xfrm>
            <a:off x="7315200" y="2231136"/>
            <a:ext cx="4016959" cy="1005840"/>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Everything the platform makes hard: Bluetooth, background jobs, push, location, a document database, speech and AI, an HTTP server that runs inside your MAUI app, 85+ UI controls, and plenty more.</a:t>
            </a:r>
            <a:endParaRPr lang="en-US" sz="1100" dirty="0"/>
          </a:p>
        </p:txBody>
      </p:sp>
      <p:sp>
        <p:nvSpPr>
          <p:cNvPr id="13" name="Text 9"/>
          <p:cNvSpPr txBox="1"/>
          <p:nvPr/>
        </p:nvSpPr>
        <p:spPr>
          <a:xfrm>
            <a:off x="7315200" y="3255264"/>
            <a:ext cx="4016959" cy="731520"/>
          </a:xfrm>
          <a:prstGeom prst="rect">
            <a:avLst/>
          </a:prstGeom>
          <a:noFill/>
          <a:ln/>
        </p:spPr>
        <p:txBody>
          <a:bodyPr wrap="square" lIns="0" tIns="0" rIns="0" bIns="0" rtlCol="0" anchor="ctr"/>
          <a:lstStyle/>
          <a:p>
            <a:pPr indent="0" marL="0">
              <a:lnSpc>
                <a:spcPts val="1350"/>
              </a:lnSpc>
              <a:buNone/>
            </a:pPr>
            <a:r>
              <a:rPr lang="en-US" sz="1000" dirty="0">
                <a:solidFill>
                  <a:srgbClr val="CBC0FF"/>
                </a:solidFill>
                <a:latin typeface="Calibri" pitchFamily="34" charset="0"/>
                <a:ea typeface="Calibri" pitchFamily="34" charset="-122"/>
                <a:cs typeface="Calibri" pitchFamily="34" charset="-120"/>
              </a:rPr>
              <a:t>Fifty-plus libraries that own the platform code, the permissions and the background execution — so your time goes to the app your users actually asked for.</a:t>
            </a:r>
            <a:endParaRPr lang="en-US" sz="1000" dirty="0"/>
          </a:p>
        </p:txBody>
      </p:sp>
      <p:sp>
        <p:nvSpPr>
          <p:cNvPr id="14" name="Text 10"/>
          <p:cNvSpPr txBox="1"/>
          <p:nvPr/>
        </p:nvSpPr>
        <p:spPr>
          <a:xfrm>
            <a:off x="566928" y="4224528"/>
            <a:ext cx="3657600" cy="219456"/>
          </a:xfrm>
          <a:prstGeom prst="rect">
            <a:avLst/>
          </a:prstGeom>
          <a:noFill/>
          <a:ln/>
        </p:spPr>
        <p:txBody>
          <a:bodyPr wrap="square" lIns="0" tIns="0" rIns="0" bIns="0" rtlCol="0" anchor="ctr"/>
          <a:lstStyle/>
          <a:p>
            <a:pPr indent="0" marL="0">
              <a:buNone/>
            </a:pPr>
            <a:r>
              <a:rPr lang="en-US" sz="950" b="1" spc="220" kern="0" dirty="0">
                <a:solidFill>
                  <a:srgbClr val="CFFA12"/>
                </a:solidFill>
                <a:latin typeface="Calibri" pitchFamily="34" charset="0"/>
                <a:ea typeface="Calibri" pitchFamily="34" charset="-122"/>
                <a:cs typeface="Calibri" pitchFamily="34" charset="-120"/>
              </a:rPr>
              <a:t>SHORT LINES</a:t>
            </a:r>
            <a:endParaRPr lang="en-US" sz="950" dirty="0"/>
          </a:p>
        </p:txBody>
      </p:sp>
      <p:sp>
        <p:nvSpPr>
          <p:cNvPr id="15" name="Shape 11"/>
          <p:cNvSpPr/>
          <p:nvPr/>
        </p:nvSpPr>
        <p:spPr>
          <a:xfrm>
            <a:off x="566928" y="4480560"/>
            <a:ext cx="11057839" cy="329184"/>
          </a:xfrm>
          <a:prstGeom prst="roundRect">
            <a:avLst>
              <a:gd name="adj" fmla="val 25000"/>
            </a:avLst>
          </a:prstGeom>
          <a:solidFill>
            <a:srgbClr val="33199B"/>
          </a:solidFill>
          <a:ln w="12700">
            <a:solidFill>
              <a:srgbClr val="5335C9"/>
            </a:solidFill>
            <a:prstDash val="solid"/>
          </a:ln>
        </p:spPr>
      </p:sp>
      <p:sp>
        <p:nvSpPr>
          <p:cNvPr id="16" name="Text 12"/>
          <p:cNvSpPr txBox="1"/>
          <p:nvPr/>
        </p:nvSpPr>
        <p:spPr>
          <a:xfrm>
            <a:off x="841248" y="4480560"/>
            <a:ext cx="6949440" cy="32918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.NET libraries for mobile, desktop, web &amp; server</a:t>
            </a:r>
            <a:endParaRPr lang="en-US" sz="1100" dirty="0"/>
          </a:p>
        </p:txBody>
      </p:sp>
      <p:sp>
        <p:nvSpPr>
          <p:cNvPr id="17" name="Text 13"/>
          <p:cNvSpPr txBox="1"/>
          <p:nvPr/>
        </p:nvSpPr>
        <p:spPr>
          <a:xfrm>
            <a:off x="7680960" y="4480560"/>
            <a:ext cx="3834079" cy="329184"/>
          </a:xfrm>
          <a:prstGeom prst="rect">
            <a:avLst/>
          </a:prstGeom>
          <a:noFill/>
          <a:ln/>
        </p:spPr>
        <p:txBody>
          <a:bodyPr wrap="square" lIns="0" tIns="0" rIns="0" bIns="0" rtlCol="0" anchor="ctr"/>
          <a:lstStyle/>
          <a:p>
            <a:pPr indent="0" marL="0">
              <a:buNone/>
            </a:pPr>
            <a:r>
              <a:rPr lang="en-US" sz="900" dirty="0">
                <a:solidFill>
                  <a:srgbClr val="CBC0FF"/>
                </a:solidFill>
                <a:latin typeface="Calibri" pitchFamily="34" charset="0"/>
                <a:ea typeface="Calibri" pitchFamily="34" charset="-122"/>
                <a:cs typeface="Calibri" pitchFamily="34" charset="-120"/>
              </a:rPr>
              <a:t>Positioning line — social card eyebrow</a:t>
            </a:r>
            <a:endParaRPr lang="en-US" sz="900" dirty="0"/>
          </a:p>
        </p:txBody>
      </p:sp>
      <p:sp>
        <p:nvSpPr>
          <p:cNvPr id="18" name="Shape 14"/>
          <p:cNvSpPr/>
          <p:nvPr/>
        </p:nvSpPr>
        <p:spPr>
          <a:xfrm>
            <a:off x="566928" y="4855464"/>
            <a:ext cx="11057839" cy="329184"/>
          </a:xfrm>
          <a:prstGeom prst="roundRect">
            <a:avLst>
              <a:gd name="adj" fmla="val 25000"/>
            </a:avLst>
          </a:prstGeom>
          <a:solidFill>
            <a:srgbClr val="3C22A6"/>
          </a:solidFill>
          <a:ln w="12700">
            <a:solidFill>
              <a:srgbClr val="5335C9"/>
            </a:solidFill>
            <a:prstDash val="solid"/>
          </a:ln>
        </p:spPr>
      </p:sp>
      <p:sp>
        <p:nvSpPr>
          <p:cNvPr id="19" name="Text 15"/>
          <p:cNvSpPr txBox="1"/>
          <p:nvPr/>
        </p:nvSpPr>
        <p:spPr>
          <a:xfrm>
            <a:off x="841248" y="4855464"/>
            <a:ext cx="6949440" cy="32918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From back end to front end</a:t>
            </a:r>
            <a:endParaRPr lang="en-US" sz="1100" dirty="0"/>
          </a:p>
        </p:txBody>
      </p:sp>
      <p:sp>
        <p:nvSpPr>
          <p:cNvPr id="20" name="Text 16"/>
          <p:cNvSpPr txBox="1"/>
          <p:nvPr/>
        </p:nvSpPr>
        <p:spPr>
          <a:xfrm>
            <a:off x="7680960" y="4855464"/>
            <a:ext cx="3834079" cy="329184"/>
          </a:xfrm>
          <a:prstGeom prst="rect">
            <a:avLst/>
          </a:prstGeom>
          <a:noFill/>
          <a:ln/>
        </p:spPr>
        <p:txBody>
          <a:bodyPr wrap="square" lIns="0" tIns="0" rIns="0" bIns="0" rtlCol="0" anchor="ctr"/>
          <a:lstStyle/>
          <a:p>
            <a:pPr indent="0" marL="0">
              <a:buNone/>
            </a:pPr>
            <a:r>
              <a:rPr lang="en-US" sz="900" dirty="0">
                <a:solidFill>
                  <a:srgbClr val="CBC0FF"/>
                </a:solidFill>
                <a:latin typeface="Calibri" pitchFamily="34" charset="0"/>
                <a:ea typeface="Calibri" pitchFamily="34" charset="-122"/>
                <a:cs typeface="Calibri" pitchFamily="34" charset="-120"/>
              </a:rPr>
              <a:t>Homepage platform rail</a:t>
            </a:r>
            <a:endParaRPr lang="en-US" sz="900" dirty="0"/>
          </a:p>
        </p:txBody>
      </p:sp>
      <p:sp>
        <p:nvSpPr>
          <p:cNvPr id="21" name="Shape 17"/>
          <p:cNvSpPr/>
          <p:nvPr/>
        </p:nvSpPr>
        <p:spPr>
          <a:xfrm>
            <a:off x="566928" y="5230368"/>
            <a:ext cx="11057839" cy="329184"/>
          </a:xfrm>
          <a:prstGeom prst="roundRect">
            <a:avLst>
              <a:gd name="adj" fmla="val 25000"/>
            </a:avLst>
          </a:prstGeom>
          <a:solidFill>
            <a:srgbClr val="33199B"/>
          </a:solidFill>
          <a:ln w="12700">
            <a:solidFill>
              <a:srgbClr val="5335C9"/>
            </a:solidFill>
            <a:prstDash val="solid"/>
          </a:ln>
        </p:spPr>
      </p:sp>
      <p:sp>
        <p:nvSpPr>
          <p:cNvPr id="22" name="Text 18"/>
          <p:cNvSpPr txBox="1"/>
          <p:nvPr/>
        </p:nvSpPr>
        <p:spPr>
          <a:xfrm>
            <a:off x="841248" y="5230368"/>
            <a:ext cx="6949440" cy="32918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Free &amp; open source</a:t>
            </a:r>
            <a:endParaRPr lang="en-US" sz="1100" dirty="0"/>
          </a:p>
        </p:txBody>
      </p:sp>
      <p:sp>
        <p:nvSpPr>
          <p:cNvPr id="23" name="Text 19"/>
          <p:cNvSpPr txBox="1"/>
          <p:nvPr/>
        </p:nvSpPr>
        <p:spPr>
          <a:xfrm>
            <a:off x="7680960" y="5230368"/>
            <a:ext cx="3834079" cy="329184"/>
          </a:xfrm>
          <a:prstGeom prst="rect">
            <a:avLst/>
          </a:prstGeom>
          <a:noFill/>
          <a:ln/>
        </p:spPr>
        <p:txBody>
          <a:bodyPr wrap="square" lIns="0" tIns="0" rIns="0" bIns="0" rtlCol="0" anchor="ctr"/>
          <a:lstStyle/>
          <a:p>
            <a:pPr indent="0" marL="0">
              <a:buNone/>
            </a:pPr>
            <a:r>
              <a:rPr lang="en-US" sz="900" dirty="0">
                <a:solidFill>
                  <a:srgbClr val="CBC0FF"/>
                </a:solidFill>
                <a:latin typeface="Calibri" pitchFamily="34" charset="0"/>
                <a:ea typeface="Calibri" pitchFamily="34" charset="-122"/>
                <a:cs typeface="Calibri" pitchFamily="34" charset="-120"/>
              </a:rPr>
              <a:t>Social card pill</a:t>
            </a:r>
            <a:endParaRPr lang="en-US" sz="900" dirty="0"/>
          </a:p>
        </p:txBody>
      </p:sp>
      <p:sp>
        <p:nvSpPr>
          <p:cNvPr id="24" name="Shape 20"/>
          <p:cNvSpPr/>
          <p:nvPr/>
        </p:nvSpPr>
        <p:spPr>
          <a:xfrm>
            <a:off x="566928" y="5605272"/>
            <a:ext cx="11057839" cy="329184"/>
          </a:xfrm>
          <a:prstGeom prst="roundRect">
            <a:avLst>
              <a:gd name="adj" fmla="val 25000"/>
            </a:avLst>
          </a:prstGeom>
          <a:solidFill>
            <a:srgbClr val="3C22A6"/>
          </a:solidFill>
          <a:ln w="12700">
            <a:solidFill>
              <a:srgbClr val="5335C9"/>
            </a:solidFill>
            <a:prstDash val="solid"/>
          </a:ln>
        </p:spPr>
      </p:sp>
      <p:sp>
        <p:nvSpPr>
          <p:cNvPr id="25" name="Text 21"/>
          <p:cNvSpPr txBox="1"/>
          <p:nvPr/>
        </p:nvSpPr>
        <p:spPr>
          <a:xfrm>
            <a:off x="841248" y="5605272"/>
            <a:ext cx="6949440" cy="32918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MIT licensed</a:t>
            </a:r>
            <a:endParaRPr lang="en-US" sz="1100" dirty="0"/>
          </a:p>
        </p:txBody>
      </p:sp>
      <p:sp>
        <p:nvSpPr>
          <p:cNvPr id="26" name="Text 22"/>
          <p:cNvSpPr txBox="1"/>
          <p:nvPr/>
        </p:nvSpPr>
        <p:spPr>
          <a:xfrm>
            <a:off x="7680960" y="5605272"/>
            <a:ext cx="3834079" cy="329184"/>
          </a:xfrm>
          <a:prstGeom prst="rect">
            <a:avLst/>
          </a:prstGeom>
          <a:noFill/>
          <a:ln/>
        </p:spPr>
        <p:txBody>
          <a:bodyPr wrap="square" lIns="0" tIns="0" rIns="0" bIns="0" rtlCol="0" anchor="ctr"/>
          <a:lstStyle/>
          <a:p>
            <a:pPr indent="0" marL="0">
              <a:buNone/>
            </a:pPr>
            <a:r>
              <a:rPr lang="en-US" sz="900" dirty="0">
                <a:solidFill>
                  <a:srgbClr val="CBC0FF"/>
                </a:solidFill>
                <a:latin typeface="Calibri" pitchFamily="34" charset="0"/>
                <a:ea typeface="Calibri" pitchFamily="34" charset="-122"/>
                <a:cs typeface="Calibri" pitchFamily="34" charset="-120"/>
              </a:rPr>
              <a:t>Social card footer</a:t>
            </a:r>
            <a:endParaRPr lang="en-US" sz="900" dirty="0"/>
          </a:p>
        </p:txBody>
      </p:sp>
      <p:sp>
        <p:nvSpPr>
          <p:cNvPr id="27" name="Shape 23"/>
          <p:cNvSpPr/>
          <p:nvPr/>
        </p:nvSpPr>
        <p:spPr>
          <a:xfrm>
            <a:off x="566928" y="5980176"/>
            <a:ext cx="11057839" cy="329184"/>
          </a:xfrm>
          <a:prstGeom prst="roundRect">
            <a:avLst>
              <a:gd name="adj" fmla="val 25000"/>
            </a:avLst>
          </a:prstGeom>
          <a:solidFill>
            <a:srgbClr val="33199B"/>
          </a:solidFill>
          <a:ln w="12700">
            <a:solidFill>
              <a:srgbClr val="5335C9"/>
            </a:solidFill>
            <a:prstDash val="solid"/>
          </a:ln>
        </p:spPr>
      </p:sp>
      <p:sp>
        <p:nvSpPr>
          <p:cNvPr id="28" name="Text 24"/>
          <p:cNvSpPr txBox="1"/>
          <p:nvPr/>
        </p:nvSpPr>
        <p:spPr>
          <a:xfrm>
            <a:off x="841248" y="5980176"/>
            <a:ext cx="6949440" cy="32918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 suite of powerful .NET libraries for mobile, desktop, and server applications</a:t>
            </a:r>
            <a:endParaRPr lang="en-US" sz="1100" dirty="0"/>
          </a:p>
        </p:txBody>
      </p:sp>
      <p:sp>
        <p:nvSpPr>
          <p:cNvPr id="29" name="Text 25"/>
          <p:cNvSpPr txBox="1"/>
          <p:nvPr/>
        </p:nvSpPr>
        <p:spPr>
          <a:xfrm>
            <a:off x="7680960" y="5980176"/>
            <a:ext cx="3834079" cy="329184"/>
          </a:xfrm>
          <a:prstGeom prst="rect">
            <a:avLst/>
          </a:prstGeom>
          <a:noFill/>
          <a:ln/>
        </p:spPr>
        <p:txBody>
          <a:bodyPr wrap="square" lIns="0" tIns="0" rIns="0" bIns="0" rtlCol="0" anchor="ctr"/>
          <a:lstStyle/>
          <a:p>
            <a:pPr indent="0" marL="0">
              <a:buNone/>
            </a:pPr>
            <a:r>
              <a:rPr lang="en-US" sz="900" dirty="0">
                <a:solidFill>
                  <a:srgbClr val="CBC0FF"/>
                </a:solidFill>
                <a:latin typeface="Calibri" pitchFamily="34" charset="0"/>
                <a:ea typeface="Calibri" pitchFamily="34" charset="-122"/>
                <a:cs typeface="Calibri" pitchFamily="34" charset="-120"/>
              </a:rPr>
              <a:t>Meta description</a:t>
            </a:r>
            <a:endParaRPr lang="en-US" sz="900" dirty="0"/>
          </a:p>
        </p:txBody>
      </p:sp>
      <p:sp>
        <p:nvSpPr>
          <p:cNvPr id="30" name="Shape 26"/>
          <p:cNvSpPr/>
          <p:nvPr/>
        </p:nvSpPr>
        <p:spPr>
          <a:xfrm>
            <a:off x="566928" y="6355080"/>
            <a:ext cx="11057839" cy="329184"/>
          </a:xfrm>
          <a:prstGeom prst="roundRect">
            <a:avLst>
              <a:gd name="adj" fmla="val 25000"/>
            </a:avLst>
          </a:prstGeom>
          <a:solidFill>
            <a:srgbClr val="3C22A6"/>
          </a:solidFill>
          <a:ln w="12700">
            <a:solidFill>
              <a:srgbClr val="5335C9"/>
            </a:solidFill>
            <a:prstDash val="solid"/>
          </a:ln>
        </p:spPr>
      </p:sp>
      <p:sp>
        <p:nvSpPr>
          <p:cNvPr id="31" name="Text 27"/>
          <p:cNvSpPr txBox="1"/>
          <p:nvPr/>
        </p:nvSpPr>
        <p:spPr>
          <a:xfrm>
            <a:off x="841248" y="6355080"/>
            <a:ext cx="6949440" cy="32918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shinylib.net · built and maintained by ShinySoft Technologies</a:t>
            </a:r>
            <a:endParaRPr lang="en-US" sz="1100" dirty="0"/>
          </a:p>
        </p:txBody>
      </p:sp>
      <p:sp>
        <p:nvSpPr>
          <p:cNvPr id="32" name="Text 28"/>
          <p:cNvSpPr txBox="1"/>
          <p:nvPr/>
        </p:nvSpPr>
        <p:spPr>
          <a:xfrm>
            <a:off x="7680960" y="6355080"/>
            <a:ext cx="3834079" cy="329184"/>
          </a:xfrm>
          <a:prstGeom prst="rect">
            <a:avLst/>
          </a:prstGeom>
          <a:noFill/>
          <a:ln/>
        </p:spPr>
        <p:txBody>
          <a:bodyPr wrap="square" lIns="0" tIns="0" rIns="0" bIns="0" rtlCol="0" anchor="ctr"/>
          <a:lstStyle/>
          <a:p>
            <a:pPr indent="0" marL="0">
              <a:buNone/>
            </a:pPr>
            <a:r>
              <a:rPr lang="en-US" sz="900" dirty="0">
                <a:solidFill>
                  <a:srgbClr val="CBC0FF"/>
                </a:solidFill>
                <a:latin typeface="Calibri" pitchFamily="34" charset="0"/>
                <a:ea typeface="Calibri" pitchFamily="34" charset="-122"/>
                <a:cs typeface="Calibri" pitchFamily="34" charset="-120"/>
              </a:rPr>
              <a:t>Deck footer</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ShinySoft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Shiny.NET — The hard parts of your app, already solved</dc:title>
  <dc:subject>PptxGenJS Presentation</dc:subject>
  <dc:creator>Shiny.NET</dc:creator>
  <cp:lastModifiedBy>Shiny.NET</cp:lastModifiedBy>
  <cp:revision>1</cp:revision>
  <dcterms:created xsi:type="dcterms:W3CDTF">2026-10-15T01:48:37Z</dcterms:created>
  <dcterms:modified xsi:type="dcterms:W3CDTF">2026-10-15T01:48:37Z</dcterms:modified>
</cp:coreProperties>
</file>